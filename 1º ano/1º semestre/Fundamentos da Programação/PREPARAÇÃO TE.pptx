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8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  <p:sldId id="416" r:id="rId162"/>
    <p:sldId id="417" r:id="rId163"/>
    <p:sldId id="418" r:id="rId164"/>
    <p:sldId id="419" r:id="rId165"/>
    <p:sldId id="420" r:id="rId166"/>
    <p:sldId id="421" r:id="rId167"/>
    <p:sldId id="422" r:id="rId168"/>
    <p:sldId id="423" r:id="rId169"/>
    <p:sldId id="424" r:id="rId170"/>
    <p:sldId id="425" r:id="rId171"/>
    <p:sldId id="426" r:id="rId172"/>
    <p:sldId id="427" r:id="rId173"/>
    <p:sldId id="428" r:id="rId174"/>
    <p:sldId id="429" r:id="rId175"/>
    <p:sldId id="430" r:id="rId176"/>
    <p:sldId id="431" r:id="rId177"/>
    <p:sldId id="432" r:id="rId178"/>
    <p:sldId id="433" r:id="rId179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2686" autoAdjust="0"/>
  </p:normalViewPr>
  <p:slideViewPr>
    <p:cSldViewPr snapToGrid="0">
      <p:cViewPr varScale="1">
        <p:scale>
          <a:sx n="105" d="100"/>
          <a:sy n="105" d="100"/>
        </p:scale>
        <p:origin x="643" y="6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presProps" Target="presProps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viewProps" Target="viewProps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72" Type="http://schemas.openxmlformats.org/officeDocument/2006/relationships/slide" Target="slides/slide17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slide" Target="slides/slide161.xml"/><Relationship Id="rId183" Type="http://schemas.openxmlformats.org/officeDocument/2006/relationships/theme" Target="theme/theme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tableStyles" Target="tableStyles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notesMaster" Target="notesMasters/notesMaster1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3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Soluções aqui!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6d894e743f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6d894e743f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dirty="0" err="1"/>
              <a:t>Option</a:t>
            </a:r>
            <a:r>
              <a:rPr lang="pt-PT" dirty="0"/>
              <a:t> 4: 6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6d894e743f_2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6d894e743f_2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dirty="0" err="1"/>
              <a:t>Option</a:t>
            </a:r>
            <a:r>
              <a:rPr lang="pt-PT" dirty="0"/>
              <a:t> 3: </a:t>
            </a:r>
            <a:r>
              <a:rPr lang="pt-PT" dirty="0" err="1"/>
              <a:t>nothing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6d894e743f_2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6d894e743f_2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dirty="0" err="1"/>
              <a:t>Option</a:t>
            </a:r>
            <a:r>
              <a:rPr lang="pt-PT" dirty="0"/>
              <a:t> 2: </a:t>
            </a:r>
            <a:r>
              <a:rPr lang="pt-PT" dirty="0" err="1"/>
              <a:t>Syntactically</a:t>
            </a:r>
            <a:r>
              <a:rPr lang="pt-PT" dirty="0"/>
              <a:t> </a:t>
            </a:r>
            <a:r>
              <a:rPr lang="pt-PT" dirty="0" err="1"/>
              <a:t>correct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47ae1a2f9a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47ae1a2f9a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dirty="0" err="1"/>
              <a:t>Option</a:t>
            </a:r>
            <a:r>
              <a:rPr lang="pt-PT" dirty="0"/>
              <a:t> 2: O(n^2)</a:t>
            </a:r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6d894e743f_2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6d894e743f_2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dirty="0" err="1"/>
              <a:t>Option</a:t>
            </a:r>
            <a:r>
              <a:rPr lang="pt-PT" dirty="0"/>
              <a:t> 2: </a:t>
            </a:r>
            <a:r>
              <a:rPr lang="pt-PT" dirty="0" err="1"/>
              <a:t>Semantically</a:t>
            </a:r>
            <a:r>
              <a:rPr lang="pt-PT" dirty="0"/>
              <a:t> </a:t>
            </a:r>
            <a:r>
              <a:rPr lang="pt-PT" dirty="0" err="1"/>
              <a:t>incorrect</a:t>
            </a:r>
            <a:endParaRPr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6d894e743f_2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g6d894e743f_2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dirty="0" err="1"/>
              <a:t>Option</a:t>
            </a:r>
            <a:r>
              <a:rPr lang="pt-PT" dirty="0"/>
              <a:t> 2: </a:t>
            </a:r>
            <a:r>
              <a:rPr lang="pt-PT" dirty="0" err="1"/>
              <a:t>Syntactically</a:t>
            </a:r>
            <a:r>
              <a:rPr lang="pt-PT" dirty="0"/>
              <a:t> </a:t>
            </a:r>
            <a:r>
              <a:rPr lang="pt-PT" dirty="0" err="1"/>
              <a:t>correct</a:t>
            </a:r>
            <a:endParaRPr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6d894e743f_2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6d894e743f_2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dirty="0" err="1"/>
              <a:t>Option</a:t>
            </a:r>
            <a:r>
              <a:rPr lang="pt-PT" dirty="0"/>
              <a:t> 2: range(3, 10, 3)</a:t>
            </a:r>
            <a:endParaRPr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6d894e743f_2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6d894e743f_2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4</a:t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6d894e743f_2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6d894e743f_2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1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6d894e743f_2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6d894e743f_2_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4</a:t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6d894e743f_2_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6d894e743f_2_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4</a:t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6d894e743f_2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6d894e743f_2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1</a:t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6d894e743f_2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6d894e743f_2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2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6d894e743f_2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6d894e743f_2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4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6d894e743f_2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6d894e743f_2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1</a:t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6d894e743f_2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6d894e743f_2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2</a:t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6d894e743f_2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6d894e743f_2_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1</a:t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6d894e743f_2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6d894e743f_2_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1</a:t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6d894e743f_2_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6d894e743f_2_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dirty="0" err="1"/>
              <a:t>Option</a:t>
            </a:r>
            <a:r>
              <a:rPr lang="pt-PT" dirty="0"/>
              <a:t> 3: a for-</a:t>
            </a:r>
            <a:r>
              <a:rPr lang="pt-PT" dirty="0" err="1"/>
              <a:t>loop</a:t>
            </a:r>
            <a:r>
              <a:rPr lang="pt-PT" dirty="0"/>
              <a:t> </a:t>
            </a:r>
            <a:r>
              <a:rPr lang="pt-PT" dirty="0" err="1"/>
              <a:t>or</a:t>
            </a:r>
            <a:r>
              <a:rPr lang="pt-PT" dirty="0"/>
              <a:t> a </a:t>
            </a:r>
            <a:r>
              <a:rPr lang="pt-PT" dirty="0" err="1"/>
              <a:t>while-loop</a:t>
            </a:r>
            <a:endParaRPr dirty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6d894e743f_2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6d894e743f_2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dirty="0" err="1"/>
              <a:t>Option</a:t>
            </a:r>
            <a:r>
              <a:rPr lang="pt-PT" dirty="0"/>
              <a:t> 4: </a:t>
            </a:r>
            <a:r>
              <a:rPr lang="pt-PT" dirty="0" err="1"/>
              <a:t>def</a:t>
            </a:r>
            <a:r>
              <a:rPr lang="pt-PT" dirty="0"/>
              <a:t> </a:t>
            </a:r>
            <a:r>
              <a:rPr lang="pt-PT" dirty="0" err="1"/>
              <a:t>f_name</a:t>
            </a:r>
            <a:r>
              <a:rPr lang="pt-PT" dirty="0"/>
              <a:t>([</a:t>
            </a:r>
            <a:r>
              <a:rPr lang="pt-PT" dirty="0" err="1"/>
              <a:t>parameter</a:t>
            </a:r>
            <a:r>
              <a:rPr lang="pt-PT" dirty="0"/>
              <a:t>, ...]):</a:t>
            </a:r>
            <a:br>
              <a:rPr lang="pt-PT" dirty="0"/>
            </a:br>
            <a:r>
              <a:rPr lang="pt-PT" dirty="0"/>
              <a:t>É a opção 4 e não a opção 3, porque os parâmetros podem ser opcionais. </a:t>
            </a:r>
            <a:endParaRPr dirty="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6d894e743f_2_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6d894e743f_2_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2</a:t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6d894e743f_2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6d894e743f_2_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3</a:t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6d894e743f_2_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g6d894e743f_2_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3</a:t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6d894e743f_2_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6d894e743f_2_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2</a:t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6d894e743f_2_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6d894e743f_2_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2</a:t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6d894e743f_2_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6d894e743f_2_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1</a:t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6d894e743f_2_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6d894e743f_2_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3</a:t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6d894e743f_2_1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6d894e743f_2_1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2</a:t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6d894e743f_2_1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6d894e743f_2_1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4</a:t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6d894e743f_2_1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6d894e743f_2_1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4</a:t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47ae1a2f9a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47ae1a2f9a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4</a:t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6d894e743f_2_1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6d894e743f_2_1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4</a:t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6d894e743f_2_1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1" name="Google Shape;221;g6d894e743f_2_1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1</a:t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6d894e743f_2_1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" name="Google Shape;226;g6d894e743f_2_1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2</a:t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6d894e743f_2_1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" name="Google Shape;231;g6d894e743f_2_1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2</a:t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6d894e743f_2_1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" name="Google Shape;236;g6d894e743f_2_1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3</a:t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6d894e743f_2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6d894e743f_2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2</a:t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47ae1a2f9a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47ae1a2f9a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2</a:t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6d894e743f_2_1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2" name="Google Shape;252;g6d894e743f_2_1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4</a:t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6d894e743f_2_1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6d894e743f_2_1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4</a:t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g47ae1a2f9a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2" name="Google Shape;262;g47ae1a2f9a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3</a:t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6d894e743f_2_1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6d894e743f_2_1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3</a:t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6d894e743f_2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3" name="Google Shape;273;g6d894e743f_2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2</a:t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6d894e743f_2_1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6d894e743f_2_1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4</a:t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6d894e743f_2_1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6d894e743f_2_1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4</a:t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g6d894e743f_2_1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8" name="Google Shape;288;g6d894e743f_2_1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1</a:t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6d894e743f_2_2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6d894e743f_2_2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4</a:t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6d894e743f_2_2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8" name="Google Shape;298;g6d894e743f_2_2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1</a:t>
            </a: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6d894e743f_2_2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g6d894e743f_2_2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1</a:t>
            </a: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6d894e743f_2_2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6d894e743f_2_2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2</a:t>
            </a: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6d894e743f_2_2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3" name="Google Shape;313;g6d894e743f_2_2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3</a:t>
            </a: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6d894e743f_2_2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6d894e743f_2_2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3</a:t>
            </a: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6db0c3d64b_2_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6db0c3d64b_2_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3</a:t>
            </a: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g6d894e743f_2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3" name="Google Shape;333;g6d894e743f_2_2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2</a:t>
            </a: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6d894e743f_2_2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8" name="Google Shape;338;g6d894e743f_2_2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2</a:t>
            </a: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6d894e743f_2_2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3" name="Google Shape;343;g6d894e743f_2_2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2</a:t>
            </a: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6d894e743f_2_2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8" name="Google Shape;348;g6d894e743f_2_2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2</a:t>
            </a: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g6d894e743f_2_2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3" name="Google Shape;353;g6d894e743f_2_2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2</a:t>
            </a: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g6d894e743f_2_2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8" name="Google Shape;358;g6d894e743f_2_2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2</a:t>
            </a: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6d894e743f_2_2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3" name="Google Shape;363;g6d894e743f_2_2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2</a:t>
            </a: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g6d894e743f_2_2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8" name="Google Shape;368;g6d894e743f_2_2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3</a:t>
            </a: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g6d894e743f_2_2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3" name="Google Shape;373;g6d894e743f_2_2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4</a:t>
            </a:r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g6d894e743f_2_2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8" name="Google Shape;378;g6d894e743f_2_2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4 (with 3 instead of 4)</a:t>
            </a:r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47ae1a2f9a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3" name="Google Shape;383;g47ae1a2f9a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4. The address of the other elements has to be updated, when we remove the first element of the list. </a:t>
            </a:r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6d894e743f_2_2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6d894e743f_2_2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3. It gives an UnboundLocalError: local variable 'itext' referenced before assignment. It’s not possible to modify variables, in inner_function, from outer_function (unless they’re global)</a:t>
            </a:r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g6db0c3d64b_2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4" name="Google Shape;394;g6db0c3d64b_2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3</a:t>
            </a:r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g6d894e743f_2_2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0" name="Google Shape;400;g6d894e743f_2_2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2</a:t>
            </a:r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g47ae1a2f9a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5" name="Google Shape;405;g47ae1a2f9a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4</a:t>
            </a:r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g6d894e743f_2_2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1" name="Google Shape;411;g6d894e743f_2_2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2</a:t>
            </a:r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g47ae1a2f9a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6" name="Google Shape;416;g47ae1a2f9a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4</a:t>
            </a:r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47ae1a2f9a_0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47ae1a2f9a_0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2</a:t>
            </a:r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g47ae1a2f9a_0_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7" name="Google Shape;427;g47ae1a2f9a_0_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1</a:t>
            </a:r>
            <a:endParaRPr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g47ae1a2f9a_0_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2" name="Google Shape;432;g47ae1a2f9a_0_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2</a:t>
            </a:r>
            <a:endParaRPr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6db0c3d64b_2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6db0c3d64b_2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4</a:t>
            </a:r>
            <a:endParaRPr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g47ae1a2f9a_0_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3" name="Google Shape;443;g47ae1a2f9a_0_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3</a:t>
            </a:r>
            <a:endParaRPr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g47ae1a2f9a_0_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8" name="Google Shape;448;g47ae1a2f9a_0_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4</a:t>
            </a:r>
            <a:endParaRPr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g47ae1a2f9a_0_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3" name="Google Shape;453;g47ae1a2f9a_0_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4</a:t>
            </a:r>
            <a:endParaRPr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g6db0c3d64b_2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8" name="Google Shape;458;g6db0c3d64b_2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1</a:t>
            </a:r>
            <a:endParaRPr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g47ae1a2f9a_0_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4" name="Google Shape;464;g47ae1a2f9a_0_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3</a:t>
            </a:r>
            <a:endParaRPr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47ae1a2f9a_0_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47ae1a2f9a_0_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3</a:t>
            </a:r>
            <a:endParaRPr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g47ae1a2f9a_0_1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4" name="Google Shape;474;g47ae1a2f9a_0_1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4</a:t>
            </a:r>
            <a:endParaRPr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g47ae1a2f9a_0_1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9" name="Google Shape;479;g47ae1a2f9a_0_1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4</a:t>
            </a:r>
            <a:endParaRPr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g47ae1a2f9a_0_1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4" name="Google Shape;484;g47ae1a2f9a_0_1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1</a:t>
            </a:r>
            <a:endParaRPr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g47ae1a2f9a_0_1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9" name="Google Shape;489;g47ae1a2f9a_0_1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2</a:t>
            </a:r>
            <a:endParaRPr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g47ae1a2f9a_0_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4" name="Google Shape;494;g47ae1a2f9a_0_1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4</a:t>
            </a:r>
            <a:endParaRPr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47ae1a2f9a_0_1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9" name="Google Shape;499;g47ae1a2f9a_0_1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4</a:t>
            </a:r>
            <a:endParaRPr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g47ae1a2f9a_0_1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4" name="Google Shape;504;g47ae1a2f9a_0_1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2</a:t>
            </a:r>
            <a:endParaRPr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g6db0c3d64b_2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9" name="Google Shape;509;g6db0c3d64b_2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2</a:t>
            </a:r>
            <a:endParaRPr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g47ae1a2f9a_0_1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5" name="Google Shape;515;g47ae1a2f9a_0_1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2</a:t>
            </a:r>
            <a:endParaRPr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g47ae1a2f9a_0_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0" name="Google Shape;520;g47ae1a2f9a_0_1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3</a:t>
            </a:r>
            <a:endParaRPr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Google Shape;524;g47ae1a2f9a_0_1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5" name="Google Shape;525;g47ae1a2f9a_0_1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1</a:t>
            </a:r>
            <a:endParaRPr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Google Shape;529;g47ae1a2f9a_0_1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0" name="Google Shape;530;g47ae1a2f9a_0_1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4</a:t>
            </a:r>
            <a:endParaRPr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g47ae1a2f9a_0_1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5" name="Google Shape;535;g47ae1a2f9a_0_1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2</a:t>
            </a:r>
            <a:endParaRPr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Google Shape;539;g47ae1a2f9a_0_1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0" name="Google Shape;540;g47ae1a2f9a_0_1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3</a:t>
            </a:r>
            <a:endParaRPr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g47ae1a2f9a_0_1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5" name="Google Shape;545;g47ae1a2f9a_0_1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4</a:t>
            </a:r>
            <a:endParaRPr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Google Shape;549;g47ae1a2f9a_0_1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0" name="Google Shape;550;g47ae1a2f9a_0_1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2</a:t>
            </a:r>
            <a:endParaRPr/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g6db0c3d64b_2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5" name="Google Shape;555;g6db0c3d64b_2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5</a:t>
            </a:r>
            <a:endParaRPr/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47ae1a2f9a_0_1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47ae1a2f9a_0_1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4</a:t>
            </a:r>
            <a:endParaRPr/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Google Shape;565;g47ae1a2f9a_0_1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6" name="Google Shape;566;g47ae1a2f9a_0_1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1</a:t>
            </a:r>
            <a:endParaRPr/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Google Shape;570;g47ae1a2f9a_0_1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1" name="Google Shape;571;g47ae1a2f9a_0_1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1</a:t>
            </a:r>
            <a:endParaRPr/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g47ae1a2f9a_0_1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6" name="Google Shape;576;g47ae1a2f9a_0_1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3</a:t>
            </a:r>
            <a:endParaRPr/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Google Shape;580;g47ae1a2f9a_0_1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1" name="Google Shape;581;g47ae1a2f9a_0_1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3</a:t>
            </a:r>
            <a:endParaRPr/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Google Shape;585;g47ae1a2f9a_0_1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6" name="Google Shape;586;g47ae1a2f9a_0_1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3</a:t>
            </a:r>
            <a:endParaRPr/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g47ae1a2f9a_0_1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1" name="Google Shape;591;g47ae1a2f9a_0_1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1</a:t>
            </a:r>
            <a:endParaRPr/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g6db0c3d64b_2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6" name="Google Shape;596;g6db0c3d64b_2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1</a:t>
            </a:r>
            <a:endParaRPr/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g47ae1a2f9a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2" name="Google Shape;602;g47ae1a2f9a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1</a:t>
            </a:r>
            <a:endParaRPr/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Google Shape;606;g47ae1a2f9a_0_1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7" name="Google Shape;607;g47ae1a2f9a_0_1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3</a:t>
            </a:r>
            <a:endParaRPr/>
          </a:p>
        </p:txBody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47ae1a2f9a_0_1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2" name="Google Shape;612;g47ae1a2f9a_0_1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4</a:t>
            </a:r>
            <a:endParaRPr/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g47ae1a2f9a_0_1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7" name="Google Shape;617;g47ae1a2f9a_0_1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3</a:t>
            </a:r>
            <a:endParaRPr/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g6db0c3d64b_2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2" name="Google Shape;622;g6db0c3d64b_2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3</a:t>
            </a:r>
            <a:endParaRPr/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g47ae1a2f9a_1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8" name="Google Shape;628;g47ae1a2f9a_1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dirty="0" err="1"/>
              <a:t>Option</a:t>
            </a:r>
            <a:r>
              <a:rPr lang="pt-PT" dirty="0"/>
              <a:t> 4: __</a:t>
            </a:r>
            <a:r>
              <a:rPr lang="pt-PT" dirty="0" err="1"/>
              <a:t>name</a:t>
            </a:r>
            <a:r>
              <a:rPr lang="pt-PT" dirty="0"/>
              <a:t>__</a:t>
            </a:r>
            <a:endParaRPr dirty="0"/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Google Shape;632;g47ae1a2f9a_1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3" name="Google Shape;633;g47ae1a2f9a_1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4</a:t>
            </a:r>
            <a:endParaRPr/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Google Shape;637;g47ae1a2f9a_1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8" name="Google Shape;638;g47ae1a2f9a_1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1</a:t>
            </a:r>
            <a:endParaRPr/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g47ae1a2f9a_1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3" name="Google Shape;643;g47ae1a2f9a_1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3</a:t>
            </a:r>
            <a:endParaRPr/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Google Shape;647;g47ae1a2f9a_1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8" name="Google Shape;648;g47ae1a2f9a_1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2. ‘r’ opens for reading and ‘+’ opens a disk file for updating (reading and writing)</a:t>
            </a:r>
            <a:endParaRPr/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Google Shape;652;g47ae1a2f9a_1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3" name="Google Shape;653;g47ae1a2f9a_1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2</a:t>
            </a:r>
            <a:endParaRPr/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Google Shape;657;g47ae1a2f9a_1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8" name="Google Shape;658;g47ae1a2f9a_1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4</a:t>
            </a:r>
            <a:endParaRPr/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g47ae1a2f9a_1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3" name="Google Shape;663;g47ae1a2f9a_1_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4</a:t>
            </a:r>
            <a:endParaRPr/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Google Shape;667;g47ae1a2f9a_1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8" name="Google Shape;668;g47ae1a2f9a_1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2</a:t>
            </a:r>
            <a:endParaRPr/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47ae1a2f9a_1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3" name="Google Shape;673;g47ae1a2f9a_1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2</a:t>
            </a:r>
            <a:endParaRPr/>
          </a:p>
        </p:txBody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Google Shape;677;g47ae1a2f9a_1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8" name="Google Shape;678;g47ae1a2f9a_1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1</a:t>
            </a:r>
            <a:endParaRPr/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g6db0c3d64b_2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3" name="Google Shape;683;g6db0c3d64b_2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4</a:t>
            </a:r>
            <a:endParaRPr/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g6db0c3d64b_2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9" name="Google Shape;689;g6db0c3d64b_2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2</a:t>
            </a:r>
            <a:endParaRPr/>
          </a:p>
        </p:txBody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Google Shape;694;g6db0c3d64b_2_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5" name="Google Shape;695;g6db0c3d64b_2_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3. Prints all the elements in the list two by two</a:t>
            </a:r>
            <a:endParaRPr/>
          </a:p>
        </p:txBody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6db0c3d64b_2_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1" name="Google Shape;701;g6db0c3d64b_2_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2</a:t>
            </a:r>
            <a:endParaRPr/>
          </a:p>
        </p:txBody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Google Shape;706;g6db0c3d64b_2_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7" name="Google Shape;707;g6db0c3d64b_2_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2</a:t>
            </a:r>
            <a:endParaRPr/>
          </a:p>
        </p:txBody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Google Shape;712;g6db0c3d64b_2_1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3" name="Google Shape;713;g6db0c3d64b_2_1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4</a:t>
            </a:r>
            <a:endParaRPr/>
          </a:p>
        </p:txBody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8" name="Google Shape;718;g6db0c3d64b_2_1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9" name="Google Shape;719;g6db0c3d64b_2_1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2,3,4</a:t>
            </a:r>
            <a:endParaRPr/>
          </a:p>
        </p:txBody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g6db0c3d64b_2_1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5" name="Google Shape;725;g6db0c3d64b_2_1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1</a:t>
            </a:r>
            <a:endParaRPr/>
          </a:p>
        </p:txBody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g6db0c3d64b_2_1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1" name="Google Shape;731;g6db0c3d64b_2_1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2. The type() function returns the class of the argument the object belongs to. Thus, type(int) returns which is of the type ‘type’ object.</a:t>
            </a:r>
            <a:endParaRPr/>
          </a:p>
        </p:txBody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g6db0c3d64b_2_1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7" name="Google Shape;737;g6db0c3d64b_2_1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3. “” depicts a null string and the join function combines the elements of the list into a string.</a:t>
            </a:r>
            <a:endParaRPr/>
          </a:p>
        </p:txBody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Google Shape;742;g6db0c3d64b_2_1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3" name="Google Shape;743;g6db0c3d64b_2_1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1. ord() function converts a character into its ASCII notation and chr() converts the ASCII to character.</a:t>
            </a:r>
            <a:endParaRPr/>
          </a:p>
        </p:txBody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Google Shape;748;g6db0c3d64b_2_1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9" name="Google Shape;749;g6db0c3d64b_2_1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1. lambdas are concise functions and thus, result = 6 * 8</a:t>
            </a:r>
            <a:endParaRPr/>
          </a:p>
        </p:txBody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4" name="Google Shape;754;g6db0c3d64b_2_1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5" name="Google Shape;755;g6db0c3d64b_2_1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3. pop(i) removes the i</a:t>
            </a:r>
            <a:r>
              <a:rPr lang="pt-PT" baseline="30000"/>
              <a:t>th</a:t>
            </a:r>
            <a:r>
              <a:rPr lang="pt-PT"/>
              <a:t> index element from the list</a:t>
            </a:r>
            <a:endParaRPr/>
          </a:p>
        </p:txBody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g6db0c3d64b_2_1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1" name="Google Shape;761;g6db0c3d64b_2_1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3. There is no operator ++ in Python</a:t>
            </a:r>
            <a:endParaRPr/>
          </a:p>
        </p:txBody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6db0c3d64b_2_1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6db0c3d64b_2_1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3. Precedence of ** is higher than that of 3, thus first 1**3 will be executed and the result will be multiplied by 3.</a:t>
            </a:r>
            <a:endParaRPr/>
          </a:p>
        </p:txBody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Google Shape;772;g6db0c3d64b_2_1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3" name="Google Shape;773;g6db0c3d64b_2_1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2. .2 defines the precision of the floating point number.</a:t>
            </a:r>
            <a:endParaRPr/>
          </a:p>
        </p:txBody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Google Shape;778;g6db0c3d64b_2_1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9" name="Google Shape;779;g6db0c3d64b_2_1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2. The else part is executed when the condition in the while statement is false.</a:t>
            </a:r>
            <a:endParaRPr/>
          </a:p>
        </p:txBody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6db0c3d64b_2_1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5" name="Google Shape;785;g6db0c3d64b_2_1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2. The else part is not executed if control breaks out of the loop.</a:t>
            </a:r>
            <a:endParaRPr/>
          </a:p>
        </p:txBody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Google Shape;790;g6db0c3d64b_2_2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1" name="Google Shape;791;g6db0c3d64b_2_2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2. The first substring is not present in the given string and hence nothing is replaced.</a:t>
            </a:r>
            <a:endParaRPr/>
          </a:p>
        </p:txBody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6" name="Google Shape;796;g6db0c3d64b_2_2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7" name="Google Shape;797;g6db0c3d64b_2_2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4. The value of t=3 is passed in funcion f(value,values) , v [list] is passed as values in the same function. The v is stored in values and values[0]=44 , changes the value at index[‘0’] in the list hence v=[44,2,3]. </a:t>
            </a:r>
            <a:endParaRPr/>
          </a:p>
        </p:txBody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Google Shape;802;g6dcecfad0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3" name="Google Shape;803;g6dcecfad0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4</a:t>
            </a:r>
            <a:endParaRPr/>
          </a:p>
        </p:txBody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" name="Google Shape;808;g6dcecfad03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9" name="Google Shape;809;g6dcecfad03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1</a:t>
            </a:r>
            <a:endParaRPr/>
          </a:p>
        </p:txBody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Google Shape;814;g6dcecfad03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5" name="Google Shape;815;g6dcecfad03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3</a:t>
            </a:r>
            <a:endParaRPr/>
          </a:p>
        </p:txBody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Google Shape;820;g6dcecfad03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1" name="Google Shape;821;g6dcecfad03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2</a:t>
            </a:r>
            <a:endParaRPr/>
          </a:p>
        </p:txBody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Google Shape;826;g6dcecfad03_0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7" name="Google Shape;827;g6dcecfad03_0_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2</a:t>
            </a:r>
            <a:endParaRPr/>
          </a:p>
        </p:txBody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Google Shape;832;g6dcecfad03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3" name="Google Shape;833;g6dcecfad03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4</a:t>
            </a:r>
            <a:endParaRPr/>
          </a:p>
        </p:txBody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Google Shape;838;g6dcecfad03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9" name="Google Shape;839;g6dcecfad03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2</a:t>
            </a:r>
            <a:endParaRPr/>
          </a:p>
        </p:txBody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Google Shape;844;g6dcecfad03_0_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5" name="Google Shape;845;g6dcecfad03_0_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2</a:t>
            </a:r>
            <a:endParaRPr/>
          </a:p>
        </p:txBody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" name="Google Shape;850;g6dcecfad03_0_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1" name="Google Shape;851;g6dcecfad03_0_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4</a:t>
            </a:r>
            <a:endParaRPr/>
          </a:p>
        </p:txBody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Google Shape;856;g6dcecfad03_0_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7" name="Google Shape;857;g6dcecfad03_0_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2</a:t>
            </a:r>
            <a:endParaRPr/>
          </a:p>
        </p:txBody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Google Shape;862;g6dcecfad03_0_1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3" name="Google Shape;863;g6dcecfad03_0_1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3</a:t>
            </a:r>
            <a:endParaRPr/>
          </a:p>
        </p:txBody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Google Shape;868;g6dcecfad03_0_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9" name="Google Shape;869;g6dcecfad03_0_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1</a:t>
            </a:r>
            <a:endParaRPr/>
          </a:p>
        </p:txBody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" name="Google Shape;874;g6dcecfad03_0_1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5" name="Google Shape;875;g6dcecfad03_0_1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3</a:t>
            </a:r>
            <a:endParaRPr/>
          </a:p>
        </p:txBody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6dcecfad03_0_1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1" name="Google Shape;881;g6dcecfad03_0_1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1</a:t>
            </a:r>
            <a:endParaRPr/>
          </a:p>
        </p:txBody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6dcecfad03_0_1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7" name="Google Shape;887;g6dcecfad03_0_1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1</a:t>
            </a:r>
            <a:endParaRPr/>
          </a:p>
        </p:txBody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6dcecfad03_0_1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3" name="Google Shape;893;g6dcecfad03_0_1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3</a:t>
            </a:r>
            <a:endParaRPr/>
          </a:p>
        </p:txBody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6dcecfad03_0_1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9" name="Google Shape;899;g6dcecfad03_0_1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2</a:t>
            </a:r>
            <a:endParaRPr/>
          </a:p>
        </p:txBody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Google Shape;904;g6dcecfad03_0_1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5" name="Google Shape;905;g6dcecfad03_0_1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3</a:t>
            </a:r>
            <a:endParaRPr/>
          </a:p>
        </p:txBody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6dcecfad03_0_1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6dcecfad03_0_1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2</a:t>
            </a:r>
            <a:endParaRPr/>
          </a:p>
        </p:txBody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6dcecfad03_0_1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7" name="Google Shape;917;g6dcecfad03_0_1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4</a:t>
            </a:r>
            <a:endParaRPr/>
          </a:p>
        </p:txBody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6dcecfad03_0_2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6dcecfad03_0_2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1</a:t>
            </a:r>
            <a:endParaRPr/>
          </a:p>
        </p:txBody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8" name="Google Shape;928;g6dcecfad03_0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9" name="Google Shape;929;g6dcecfad03_0_2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3</a:t>
            </a:r>
            <a:endParaRPr/>
          </a:p>
        </p:txBody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Google Shape;934;g6de0fa9424_3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5" name="Google Shape;935;g6de0fa9424_3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5</a:t>
            </a:r>
            <a:endParaRPr/>
          </a:p>
        </p:txBody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6de0fa9424_3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6de0fa9424_3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4</a:t>
            </a:r>
            <a:endParaRPr/>
          </a:p>
        </p:txBody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4" name="Google Shape;944;g6de0fa9424_3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5" name="Google Shape;945;g6de0fa9424_3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2</a:t>
            </a:r>
            <a:endParaRPr/>
          </a:p>
        </p:txBody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g6de0fa9424_3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0" name="Google Shape;950;g6de0fa9424_3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4</a:t>
            </a:r>
            <a:endParaRPr/>
          </a:p>
        </p:txBody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4" name="Google Shape;954;g6de0fa9424_3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5" name="Google Shape;955;g6de0fa9424_3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2</a:t>
            </a:r>
            <a:endParaRPr/>
          </a:p>
        </p:txBody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9" name="Google Shape;959;g6de0fa9424_3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0" name="Google Shape;960;g6de0fa9424_30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3</a:t>
            </a:r>
            <a:endParaRPr/>
          </a:p>
        </p:txBody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5" name="Google Shape;965;g6de0fa9424_30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6" name="Google Shape;966;g6de0fa9424_30_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2</a:t>
            </a:r>
            <a:endParaRPr/>
          </a:p>
        </p:txBody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" name="Google Shape;972;g6de0fa9424_3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3" name="Google Shape;973;g6de0fa9424_3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4</a:t>
            </a:r>
            <a:endParaRPr/>
          </a:p>
        </p:txBody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Google Shape;979;g6de0fa9424_4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0" name="Google Shape;980;g6de0fa9424_40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4</a:t>
            </a:r>
            <a:endParaRPr/>
          </a:p>
        </p:txBody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6" name="Google Shape;986;g6de0fa9424_4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7" name="Google Shape;987;g6de0fa9424_4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3</a:t>
            </a:r>
            <a:endParaRPr/>
          </a:p>
        </p:txBody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g6de0fa9424_4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4" name="Google Shape;994;g6de0fa9424_4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1</a:t>
            </a:r>
            <a:endParaRPr/>
          </a:p>
        </p:txBody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Google Shape;1000;g6de0fa9424_40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1" name="Google Shape;1001;g6de0fa9424_40_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3</a:t>
            </a:r>
            <a:endParaRPr/>
          </a:p>
        </p:txBody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7" name="Google Shape;1007;g6de0fa9424_4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8" name="Google Shape;1008;g6de0fa9424_4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2</a:t>
            </a:r>
            <a:endParaRPr/>
          </a:p>
        </p:txBody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4" name="Google Shape;1014;g6de0fa9424_40_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5" name="Google Shape;1015;g6de0fa9424_40_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Option 3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2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dark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 sz="1800">
                <a:solidFill>
                  <a:schemeClr val="lt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lt2"/>
                </a:solidFill>
              </a:defRPr>
            </a:lvl1pPr>
            <a:lvl2pPr lvl="1" algn="r">
              <a:buNone/>
              <a:defRPr sz="1000">
                <a:solidFill>
                  <a:schemeClr val="lt2"/>
                </a:solidFill>
              </a:defRPr>
            </a:lvl2pPr>
            <a:lvl3pPr lvl="2" algn="r">
              <a:buNone/>
              <a:defRPr sz="1000">
                <a:solidFill>
                  <a:schemeClr val="lt2"/>
                </a:solidFill>
              </a:defRPr>
            </a:lvl3pPr>
            <a:lvl4pPr lvl="3" algn="r">
              <a:buNone/>
              <a:defRPr sz="1000">
                <a:solidFill>
                  <a:schemeClr val="lt2"/>
                </a:solidFill>
              </a:defRPr>
            </a:lvl4pPr>
            <a:lvl5pPr lvl="4" algn="r">
              <a:buNone/>
              <a:defRPr sz="1000">
                <a:solidFill>
                  <a:schemeClr val="lt2"/>
                </a:solidFill>
              </a:defRPr>
            </a:lvl5pPr>
            <a:lvl6pPr lvl="5" algn="r">
              <a:buNone/>
              <a:defRPr sz="1000">
                <a:solidFill>
                  <a:schemeClr val="lt2"/>
                </a:solidFill>
              </a:defRPr>
            </a:lvl6pPr>
            <a:lvl7pPr lvl="6" algn="r">
              <a:buNone/>
              <a:defRPr sz="1000">
                <a:solidFill>
                  <a:schemeClr val="lt2"/>
                </a:solidFill>
              </a:defRPr>
            </a:lvl7pPr>
            <a:lvl8pPr lvl="7" algn="r">
              <a:buNone/>
              <a:defRPr sz="1000">
                <a:solidFill>
                  <a:schemeClr val="lt2"/>
                </a:solidFill>
              </a:defRPr>
            </a:lvl8pPr>
            <a:lvl9pPr lvl="8" algn="r">
              <a:buNone/>
              <a:defRPr sz="1000">
                <a:solidFill>
                  <a:schemeClr val="l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PT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ly.high.FFFF@gmail.com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3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3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3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3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3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3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3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3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3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3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3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3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3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3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3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3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3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3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3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3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3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3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3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3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3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3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3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3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3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3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3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3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3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3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3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3.xm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3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3.xml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3.xm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3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3.xm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3.xm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3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3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3.xm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3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3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3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3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3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3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3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3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3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3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3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3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3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3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3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3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3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3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3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3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3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3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3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3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3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3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3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3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3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3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3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3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3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3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3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3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3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3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3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3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3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3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3.xml"/></Relationships>
</file>

<file path=ppt/slides/_rels/slide1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3.xml"/></Relationships>
</file>

<file path=ppt/slides/_rels/slide1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3.xml"/></Relationships>
</file>

<file path=ppt/slides/_rels/slide1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3.xml"/></Relationships>
</file>

<file path=ppt/slides/_rels/slide1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3.xml"/></Relationships>
</file>

<file path=ppt/slides/_rels/slide1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3.xml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3.xml"/></Relationships>
</file>

<file path=ppt/slides/_rels/slide1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3.xml"/></Relationships>
</file>

<file path=ppt/slides/_rels/slide1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3.xml"/></Relationships>
</file>

<file path=ppt/slides/_rels/slide1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3.xml"/></Relationships>
</file>

<file path=ppt/slides/_rels/slide1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3.xml"/></Relationships>
</file>

<file path=ppt/slides/_rels/slide1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3.xml"/></Relationships>
</file>

<file path=ppt/slides/_rels/slide1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3.xml"/></Relationships>
</file>

<file path=ppt/slides/_rels/slide1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3.xml"/></Relationships>
</file>

<file path=ppt/slides/_rels/slide1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156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dirty="0"/>
              <a:t>PREPARAÇÃO TE</a:t>
            </a:r>
            <a:endParaRPr dirty="0"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311700" y="2309375"/>
            <a:ext cx="8520600" cy="75313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dirty="0"/>
              <a:t>Todas as perguntas dos </a:t>
            </a:r>
            <a:r>
              <a:rPr lang="pt-PT" dirty="0" err="1"/>
              <a:t>LE’s</a:t>
            </a:r>
            <a:r>
              <a:rPr lang="pt-PT" dirty="0"/>
              <a:t> e mais</a:t>
            </a:r>
            <a:endParaRPr dirty="0"/>
          </a:p>
        </p:txBody>
      </p:sp>
      <p:sp>
        <p:nvSpPr>
          <p:cNvPr id="56" name="Google Shape;56;p13"/>
          <p:cNvSpPr txBox="1"/>
          <p:nvPr/>
        </p:nvSpPr>
        <p:spPr>
          <a:xfrm>
            <a:off x="1676401" y="3062514"/>
            <a:ext cx="5762170" cy="16310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Char char="-"/>
            </a:pPr>
            <a:r>
              <a:rPr lang="pt-PT" dirty="0">
                <a:solidFill>
                  <a:srgbClr val="999999"/>
                </a:solidFill>
              </a:rPr>
              <a:t>Soluções na zona dos comentários (em baixo)</a:t>
            </a:r>
            <a:endParaRPr dirty="0">
              <a:solidFill>
                <a:srgbClr val="999999"/>
              </a:solidFill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Char char="-"/>
            </a:pPr>
            <a:r>
              <a:rPr lang="pt-PT" dirty="0">
                <a:solidFill>
                  <a:srgbClr val="999999"/>
                </a:solidFill>
              </a:rPr>
              <a:t>Todas as perguntas estão misturados e não há nenhuma ordem</a:t>
            </a:r>
            <a:endParaRPr dirty="0">
              <a:solidFill>
                <a:srgbClr val="999999"/>
              </a:solidFill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Char char="-"/>
            </a:pPr>
            <a:r>
              <a:rPr lang="pt-PT" dirty="0">
                <a:solidFill>
                  <a:srgbClr val="999999"/>
                </a:solidFill>
              </a:rPr>
              <a:t>Algumas perguntas não são dos </a:t>
            </a:r>
            <a:r>
              <a:rPr lang="pt-PT" dirty="0" err="1">
                <a:solidFill>
                  <a:srgbClr val="999999"/>
                </a:solidFill>
              </a:rPr>
              <a:t>LE’s</a:t>
            </a:r>
            <a:endParaRPr lang="pt-PT" dirty="0">
              <a:solidFill>
                <a:srgbClr val="999999"/>
              </a:solidFill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Char char="-"/>
            </a:pPr>
            <a:r>
              <a:rPr lang="pt-PT" dirty="0">
                <a:solidFill>
                  <a:srgbClr val="999999"/>
                </a:solidFill>
              </a:rPr>
              <a:t>Se encontraste algum erro, tens mais sugestões de perguntas ou se queres partilhar os </a:t>
            </a:r>
            <a:r>
              <a:rPr lang="pt-PT" dirty="0" err="1">
                <a:solidFill>
                  <a:srgbClr val="999999"/>
                </a:solidFill>
              </a:rPr>
              <a:t>LE’s</a:t>
            </a:r>
            <a:r>
              <a:rPr lang="pt-PT" dirty="0">
                <a:solidFill>
                  <a:srgbClr val="999999"/>
                </a:solidFill>
              </a:rPr>
              <a:t> do teu ano manda um mail para </a:t>
            </a:r>
            <a:r>
              <a:rPr lang="pt-PT" dirty="0">
                <a:hlinkClick r:id="rId3"/>
              </a:rPr>
              <a:t>fly.high.FFFF@gmail.com</a:t>
            </a:r>
            <a:r>
              <a:rPr lang="pt-PT" dirty="0"/>
              <a:t>.</a:t>
            </a:r>
            <a:endParaRPr dirty="0">
              <a:solidFill>
                <a:srgbClr val="999999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47888" y="1190625"/>
            <a:ext cx="4848225" cy="2762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Google Shape;66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14550" y="1209675"/>
            <a:ext cx="4914900" cy="2724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Google Shape;71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1725" y="1200150"/>
            <a:ext cx="4400550" cy="2743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260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Given the following code fragment what is its Big-O running time?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400"/>
              <a:t>cut = 0</a:t>
            </a:r>
            <a:endParaRPr sz="24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400"/>
              <a:t>for i in range(n):</a:t>
            </a:r>
            <a:endParaRPr sz="24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400"/>
              <a:t>	for j in range(n):</a:t>
            </a:r>
            <a:endParaRPr sz="24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400"/>
              <a:t>		cut += i * j</a:t>
            </a:r>
            <a:endParaRPr sz="24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7"/>
          <p:cNvSpPr txBox="1">
            <a:spLocks noGrp="1"/>
          </p:cNvSpPr>
          <p:nvPr>
            <p:ph type="body" idx="1"/>
          </p:nvPr>
        </p:nvSpPr>
        <p:spPr>
          <a:xfrm>
            <a:off x="311700" y="2919725"/>
            <a:ext cx="8520600" cy="197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33400" lvl="0" indent="-457200" algn="l" rtl="0">
              <a:spcBef>
                <a:spcPts val="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/>
              <a:t>O(n)</a:t>
            </a:r>
            <a:endParaRPr sz="2400" dirty="0"/>
          </a:p>
          <a:p>
            <a:pPr marL="533400" lvl="0" indent="-457200" algn="l" rtl="0">
              <a:spcBef>
                <a:spcPts val="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/>
              <a:t>O(n^2)</a:t>
            </a:r>
            <a:endParaRPr sz="2400" dirty="0"/>
          </a:p>
          <a:p>
            <a:pPr marL="533400" lvl="0" indent="-457200" algn="l" rtl="0">
              <a:spcBef>
                <a:spcPts val="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/>
              <a:t>O(n log n)</a:t>
            </a:r>
            <a:endParaRPr sz="2400" dirty="0"/>
          </a:p>
          <a:p>
            <a:pPr marL="533400" lvl="0" indent="-457200" algn="l" rtl="0">
              <a:spcBef>
                <a:spcPts val="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/>
              <a:t>O(n^3)</a:t>
            </a:r>
            <a:endParaRPr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Google Shape;82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1725" y="1157288"/>
            <a:ext cx="4400550" cy="282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57275" y="609600"/>
            <a:ext cx="7029450" cy="3924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38350" y="1414463"/>
            <a:ext cx="5067300" cy="2314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97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113" y="152400"/>
            <a:ext cx="8469778" cy="4838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Google Shape;102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59425" y="152400"/>
            <a:ext cx="3825141" cy="48386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5763" y="590550"/>
            <a:ext cx="8372475" cy="396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57388" y="1176338"/>
            <a:ext cx="5229225" cy="2790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76413" y="971550"/>
            <a:ext cx="5591175" cy="3200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85250"/>
            <a:ext cx="8839201" cy="47730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7" name="Google Shape;127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09725" y="1138238"/>
            <a:ext cx="5924550" cy="2867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9150" y="633413"/>
            <a:ext cx="7505700" cy="3876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47750" y="466725"/>
            <a:ext cx="7048500" cy="4210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Google Shape;142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764550"/>
            <a:ext cx="8839199" cy="361440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7" name="Google Shape;147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78975"/>
            <a:ext cx="8839198" cy="19855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87075"/>
            <a:ext cx="8839199" cy="19693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7" name="Google Shape;157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04988" y="1157288"/>
            <a:ext cx="5534025" cy="282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2" name="Google Shape;162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43013" y="1652588"/>
            <a:ext cx="6657975" cy="1838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7" name="Google Shape;167;p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47750" y="1290638"/>
            <a:ext cx="7048500" cy="2562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" name="Google Shape;172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3875" y="1138238"/>
            <a:ext cx="8096250" cy="2867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7" name="Google Shape;177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24025" y="1181100"/>
            <a:ext cx="5695950" cy="2781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53425" y="152400"/>
            <a:ext cx="6637154" cy="4838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Google Shape;187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71575" y="1290638"/>
            <a:ext cx="6800850" cy="2562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2" name="Google Shape;192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95563" y="1285875"/>
            <a:ext cx="3952875" cy="2571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7" name="Google Shape;197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66975" y="1123950"/>
            <a:ext cx="4210050" cy="2895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" name="Google Shape;202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33538" y="1166813"/>
            <a:ext cx="5876925" cy="280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Google Shape;207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596150"/>
            <a:ext cx="8839199" cy="39512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4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Which of the following is unit testing?</a:t>
            </a:r>
            <a:endParaRPr/>
          </a:p>
        </p:txBody>
      </p:sp>
      <p:sp>
        <p:nvSpPr>
          <p:cNvPr id="213" name="Google Shape;213;p44"/>
          <p:cNvSpPr txBox="1">
            <a:spLocks noGrp="1"/>
          </p:cNvSpPr>
          <p:nvPr>
            <p:ph type="body" idx="1"/>
          </p:nvPr>
        </p:nvSpPr>
        <p:spPr>
          <a:xfrm>
            <a:off x="311700" y="1679325"/>
            <a:ext cx="8520600" cy="288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 err="1"/>
              <a:t>Test</a:t>
            </a:r>
            <a:r>
              <a:rPr lang="pt-PT" sz="3600" dirty="0"/>
              <a:t> </a:t>
            </a:r>
            <a:r>
              <a:rPr lang="pt-PT" sz="3600" dirty="0" err="1"/>
              <a:t>if</a:t>
            </a:r>
            <a:r>
              <a:rPr lang="pt-PT" sz="3600" dirty="0"/>
              <a:t> a </a:t>
            </a:r>
            <a:r>
              <a:rPr lang="pt-PT" sz="3600" dirty="0" err="1"/>
              <a:t>variable</a:t>
            </a:r>
            <a:r>
              <a:rPr lang="pt-PT" sz="3600" dirty="0"/>
              <a:t> </a:t>
            </a:r>
            <a:r>
              <a:rPr lang="pt-PT" sz="3600" dirty="0" err="1"/>
              <a:t>value</a:t>
            </a:r>
            <a:r>
              <a:rPr lang="pt-PT" sz="3600" dirty="0"/>
              <a:t> </a:t>
            </a:r>
            <a:r>
              <a:rPr lang="pt-PT" sz="3600" dirty="0" err="1"/>
              <a:t>is</a:t>
            </a:r>
            <a:r>
              <a:rPr lang="pt-PT" sz="3600" dirty="0"/>
              <a:t> </a:t>
            </a:r>
            <a:r>
              <a:rPr lang="pt-PT" sz="3600" dirty="0" err="1"/>
              <a:t>valid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 err="1"/>
              <a:t>Test</a:t>
            </a:r>
            <a:r>
              <a:rPr lang="pt-PT" sz="3600" dirty="0"/>
              <a:t> PEP8 </a:t>
            </a:r>
            <a:r>
              <a:rPr lang="pt-PT" sz="3600" dirty="0" err="1"/>
              <a:t>style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 err="1"/>
              <a:t>Test</a:t>
            </a:r>
            <a:r>
              <a:rPr lang="pt-PT" sz="3600" dirty="0"/>
              <a:t> </a:t>
            </a:r>
            <a:r>
              <a:rPr lang="pt-PT" sz="3600" dirty="0" err="1"/>
              <a:t>the</a:t>
            </a:r>
            <a:r>
              <a:rPr lang="pt-PT" sz="3600" dirty="0"/>
              <a:t> </a:t>
            </a:r>
            <a:r>
              <a:rPr lang="pt-PT" sz="3600" dirty="0" err="1"/>
              <a:t>code</a:t>
            </a:r>
            <a:r>
              <a:rPr lang="pt-PT" sz="3600" dirty="0"/>
              <a:t> </a:t>
            </a:r>
            <a:r>
              <a:rPr lang="pt-PT" sz="3600" dirty="0" err="1"/>
              <a:t>comments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 err="1"/>
              <a:t>Test</a:t>
            </a:r>
            <a:r>
              <a:rPr lang="pt-PT" sz="3600" dirty="0"/>
              <a:t> </a:t>
            </a:r>
            <a:r>
              <a:rPr lang="pt-PT" sz="3600" dirty="0" err="1"/>
              <a:t>the</a:t>
            </a:r>
            <a:r>
              <a:rPr lang="pt-PT" sz="3600" dirty="0"/>
              <a:t> output </a:t>
            </a:r>
            <a:r>
              <a:rPr lang="pt-PT" sz="3600" dirty="0" err="1"/>
              <a:t>of</a:t>
            </a:r>
            <a:r>
              <a:rPr lang="pt-PT" sz="3600" dirty="0"/>
              <a:t> a </a:t>
            </a:r>
            <a:r>
              <a:rPr lang="pt-PT" sz="3600" dirty="0" err="1"/>
              <a:t>function</a:t>
            </a:r>
            <a:r>
              <a:rPr lang="pt-PT" sz="3600" dirty="0"/>
              <a:t> </a:t>
            </a:r>
            <a:r>
              <a:rPr lang="pt-PT" sz="3600" dirty="0" err="1"/>
              <a:t>given</a:t>
            </a:r>
            <a:r>
              <a:rPr lang="pt-PT" sz="3600" dirty="0"/>
              <a:t> a </a:t>
            </a:r>
            <a:r>
              <a:rPr lang="pt-PT" sz="3600" dirty="0" err="1"/>
              <a:t>certain</a:t>
            </a:r>
            <a:r>
              <a:rPr lang="pt-PT" sz="3600" dirty="0"/>
              <a:t> input</a:t>
            </a:r>
            <a:endParaRPr sz="3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8" name="Google Shape;218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95450" y="1152525"/>
            <a:ext cx="5753100" cy="2990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3" name="Google Shape;223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47775" y="1033463"/>
            <a:ext cx="6648450" cy="3076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8" name="Google Shape;228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28900" y="1123950"/>
            <a:ext cx="3886200" cy="2895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3" name="Google Shape;233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43175" y="1014413"/>
            <a:ext cx="4057650" cy="3114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8" name="Google Shape;238;p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43188" y="1228725"/>
            <a:ext cx="3857625" cy="2686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3" name="Google Shape;243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28738" y="514350"/>
            <a:ext cx="6486525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5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Which one is a suitable comment?</a:t>
            </a:r>
            <a:endParaRPr/>
          </a:p>
        </p:txBody>
      </p:sp>
      <p:sp>
        <p:nvSpPr>
          <p:cNvPr id="249" name="Google Shape;249;p51"/>
          <p:cNvSpPr txBox="1">
            <a:spLocks noGrp="1"/>
          </p:cNvSpPr>
          <p:nvPr>
            <p:ph type="body" idx="1"/>
          </p:nvPr>
        </p:nvSpPr>
        <p:spPr>
          <a:xfrm>
            <a:off x="311700" y="1679325"/>
            <a:ext cx="8520600" cy="288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i += 1 #incrementing i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i += 1 #go to </a:t>
            </a:r>
            <a:r>
              <a:rPr lang="pt-PT" sz="3600" dirty="0" err="1"/>
              <a:t>next</a:t>
            </a:r>
            <a:r>
              <a:rPr lang="pt-PT" sz="3600" dirty="0"/>
              <a:t> </a:t>
            </a:r>
            <a:r>
              <a:rPr lang="pt-PT" sz="3600" dirty="0" err="1"/>
              <a:t>element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i += 1 #this </a:t>
            </a:r>
            <a:r>
              <a:rPr lang="pt-PT" sz="3600" dirty="0" err="1"/>
              <a:t>line</a:t>
            </a:r>
            <a:r>
              <a:rPr lang="pt-PT" sz="3600" dirty="0"/>
              <a:t> </a:t>
            </a:r>
            <a:r>
              <a:rPr lang="pt-PT" sz="3600" dirty="0" err="1"/>
              <a:t>is</a:t>
            </a:r>
            <a:r>
              <a:rPr lang="pt-PT" sz="3600" dirty="0"/>
              <a:t> </a:t>
            </a:r>
            <a:r>
              <a:rPr lang="pt-PT" sz="3600" dirty="0" err="1"/>
              <a:t>very</a:t>
            </a:r>
            <a:r>
              <a:rPr lang="pt-PT" sz="3600" dirty="0"/>
              <a:t> </a:t>
            </a:r>
            <a:r>
              <a:rPr lang="pt-PT" sz="3600" dirty="0" err="1"/>
              <a:t>important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i += 1 #adding 1 to i</a:t>
            </a:r>
            <a:endParaRPr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4" name="Google Shape;254;p5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76375" y="1409700"/>
            <a:ext cx="6191250" cy="2324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9" name="Google Shape;259;p5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38413" y="1281100"/>
            <a:ext cx="4067175" cy="2581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54"/>
          <p:cNvSpPr txBox="1">
            <a:spLocks noGrp="1"/>
          </p:cNvSpPr>
          <p:nvPr>
            <p:ph type="title"/>
          </p:nvPr>
        </p:nvSpPr>
        <p:spPr>
          <a:xfrm>
            <a:off x="311700" y="429125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To what can </a:t>
            </a:r>
            <a:r>
              <a:rPr lang="pt-PT" b="1"/>
              <a:t>assert</a:t>
            </a:r>
            <a:r>
              <a:rPr lang="pt-PT"/>
              <a:t> can be used?</a:t>
            </a:r>
            <a:endParaRPr/>
          </a:p>
        </p:txBody>
      </p:sp>
      <p:sp>
        <p:nvSpPr>
          <p:cNvPr id="265" name="Google Shape;265;p54"/>
          <p:cNvSpPr txBox="1">
            <a:spLocks noGrp="1"/>
          </p:cNvSpPr>
          <p:nvPr>
            <p:ph type="body" idx="1"/>
          </p:nvPr>
        </p:nvSpPr>
        <p:spPr>
          <a:xfrm>
            <a:off x="311700" y="1126950"/>
            <a:ext cx="8520600" cy="288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 err="1"/>
              <a:t>Ensure</a:t>
            </a:r>
            <a:r>
              <a:rPr lang="pt-PT" sz="3600" dirty="0"/>
              <a:t> </a:t>
            </a:r>
            <a:r>
              <a:rPr lang="pt-PT" sz="3600" dirty="0" err="1"/>
              <a:t>the</a:t>
            </a:r>
            <a:r>
              <a:rPr lang="pt-PT" sz="3600" dirty="0"/>
              <a:t> </a:t>
            </a:r>
            <a:r>
              <a:rPr lang="pt-PT" sz="3600" dirty="0" err="1"/>
              <a:t>program</a:t>
            </a:r>
            <a:r>
              <a:rPr lang="pt-PT" sz="3600" dirty="0"/>
              <a:t> </a:t>
            </a:r>
            <a:r>
              <a:rPr lang="pt-PT" sz="3600" dirty="0" err="1"/>
              <a:t>keeps</a:t>
            </a:r>
            <a:r>
              <a:rPr lang="pt-PT" sz="3600" dirty="0"/>
              <a:t> </a:t>
            </a:r>
            <a:r>
              <a:rPr lang="pt-PT" sz="3600" dirty="0" err="1"/>
              <a:t>running</a:t>
            </a:r>
            <a:r>
              <a:rPr lang="pt-PT" sz="3600" dirty="0"/>
              <a:t> </a:t>
            </a:r>
            <a:r>
              <a:rPr lang="pt-PT" sz="3600" dirty="0" err="1"/>
              <a:t>even</a:t>
            </a:r>
            <a:r>
              <a:rPr lang="pt-PT" sz="3600" dirty="0"/>
              <a:t> </a:t>
            </a:r>
            <a:r>
              <a:rPr lang="pt-PT" sz="3600" dirty="0" err="1"/>
              <a:t>if</a:t>
            </a:r>
            <a:r>
              <a:rPr lang="pt-PT" sz="3600" dirty="0"/>
              <a:t> a </a:t>
            </a:r>
            <a:r>
              <a:rPr lang="pt-PT" sz="3600" dirty="0" err="1"/>
              <a:t>variable</a:t>
            </a:r>
            <a:r>
              <a:rPr lang="pt-PT" sz="3600" dirty="0"/>
              <a:t> </a:t>
            </a:r>
            <a:r>
              <a:rPr lang="pt-PT" sz="3600" dirty="0" err="1"/>
              <a:t>value</a:t>
            </a:r>
            <a:r>
              <a:rPr lang="pt-PT" sz="3600" dirty="0"/>
              <a:t> </a:t>
            </a:r>
            <a:r>
              <a:rPr lang="pt-PT" sz="3600" dirty="0" err="1"/>
              <a:t>is</a:t>
            </a:r>
            <a:r>
              <a:rPr lang="pt-PT" sz="3600" dirty="0"/>
              <a:t> </a:t>
            </a:r>
            <a:r>
              <a:rPr lang="pt-PT" sz="3600" dirty="0" err="1"/>
              <a:t>invalid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To </a:t>
            </a:r>
            <a:r>
              <a:rPr lang="pt-PT" sz="3600" dirty="0" err="1"/>
              <a:t>document</a:t>
            </a:r>
            <a:r>
              <a:rPr lang="pt-PT" sz="3600" dirty="0"/>
              <a:t> </a:t>
            </a:r>
            <a:r>
              <a:rPr lang="pt-PT" sz="3600" dirty="0" err="1"/>
              <a:t>the</a:t>
            </a:r>
            <a:r>
              <a:rPr lang="pt-PT" sz="3600" dirty="0"/>
              <a:t> </a:t>
            </a:r>
            <a:r>
              <a:rPr lang="pt-PT" sz="3600" dirty="0" err="1"/>
              <a:t>code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Crash </a:t>
            </a:r>
            <a:r>
              <a:rPr lang="pt-PT" sz="3600" dirty="0" err="1"/>
              <a:t>the</a:t>
            </a:r>
            <a:r>
              <a:rPr lang="pt-PT" sz="3600" dirty="0"/>
              <a:t> </a:t>
            </a:r>
            <a:r>
              <a:rPr lang="pt-PT" sz="3600" dirty="0" err="1"/>
              <a:t>program</a:t>
            </a:r>
            <a:r>
              <a:rPr lang="pt-PT" sz="3600" dirty="0"/>
              <a:t> as </a:t>
            </a:r>
            <a:r>
              <a:rPr lang="pt-PT" sz="3600" dirty="0" err="1"/>
              <a:t>soon</a:t>
            </a:r>
            <a:r>
              <a:rPr lang="pt-PT" sz="3600" dirty="0"/>
              <a:t> as a </a:t>
            </a:r>
            <a:r>
              <a:rPr lang="pt-PT" sz="3600" dirty="0" err="1"/>
              <a:t>variable</a:t>
            </a:r>
            <a:r>
              <a:rPr lang="pt-PT" sz="3600" dirty="0"/>
              <a:t> </a:t>
            </a:r>
            <a:r>
              <a:rPr lang="pt-PT" sz="3600" dirty="0" err="1"/>
              <a:t>value</a:t>
            </a:r>
            <a:r>
              <a:rPr lang="pt-PT" sz="3600" dirty="0"/>
              <a:t> </a:t>
            </a:r>
            <a:r>
              <a:rPr lang="pt-PT" sz="3600" dirty="0" err="1"/>
              <a:t>is</a:t>
            </a:r>
            <a:r>
              <a:rPr lang="pt-PT" sz="3600" dirty="0"/>
              <a:t> </a:t>
            </a:r>
            <a:r>
              <a:rPr lang="pt-PT" sz="3600" dirty="0" err="1"/>
              <a:t>found</a:t>
            </a:r>
            <a:r>
              <a:rPr lang="pt-PT" sz="3600" dirty="0"/>
              <a:t> to </a:t>
            </a:r>
            <a:r>
              <a:rPr lang="pt-PT" sz="3600" dirty="0" err="1"/>
              <a:t>be</a:t>
            </a:r>
            <a:r>
              <a:rPr lang="pt-PT" sz="3600" dirty="0"/>
              <a:t> </a:t>
            </a:r>
            <a:r>
              <a:rPr lang="pt-PT" sz="3600" dirty="0" err="1"/>
              <a:t>invalid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 err="1"/>
              <a:t>It</a:t>
            </a:r>
            <a:r>
              <a:rPr lang="pt-PT" sz="3600" dirty="0"/>
              <a:t> can </a:t>
            </a:r>
            <a:r>
              <a:rPr lang="pt-PT" sz="3600" dirty="0" err="1"/>
              <a:t>be</a:t>
            </a:r>
            <a:r>
              <a:rPr lang="pt-PT" sz="3600" dirty="0"/>
              <a:t> </a:t>
            </a:r>
            <a:r>
              <a:rPr lang="pt-PT" sz="3600" dirty="0" err="1"/>
              <a:t>used</a:t>
            </a:r>
            <a:r>
              <a:rPr lang="pt-PT" sz="3600" dirty="0"/>
              <a:t> </a:t>
            </a:r>
            <a:r>
              <a:rPr lang="pt-PT" sz="3600" dirty="0" err="1"/>
              <a:t>only</a:t>
            </a:r>
            <a:r>
              <a:rPr lang="pt-PT" sz="3600" dirty="0"/>
              <a:t> for </a:t>
            </a:r>
            <a:r>
              <a:rPr lang="pt-PT" sz="3600" dirty="0" err="1"/>
              <a:t>variables</a:t>
            </a:r>
            <a:endParaRPr sz="36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0" name="Google Shape;270;p5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76525" y="1176338"/>
            <a:ext cx="3790950" cy="2790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Google Shape;275;p5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19338" y="1181100"/>
            <a:ext cx="4505325" cy="2781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0" name="Google Shape;280;p5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85975" y="1252538"/>
            <a:ext cx="4972050" cy="2638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5" name="Google Shape;285;p5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24013" y="1247775"/>
            <a:ext cx="5895975" cy="2647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0" name="Google Shape;290;p5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28888" y="1143000"/>
            <a:ext cx="4086225" cy="285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5" name="Google Shape;295;p6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6488" y="1114425"/>
            <a:ext cx="4391025" cy="2914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0" name="Google Shape;300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71550" y="638175"/>
            <a:ext cx="7200900" cy="3867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5" name="Google Shape;305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1725" y="1081088"/>
            <a:ext cx="4400550" cy="2981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0" name="Google Shape;310;p6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62063" y="671513"/>
            <a:ext cx="6619875" cy="3800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5" name="Google Shape;315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82475"/>
            <a:ext cx="8839200" cy="2778530"/>
          </a:xfrm>
          <a:prstGeom prst="rect">
            <a:avLst/>
          </a:prstGeom>
          <a:noFill/>
          <a:ln>
            <a:noFill/>
          </a:ln>
        </p:spPr>
      </p:pic>
      <p:sp>
        <p:nvSpPr>
          <p:cNvPr id="316" name="Google Shape;316;p64"/>
          <p:cNvSpPr/>
          <p:nvPr/>
        </p:nvSpPr>
        <p:spPr>
          <a:xfrm>
            <a:off x="445700" y="2308775"/>
            <a:ext cx="126900" cy="95100"/>
          </a:xfrm>
          <a:prstGeom prst="ellipse">
            <a:avLst/>
          </a:prstGeom>
          <a:solidFill>
            <a:srgbClr val="000000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7" name="Google Shape;317;p64"/>
          <p:cNvSpPr/>
          <p:nvPr/>
        </p:nvSpPr>
        <p:spPr>
          <a:xfrm>
            <a:off x="466825" y="2731225"/>
            <a:ext cx="105900" cy="95100"/>
          </a:xfrm>
          <a:prstGeom prst="ellipse">
            <a:avLst/>
          </a:prstGeom>
          <a:solidFill>
            <a:srgbClr val="000000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8" name="Google Shape;318;p64"/>
          <p:cNvSpPr/>
          <p:nvPr/>
        </p:nvSpPr>
        <p:spPr>
          <a:xfrm>
            <a:off x="466825" y="3132575"/>
            <a:ext cx="105900" cy="95100"/>
          </a:xfrm>
          <a:prstGeom prst="ellipse">
            <a:avLst/>
          </a:prstGeom>
          <a:solidFill>
            <a:srgbClr val="000000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9" name="Google Shape;319;p64"/>
          <p:cNvSpPr/>
          <p:nvPr/>
        </p:nvSpPr>
        <p:spPr>
          <a:xfrm>
            <a:off x="477375" y="3565600"/>
            <a:ext cx="105900" cy="95100"/>
          </a:xfrm>
          <a:prstGeom prst="ellipse">
            <a:avLst/>
          </a:prstGeom>
          <a:solidFill>
            <a:srgbClr val="000000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4" name="Google Shape;324;p6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28875" y="1076325"/>
            <a:ext cx="4286250" cy="2990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66"/>
          <p:cNvSpPr txBox="1">
            <a:spLocks noGrp="1"/>
          </p:cNvSpPr>
          <p:nvPr>
            <p:ph type="title"/>
          </p:nvPr>
        </p:nvSpPr>
        <p:spPr>
          <a:xfrm>
            <a:off x="311700" y="43800"/>
            <a:ext cx="8520600" cy="509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1800">
                <a:solidFill>
                  <a:srgbClr val="FFFFFF"/>
                </a:solidFill>
              </a:rPr>
              <a:t>Which of the following is the output of the below Python code fragment?</a:t>
            </a: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1400">
                <a:solidFill>
                  <a:srgbClr val="FFFFFF"/>
                </a:solidFill>
              </a:rPr>
              <a:t>x = True</a:t>
            </a:r>
            <a:endParaRPr sz="1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1400">
                <a:solidFill>
                  <a:srgbClr val="FFFFFF"/>
                </a:solidFill>
              </a:rPr>
              <a:t>y=False</a:t>
            </a:r>
            <a:endParaRPr sz="1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1400">
                <a:solidFill>
                  <a:srgbClr val="FFFFFF"/>
                </a:solidFill>
              </a:rPr>
              <a:t>z= False</a:t>
            </a:r>
            <a:endParaRPr sz="1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1400">
                <a:solidFill>
                  <a:srgbClr val="FFFFFF"/>
                </a:solidFill>
              </a:rPr>
              <a:t>if not x or y:</a:t>
            </a:r>
            <a:endParaRPr sz="1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1400">
                <a:solidFill>
                  <a:srgbClr val="FFFFFF"/>
                </a:solidFill>
              </a:rPr>
              <a:t>      print (1)</a:t>
            </a:r>
            <a:endParaRPr sz="1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1400">
                <a:solidFill>
                  <a:srgbClr val="FFFFFF"/>
                </a:solidFill>
              </a:rPr>
              <a:t>elif not x or not y and z:</a:t>
            </a:r>
            <a:endParaRPr sz="1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1400">
                <a:solidFill>
                  <a:srgbClr val="FFFFFF"/>
                </a:solidFill>
              </a:rPr>
              <a:t>      print (2)</a:t>
            </a:r>
            <a:endParaRPr sz="1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1400">
                <a:solidFill>
                  <a:srgbClr val="FFFFFF"/>
                </a:solidFill>
              </a:rPr>
              <a:t>elif not x or y or not y and x:</a:t>
            </a:r>
            <a:endParaRPr sz="1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1400">
                <a:solidFill>
                  <a:srgbClr val="FFFFFF"/>
                </a:solidFill>
              </a:rPr>
              <a:t>      print (3)</a:t>
            </a:r>
            <a:endParaRPr sz="1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1400">
                <a:solidFill>
                  <a:srgbClr val="FFFFFF"/>
                </a:solidFill>
              </a:rPr>
              <a:t>else:</a:t>
            </a:r>
            <a:endParaRPr sz="1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1400">
                <a:solidFill>
                  <a:srgbClr val="FFFFFF"/>
                </a:solidFill>
              </a:rPr>
              <a:t>      print (4)</a:t>
            </a:r>
            <a:endParaRPr sz="1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800">
              <a:solidFill>
                <a:srgbClr val="FFFFFF"/>
              </a:solidFill>
            </a:endParaRPr>
          </a:p>
        </p:txBody>
      </p:sp>
      <p:sp>
        <p:nvSpPr>
          <p:cNvPr id="330" name="Google Shape;330;p66"/>
          <p:cNvSpPr txBox="1"/>
          <p:nvPr/>
        </p:nvSpPr>
        <p:spPr>
          <a:xfrm>
            <a:off x="4070875" y="1246362"/>
            <a:ext cx="4941600" cy="317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742950" lvl="0" indent="-742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+mj-lt"/>
              <a:buAutoNum type="arabicPeriod"/>
            </a:pPr>
            <a:r>
              <a:rPr lang="pt-PT" sz="3600" dirty="0">
                <a:solidFill>
                  <a:schemeClr val="lt2"/>
                </a:solidFill>
              </a:rPr>
              <a:t>2</a:t>
            </a:r>
            <a:endParaRPr sz="3600" dirty="0">
              <a:solidFill>
                <a:schemeClr val="lt2"/>
              </a:solidFill>
            </a:endParaRPr>
          </a:p>
          <a:p>
            <a:pPr marL="742950" lvl="0" indent="-742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+mj-lt"/>
              <a:buAutoNum type="arabicPeriod"/>
            </a:pPr>
            <a:r>
              <a:rPr lang="pt-PT" sz="3600" dirty="0">
                <a:solidFill>
                  <a:schemeClr val="lt2"/>
                </a:solidFill>
              </a:rPr>
              <a:t>1</a:t>
            </a:r>
            <a:endParaRPr sz="3600" dirty="0">
              <a:solidFill>
                <a:schemeClr val="lt2"/>
              </a:solidFill>
            </a:endParaRPr>
          </a:p>
          <a:p>
            <a:pPr marL="742950" lvl="0" indent="-742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+mj-lt"/>
              <a:buAutoNum type="arabicPeriod"/>
            </a:pPr>
            <a:r>
              <a:rPr lang="pt-PT" sz="3600" dirty="0">
                <a:solidFill>
                  <a:schemeClr val="lt2"/>
                </a:solidFill>
              </a:rPr>
              <a:t>3</a:t>
            </a:r>
            <a:endParaRPr sz="3600" dirty="0">
              <a:solidFill>
                <a:schemeClr val="lt2"/>
              </a:solidFill>
            </a:endParaRPr>
          </a:p>
          <a:p>
            <a:pPr marL="742950" lvl="0" indent="-742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+mj-lt"/>
              <a:buAutoNum type="arabicPeriod"/>
            </a:pPr>
            <a:r>
              <a:rPr lang="pt-PT" sz="3600" dirty="0">
                <a:solidFill>
                  <a:schemeClr val="lt2"/>
                </a:solidFill>
              </a:rPr>
              <a:t>4</a:t>
            </a:r>
            <a:endParaRPr sz="3600" dirty="0">
              <a:solidFill>
                <a:schemeClr val="lt2"/>
              </a:solidFill>
            </a:endParaRPr>
          </a:p>
          <a:p>
            <a:pPr marL="742950" lvl="0" indent="-742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+mj-lt"/>
              <a:buAutoNum type="arabicPeriod"/>
            </a:pPr>
            <a:r>
              <a:rPr lang="pt-PT" sz="3600" dirty="0" err="1">
                <a:solidFill>
                  <a:schemeClr val="lt2"/>
                </a:solidFill>
              </a:rPr>
              <a:t>None</a:t>
            </a:r>
            <a:endParaRPr sz="3600" dirty="0">
              <a:solidFill>
                <a:schemeClr val="lt2"/>
              </a:solidFill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5" name="Google Shape;335;p6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6088" y="152400"/>
            <a:ext cx="8051826" cy="4838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0" name="Google Shape;340;p6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76350" y="1095375"/>
            <a:ext cx="6591300" cy="2952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5" name="Google Shape;345;p6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76513" y="1276350"/>
            <a:ext cx="3990975" cy="2590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0" name="Google Shape;350;p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14538" y="1033463"/>
            <a:ext cx="5114925" cy="3076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5" name="Google Shape;355;p7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38413" y="1247775"/>
            <a:ext cx="4067175" cy="2647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0" name="Google Shape;360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38413" y="1247775"/>
            <a:ext cx="4067175" cy="2647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5" name="Google Shape;365;p7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95575" y="1133475"/>
            <a:ext cx="3752850" cy="2876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0" name="Google Shape;370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19325" y="1109663"/>
            <a:ext cx="4705350" cy="2924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5" name="Google Shape;375;p7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5800" y="1257300"/>
            <a:ext cx="7772400" cy="2628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0" name="Google Shape;380;p7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14538" y="1052513"/>
            <a:ext cx="5114925" cy="3038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Which of the list operations shown below is not O(1)?</a:t>
            </a:r>
            <a:endParaRPr/>
          </a:p>
        </p:txBody>
      </p:sp>
      <p:sp>
        <p:nvSpPr>
          <p:cNvPr id="386" name="Google Shape;386;p77"/>
          <p:cNvSpPr txBox="1">
            <a:spLocks noGrp="1"/>
          </p:cNvSpPr>
          <p:nvPr>
            <p:ph type="body" idx="1"/>
          </p:nvPr>
        </p:nvSpPr>
        <p:spPr>
          <a:xfrm>
            <a:off x="311700" y="1423937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 err="1"/>
              <a:t>list</a:t>
            </a:r>
            <a:r>
              <a:rPr lang="pt-PT" sz="3600" dirty="0"/>
              <a:t>[10]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 err="1"/>
              <a:t>list.pop</a:t>
            </a:r>
            <a:r>
              <a:rPr lang="pt-PT" sz="3600" dirty="0"/>
              <a:t>()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 err="1"/>
              <a:t>list.append</a:t>
            </a:r>
            <a:r>
              <a:rPr lang="pt-PT" sz="3600" dirty="0"/>
              <a:t>()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 err="1"/>
              <a:t>list.pop</a:t>
            </a:r>
            <a:r>
              <a:rPr lang="pt-PT" sz="3600" dirty="0"/>
              <a:t>(0)</a:t>
            </a:r>
            <a:endParaRPr sz="36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1" name="Google Shape;391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52663" y="681038"/>
            <a:ext cx="4638675" cy="3781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p7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349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2400">
                <a:solidFill>
                  <a:srgbClr val="FFFFFF"/>
                </a:solidFill>
              </a:rPr>
              <a:t>Which of the following is the output of the below Python code fragment?</a:t>
            </a: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1800">
                <a:solidFill>
                  <a:srgbClr val="FFFFFF"/>
                </a:solidFill>
              </a:rPr>
              <a:t>def f1(x  =1, y = 2):</a:t>
            </a: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1800">
                <a:solidFill>
                  <a:srgbClr val="FFFFFF"/>
                </a:solidFill>
              </a:rPr>
              <a:t>	x = x + y</a:t>
            </a: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1800">
                <a:solidFill>
                  <a:srgbClr val="FFFFFF"/>
                </a:solidFill>
              </a:rPr>
              <a:t>	y  += 1</a:t>
            </a: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1800">
                <a:solidFill>
                  <a:srgbClr val="FFFFFF"/>
                </a:solidFill>
              </a:rPr>
              <a:t>	print(x, y)</a:t>
            </a: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pt-PT" sz="1800">
                <a:solidFill>
                  <a:srgbClr val="FFFFFF"/>
                </a:solidFill>
              </a:rPr>
              <a:t>f1(y = 2, x = 1)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397" name="Google Shape;397;p79"/>
          <p:cNvSpPr txBox="1"/>
          <p:nvPr/>
        </p:nvSpPr>
        <p:spPr>
          <a:xfrm>
            <a:off x="3785125" y="1660700"/>
            <a:ext cx="4941600" cy="317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742950" lvl="0" indent="-742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+mj-lt"/>
              <a:buAutoNum type="arabicPeriod"/>
            </a:pPr>
            <a:r>
              <a:rPr lang="pt-PT" sz="3600" dirty="0">
                <a:solidFill>
                  <a:schemeClr val="lt2"/>
                </a:solidFill>
              </a:rPr>
              <a:t>1 3</a:t>
            </a:r>
            <a:endParaRPr sz="3600" dirty="0">
              <a:solidFill>
                <a:schemeClr val="lt2"/>
              </a:solidFill>
            </a:endParaRPr>
          </a:p>
          <a:p>
            <a:pPr marL="742950" lvl="0" indent="-742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+mj-lt"/>
              <a:buAutoNum type="arabicPeriod"/>
            </a:pPr>
            <a:r>
              <a:rPr lang="pt-PT" sz="3600" dirty="0">
                <a:solidFill>
                  <a:schemeClr val="lt2"/>
                </a:solidFill>
              </a:rPr>
              <a:t>3 2</a:t>
            </a:r>
            <a:endParaRPr sz="3600" dirty="0">
              <a:solidFill>
                <a:schemeClr val="lt2"/>
              </a:solidFill>
            </a:endParaRPr>
          </a:p>
          <a:p>
            <a:pPr marL="742950" lvl="0" indent="-742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+mj-lt"/>
              <a:buAutoNum type="arabicPeriod"/>
            </a:pPr>
            <a:r>
              <a:rPr lang="pt-PT" sz="3600" dirty="0">
                <a:solidFill>
                  <a:schemeClr val="lt2"/>
                </a:solidFill>
              </a:rPr>
              <a:t>3 3</a:t>
            </a:r>
            <a:endParaRPr sz="3600" dirty="0">
              <a:solidFill>
                <a:schemeClr val="lt2"/>
              </a:solidFill>
            </a:endParaRPr>
          </a:p>
          <a:p>
            <a:pPr marL="742950" lvl="0" indent="-742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+mj-lt"/>
              <a:buAutoNum type="arabicPeriod"/>
            </a:pPr>
            <a:r>
              <a:rPr lang="pt-PT" sz="3600" dirty="0">
                <a:solidFill>
                  <a:schemeClr val="lt2"/>
                </a:solidFill>
              </a:rPr>
              <a:t>2 3</a:t>
            </a:r>
            <a:endParaRPr sz="3600" dirty="0">
              <a:solidFill>
                <a:schemeClr val="lt2"/>
              </a:solidFill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2" name="Google Shape;402;p8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72175"/>
            <a:ext cx="8839200" cy="19991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8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260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Given the following code fragment what is its Big-O running time?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400"/>
              <a:t>k = n</a:t>
            </a:r>
            <a:endParaRPr sz="24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400"/>
              <a:t>while k &gt; 0:</a:t>
            </a:r>
            <a:endParaRPr sz="24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400"/>
              <a:t>	j += 2</a:t>
            </a:r>
            <a:endParaRPr sz="24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400"/>
              <a:t>	k = k // 2</a:t>
            </a:r>
            <a:endParaRPr sz="24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8" name="Google Shape;408;p81"/>
          <p:cNvSpPr txBox="1">
            <a:spLocks noGrp="1"/>
          </p:cNvSpPr>
          <p:nvPr>
            <p:ph type="body" idx="1"/>
          </p:nvPr>
        </p:nvSpPr>
        <p:spPr>
          <a:xfrm>
            <a:off x="311700" y="2919725"/>
            <a:ext cx="8520600" cy="197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33400" lvl="0" indent="-457200" algn="l" rtl="0">
              <a:spcBef>
                <a:spcPts val="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/>
              <a:t>O(n^3)</a:t>
            </a:r>
            <a:endParaRPr sz="2400" dirty="0"/>
          </a:p>
          <a:p>
            <a:pPr marL="533400" lvl="0" indent="-457200" algn="l" rtl="0">
              <a:spcBef>
                <a:spcPts val="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/>
              <a:t>O(n)</a:t>
            </a:r>
            <a:endParaRPr sz="2400" dirty="0"/>
          </a:p>
          <a:p>
            <a:pPr marL="533400" lvl="0" indent="-457200" algn="l" rtl="0">
              <a:spcBef>
                <a:spcPts val="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/>
              <a:t>O(n^2)</a:t>
            </a:r>
            <a:endParaRPr sz="2400" dirty="0"/>
          </a:p>
          <a:p>
            <a:pPr marL="533400" lvl="0" indent="-457200" algn="l" rtl="0">
              <a:spcBef>
                <a:spcPts val="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/>
              <a:t>O(log n)</a:t>
            </a:r>
            <a:endParaRPr sz="24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3" name="Google Shape;413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19288" y="1143000"/>
            <a:ext cx="5305425" cy="285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p8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280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Given the following code fragment what is its Big-O running time?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400"/>
              <a:t>t = 0</a:t>
            </a:r>
            <a:endParaRPr sz="24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400"/>
              <a:t>for i in range(n):</a:t>
            </a:r>
            <a:endParaRPr sz="24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400"/>
              <a:t>	t += 1</a:t>
            </a:r>
            <a:endParaRPr sz="24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400"/>
              <a:t>for j in range(n):</a:t>
            </a:r>
            <a:endParaRPr sz="24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400"/>
              <a:t>	t -= 1</a:t>
            </a:r>
            <a:endParaRPr sz="24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9" name="Google Shape;419;p83"/>
          <p:cNvSpPr txBox="1">
            <a:spLocks noGrp="1"/>
          </p:cNvSpPr>
          <p:nvPr>
            <p:ph type="body" idx="1"/>
          </p:nvPr>
        </p:nvSpPr>
        <p:spPr>
          <a:xfrm>
            <a:off x="311700" y="3253625"/>
            <a:ext cx="8520600" cy="163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33400" lvl="0" indent="-457200" algn="l" rtl="0">
              <a:spcBef>
                <a:spcPts val="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/>
              <a:t>O(n^3)</a:t>
            </a:r>
            <a:endParaRPr sz="2400" dirty="0"/>
          </a:p>
          <a:p>
            <a:pPr marL="533400" lvl="0" indent="-457200" algn="l" rtl="0">
              <a:spcBef>
                <a:spcPts val="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/>
              <a:t>O(n^2)</a:t>
            </a:r>
            <a:endParaRPr sz="2400" dirty="0"/>
          </a:p>
          <a:p>
            <a:pPr marL="533400" lvl="0" indent="-457200" algn="l" rtl="0">
              <a:spcBef>
                <a:spcPts val="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/>
              <a:t>O(n log n)</a:t>
            </a:r>
            <a:endParaRPr sz="2400" dirty="0"/>
          </a:p>
          <a:p>
            <a:pPr marL="533400" lvl="0" indent="-457200" algn="l" rtl="0">
              <a:spcBef>
                <a:spcPts val="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/>
              <a:t>O(n)</a:t>
            </a:r>
            <a:endParaRPr sz="24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4" name="Google Shape;424;p8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839825"/>
            <a:ext cx="8839202" cy="34638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9" name="Google Shape;429;p8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2488" y="1252538"/>
            <a:ext cx="7439025" cy="2638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4" name="Google Shape;434;p8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04938" y="1276350"/>
            <a:ext cx="6334125" cy="2590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8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451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2400">
                <a:solidFill>
                  <a:srgbClr val="FFFFFF"/>
                </a:solidFill>
              </a:rPr>
              <a:t>Which of the following is the output of the below Python code fragment?</a:t>
            </a: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1800">
                <a:solidFill>
                  <a:srgbClr val="FFFFFF"/>
                </a:solidFill>
              </a:rPr>
              <a:t>counter = 1 </a:t>
            </a: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1800">
                <a:solidFill>
                  <a:srgbClr val="FFFFFF"/>
                </a:solidFill>
              </a:rPr>
              <a:t>def doLotsOfStuff():</a:t>
            </a:r>
            <a:endParaRPr sz="1800">
              <a:solidFill>
                <a:srgbClr val="FFFFFF"/>
              </a:solidFill>
            </a:endParaRPr>
          </a:p>
          <a:p>
            <a:pPr marL="0" lvl="0" indent="4572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1800">
                <a:solidFill>
                  <a:srgbClr val="FFFFFF"/>
                </a:solidFill>
              </a:rPr>
              <a:t>global counter</a:t>
            </a:r>
            <a:endParaRPr sz="1800">
              <a:solidFill>
                <a:srgbClr val="FFFFFF"/>
              </a:solidFill>
            </a:endParaRPr>
          </a:p>
          <a:p>
            <a:pPr marL="0" lvl="0" indent="4572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1800">
                <a:solidFill>
                  <a:srgbClr val="FFFFFF"/>
                </a:solidFill>
              </a:rPr>
              <a:t>for i in (1, 2, 3): </a:t>
            </a:r>
            <a:endParaRPr sz="1800">
              <a:solidFill>
                <a:srgbClr val="FFFFFF"/>
              </a:solidFill>
            </a:endParaRPr>
          </a:p>
          <a:p>
            <a:pPr marL="457200" lvl="0" indent="4572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1800">
                <a:solidFill>
                  <a:srgbClr val="FFFFFF"/>
                </a:solidFill>
              </a:rPr>
              <a:t> counter += 1</a:t>
            </a: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1800">
                <a:solidFill>
                  <a:srgbClr val="FFFFFF"/>
                </a:solidFill>
              </a:rPr>
              <a:t>doLotsOfStuff()</a:t>
            </a: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1800">
                <a:solidFill>
                  <a:srgbClr val="FFFFFF"/>
                </a:solidFill>
              </a:rPr>
              <a:t>print (counter)</a:t>
            </a: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800">
              <a:solidFill>
                <a:srgbClr val="FFFFFF"/>
              </a:solidFill>
            </a:endParaRPr>
          </a:p>
        </p:txBody>
      </p:sp>
      <p:sp>
        <p:nvSpPr>
          <p:cNvPr id="440" name="Google Shape;440;p87"/>
          <p:cNvSpPr txBox="1"/>
          <p:nvPr/>
        </p:nvSpPr>
        <p:spPr>
          <a:xfrm>
            <a:off x="3785125" y="1660700"/>
            <a:ext cx="4941600" cy="317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742950" lvl="0" indent="-742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+mj-lt"/>
              <a:buAutoNum type="arabicPeriod"/>
            </a:pPr>
            <a:r>
              <a:rPr lang="pt-PT" sz="3600" dirty="0">
                <a:solidFill>
                  <a:schemeClr val="lt2"/>
                </a:solidFill>
              </a:rPr>
              <a:t>3</a:t>
            </a:r>
            <a:endParaRPr sz="3600" dirty="0">
              <a:solidFill>
                <a:schemeClr val="lt2"/>
              </a:solidFill>
            </a:endParaRPr>
          </a:p>
          <a:p>
            <a:pPr marL="742950" lvl="0" indent="-742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+mj-lt"/>
              <a:buAutoNum type="arabicPeriod"/>
            </a:pPr>
            <a:r>
              <a:rPr lang="pt-PT" sz="3600" dirty="0">
                <a:solidFill>
                  <a:schemeClr val="lt2"/>
                </a:solidFill>
              </a:rPr>
              <a:t>7</a:t>
            </a:r>
            <a:endParaRPr sz="3600" dirty="0">
              <a:solidFill>
                <a:schemeClr val="lt2"/>
              </a:solidFill>
            </a:endParaRPr>
          </a:p>
          <a:p>
            <a:pPr marL="742950" lvl="0" indent="-742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+mj-lt"/>
              <a:buAutoNum type="arabicPeriod"/>
            </a:pPr>
            <a:r>
              <a:rPr lang="pt-PT" sz="3600" dirty="0">
                <a:solidFill>
                  <a:schemeClr val="lt2"/>
                </a:solidFill>
              </a:rPr>
              <a:t>1</a:t>
            </a:r>
            <a:endParaRPr sz="3600" dirty="0">
              <a:solidFill>
                <a:schemeClr val="lt2"/>
              </a:solidFill>
            </a:endParaRPr>
          </a:p>
          <a:p>
            <a:pPr marL="742950" lvl="0" indent="-742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+mj-lt"/>
              <a:buAutoNum type="arabicPeriod"/>
            </a:pPr>
            <a:r>
              <a:rPr lang="pt-PT" sz="3600" dirty="0">
                <a:solidFill>
                  <a:schemeClr val="lt2"/>
                </a:solidFill>
              </a:rPr>
              <a:t>4</a:t>
            </a:r>
            <a:endParaRPr sz="3600" dirty="0">
              <a:solidFill>
                <a:schemeClr val="lt2"/>
              </a:solidFill>
            </a:endParaRPr>
          </a:p>
          <a:p>
            <a:pPr marL="742950" lvl="0" indent="-742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+mj-lt"/>
              <a:buAutoNum type="arabicPeriod"/>
            </a:pPr>
            <a:r>
              <a:rPr lang="pt-PT" sz="3600" dirty="0" err="1">
                <a:solidFill>
                  <a:schemeClr val="lt2"/>
                </a:solidFill>
              </a:rPr>
              <a:t>None</a:t>
            </a:r>
            <a:endParaRPr sz="3600" dirty="0">
              <a:solidFill>
                <a:schemeClr val="lt2"/>
              </a:solidFill>
            </a:endParaRP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5" name="Google Shape;445;p8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95513" y="1119188"/>
            <a:ext cx="4752975" cy="2905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0" name="Google Shape;450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14575" y="1162050"/>
            <a:ext cx="4514850" cy="2819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5" name="Google Shape;455;p9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12363"/>
            <a:ext cx="8839200" cy="291877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91"/>
          <p:cNvSpPr txBox="1">
            <a:spLocks noGrp="1"/>
          </p:cNvSpPr>
          <p:nvPr>
            <p:ph type="title"/>
          </p:nvPr>
        </p:nvSpPr>
        <p:spPr>
          <a:xfrm>
            <a:off x="311700" y="110125"/>
            <a:ext cx="8520600" cy="492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2400">
                <a:solidFill>
                  <a:srgbClr val="FFFFFF"/>
                </a:solidFill>
              </a:rPr>
              <a:t>Which of the following is the output of the below Python code fragment?</a:t>
            </a: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1800">
                <a:solidFill>
                  <a:srgbClr val="FFFFFF"/>
                </a:solidFill>
              </a:rPr>
              <a:t>myList = [1, 5, 5, 5, 5, 1]</a:t>
            </a: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1800">
                <a:solidFill>
                  <a:srgbClr val="FFFFFF"/>
                </a:solidFill>
              </a:rPr>
              <a:t>max = myList[0]</a:t>
            </a: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1800">
                <a:solidFill>
                  <a:srgbClr val="FFFFFF"/>
                </a:solidFill>
              </a:rPr>
              <a:t>indexOfMax = 0</a:t>
            </a: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1800">
                <a:solidFill>
                  <a:srgbClr val="FFFFFF"/>
                </a:solidFill>
              </a:rPr>
              <a:t>for i in range(1, len(myList)):</a:t>
            </a:r>
            <a:endParaRPr sz="1800">
              <a:solidFill>
                <a:srgbClr val="FFFFFF"/>
              </a:solidFill>
            </a:endParaRPr>
          </a:p>
          <a:p>
            <a:pPr marL="0" lvl="0" indent="4572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1800">
                <a:solidFill>
                  <a:srgbClr val="FFFFFF"/>
                </a:solidFill>
              </a:rPr>
              <a:t>if myList[i] &gt; max:</a:t>
            </a: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1800">
                <a:solidFill>
                  <a:srgbClr val="FFFFFF"/>
                </a:solidFill>
              </a:rPr>
              <a:t>        	max = myList[i]</a:t>
            </a: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1800">
                <a:solidFill>
                  <a:srgbClr val="FFFFFF"/>
                </a:solidFill>
              </a:rPr>
              <a:t>        	indexOfMax = i</a:t>
            </a: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1800">
                <a:solidFill>
                  <a:srgbClr val="FFFFFF"/>
                </a:solidFill>
              </a:rPr>
              <a:t>print(indexOfMax)</a:t>
            </a: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800">
              <a:solidFill>
                <a:srgbClr val="FFFFFF"/>
              </a:solidFill>
            </a:endParaRPr>
          </a:p>
        </p:txBody>
      </p:sp>
      <p:sp>
        <p:nvSpPr>
          <p:cNvPr id="461" name="Google Shape;461;p91"/>
          <p:cNvSpPr txBox="1"/>
          <p:nvPr/>
        </p:nvSpPr>
        <p:spPr>
          <a:xfrm>
            <a:off x="3785125" y="1660700"/>
            <a:ext cx="4941600" cy="317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742950" lvl="0" indent="-742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+mj-lt"/>
              <a:buAutoNum type="arabicPeriod"/>
            </a:pPr>
            <a:r>
              <a:rPr lang="pt-PT" sz="3600" dirty="0">
                <a:solidFill>
                  <a:schemeClr val="lt2"/>
                </a:solidFill>
              </a:rPr>
              <a:t>1</a:t>
            </a:r>
            <a:endParaRPr sz="3600" dirty="0">
              <a:solidFill>
                <a:schemeClr val="lt2"/>
              </a:solidFill>
            </a:endParaRPr>
          </a:p>
          <a:p>
            <a:pPr marL="742950" lvl="0" indent="-742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+mj-lt"/>
              <a:buAutoNum type="arabicPeriod"/>
            </a:pPr>
            <a:r>
              <a:rPr lang="pt-PT" sz="3600" dirty="0">
                <a:solidFill>
                  <a:schemeClr val="lt2"/>
                </a:solidFill>
              </a:rPr>
              <a:t>0</a:t>
            </a:r>
            <a:endParaRPr sz="3600" dirty="0">
              <a:solidFill>
                <a:schemeClr val="lt2"/>
              </a:solidFill>
            </a:endParaRPr>
          </a:p>
          <a:p>
            <a:pPr marL="742950" lvl="0" indent="-742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+mj-lt"/>
              <a:buAutoNum type="arabicPeriod"/>
            </a:pPr>
            <a:r>
              <a:rPr lang="pt-PT" sz="3600" dirty="0">
                <a:solidFill>
                  <a:schemeClr val="lt2"/>
                </a:solidFill>
              </a:rPr>
              <a:t>3</a:t>
            </a:r>
            <a:endParaRPr sz="3600" dirty="0">
              <a:solidFill>
                <a:schemeClr val="lt2"/>
              </a:solidFill>
            </a:endParaRPr>
          </a:p>
          <a:p>
            <a:pPr marL="742950" lvl="0" indent="-742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+mj-lt"/>
              <a:buAutoNum type="arabicPeriod"/>
            </a:pPr>
            <a:r>
              <a:rPr lang="pt-PT" sz="3600" dirty="0">
                <a:solidFill>
                  <a:schemeClr val="lt2"/>
                </a:solidFill>
              </a:rPr>
              <a:t>2</a:t>
            </a:r>
            <a:endParaRPr sz="3600" dirty="0">
              <a:solidFill>
                <a:schemeClr val="lt2"/>
              </a:solidFill>
            </a:endParaRPr>
          </a:p>
          <a:p>
            <a:pPr marL="742950" lvl="0" indent="-742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+mj-lt"/>
              <a:buAutoNum type="arabicPeriod"/>
            </a:pPr>
            <a:r>
              <a:rPr lang="pt-PT" sz="3600" dirty="0">
                <a:solidFill>
                  <a:schemeClr val="lt2"/>
                </a:solidFill>
              </a:rPr>
              <a:t>4</a:t>
            </a:r>
            <a:endParaRPr sz="3600" dirty="0">
              <a:solidFill>
                <a:schemeClr val="lt2"/>
              </a:solidFill>
            </a:endParaRP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6" name="Google Shape;466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06750" y="152400"/>
            <a:ext cx="6530491" cy="4838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1" name="Google Shape;471;p9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28850" y="1152525"/>
            <a:ext cx="4686300" cy="2838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6" name="Google Shape;476;p9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95525" y="1171575"/>
            <a:ext cx="4552950" cy="2800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1" name="Google Shape;481;p9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625650"/>
            <a:ext cx="8839199" cy="18922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6" name="Google Shape;486;p9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352688"/>
            <a:ext cx="8839202" cy="24381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1" name="Google Shape;491;p9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95500" y="852488"/>
            <a:ext cx="4953000" cy="3438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6" name="Google Shape;496;p9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4338" y="1138238"/>
            <a:ext cx="8315325" cy="2867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1" name="Google Shape;501;p9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76313" y="1547813"/>
            <a:ext cx="7191375" cy="2047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6" name="Google Shape;506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47938" y="1133475"/>
            <a:ext cx="4048125" cy="2876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10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212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2400" b="1">
                <a:solidFill>
                  <a:srgbClr val="FFFFFF"/>
                </a:solidFill>
              </a:rPr>
              <a:t>Which of the following is the output of the following Python code?</a:t>
            </a:r>
            <a:endParaRPr sz="2400" b="1"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1800">
                <a:solidFill>
                  <a:srgbClr val="FFFFFF"/>
                </a:solidFill>
              </a:rPr>
              <a:t>d = {"python":40, "developer":45}</a:t>
            </a: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800">
                <a:solidFill>
                  <a:srgbClr val="FFFFFF"/>
                </a:solidFill>
              </a:rPr>
              <a:t>print(list(d.keys()))</a:t>
            </a: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2" name="Google Shape;512;p101"/>
          <p:cNvSpPr txBox="1">
            <a:spLocks noGrp="1"/>
          </p:cNvSpPr>
          <p:nvPr>
            <p:ph type="body" idx="1"/>
          </p:nvPr>
        </p:nvSpPr>
        <p:spPr>
          <a:xfrm>
            <a:off x="311700" y="2442225"/>
            <a:ext cx="8520600" cy="212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["python":40, "developer":45] 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["</a:t>
            </a:r>
            <a:r>
              <a:rPr lang="pt-PT" sz="3600" dirty="0" err="1"/>
              <a:t>python</a:t>
            </a:r>
            <a:r>
              <a:rPr lang="pt-PT" sz="3600" dirty="0"/>
              <a:t>", "</a:t>
            </a:r>
            <a:r>
              <a:rPr lang="pt-PT" sz="3600" dirty="0" err="1"/>
              <a:t>developer</a:t>
            </a:r>
            <a:r>
              <a:rPr lang="pt-PT" sz="3600" dirty="0"/>
              <a:t>"] 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("</a:t>
            </a:r>
            <a:r>
              <a:rPr lang="pt-PT" sz="3600" dirty="0" err="1"/>
              <a:t>python</a:t>
            </a:r>
            <a:r>
              <a:rPr lang="pt-PT" sz="3600" dirty="0"/>
              <a:t>", "</a:t>
            </a:r>
            <a:r>
              <a:rPr lang="pt-PT" sz="3600" dirty="0" err="1"/>
              <a:t>developer</a:t>
            </a:r>
            <a:r>
              <a:rPr lang="pt-PT" sz="3600" dirty="0"/>
              <a:t>") 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("python":40, "developer":45) </a:t>
            </a:r>
            <a:endParaRPr sz="36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7" name="Google Shape;517;p10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42288" y="152400"/>
            <a:ext cx="6059433" cy="4838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2" name="Google Shape;522;p10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95488" y="1062038"/>
            <a:ext cx="5153025" cy="3019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7" name="Google Shape;527;p10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9575" y="1214438"/>
            <a:ext cx="8324850" cy="2714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2" name="Google Shape;532;p10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76450" y="1228725"/>
            <a:ext cx="4991100" cy="2686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7" name="Google Shape;537;p10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14550" y="1100138"/>
            <a:ext cx="4914900" cy="294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2" name="Google Shape;542;p10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14425" y="1171575"/>
            <a:ext cx="6915150" cy="2800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7" name="Google Shape;547;p10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90600" y="1100138"/>
            <a:ext cx="7162800" cy="294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2" name="Google Shape;552;p10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04913" y="1381125"/>
            <a:ext cx="6734175" cy="2381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Google Shape;557;p110"/>
          <p:cNvSpPr txBox="1">
            <a:spLocks noGrp="1"/>
          </p:cNvSpPr>
          <p:nvPr>
            <p:ph type="title"/>
          </p:nvPr>
        </p:nvSpPr>
        <p:spPr>
          <a:xfrm>
            <a:off x="311700" y="110125"/>
            <a:ext cx="8520600" cy="492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2400">
                <a:solidFill>
                  <a:srgbClr val="FFFFFF"/>
                </a:solidFill>
              </a:rPr>
              <a:t>Which of the following is the output of the below Python code fragment?</a:t>
            </a: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1800">
                <a:solidFill>
                  <a:srgbClr val="FFFFFF"/>
                </a:solidFill>
              </a:rPr>
              <a:t>x = 2</a:t>
            </a: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1800">
                <a:solidFill>
                  <a:srgbClr val="FFFFFF"/>
                </a:solidFill>
              </a:rPr>
              <a:t>y = 1</a:t>
            </a: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1800">
                <a:solidFill>
                  <a:srgbClr val="FFFFFF"/>
                </a:solidFill>
              </a:rPr>
              <a:t>x *= y + 1</a:t>
            </a: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1800">
                <a:solidFill>
                  <a:srgbClr val="FFFFFF"/>
                </a:solidFill>
              </a:rPr>
              <a:t>print(x)</a:t>
            </a: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800">
              <a:solidFill>
                <a:srgbClr val="FFFFFF"/>
              </a:solidFill>
            </a:endParaRPr>
          </a:p>
        </p:txBody>
      </p:sp>
      <p:sp>
        <p:nvSpPr>
          <p:cNvPr id="558" name="Google Shape;558;p110"/>
          <p:cNvSpPr txBox="1"/>
          <p:nvPr/>
        </p:nvSpPr>
        <p:spPr>
          <a:xfrm>
            <a:off x="3890700" y="1573500"/>
            <a:ext cx="4941600" cy="317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742950" lvl="0" indent="-742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+mj-lt"/>
              <a:buAutoNum type="arabicPeriod"/>
            </a:pPr>
            <a:r>
              <a:rPr lang="pt-PT" sz="3600" dirty="0">
                <a:solidFill>
                  <a:schemeClr val="lt2"/>
                </a:solidFill>
              </a:rPr>
              <a:t>x </a:t>
            </a:r>
            <a:r>
              <a:rPr lang="pt-PT" sz="3600" dirty="0" err="1">
                <a:solidFill>
                  <a:schemeClr val="lt2"/>
                </a:solidFill>
              </a:rPr>
              <a:t>is</a:t>
            </a:r>
            <a:r>
              <a:rPr lang="pt-PT" sz="3600" dirty="0">
                <a:solidFill>
                  <a:schemeClr val="lt2"/>
                </a:solidFill>
              </a:rPr>
              <a:t> 2</a:t>
            </a:r>
            <a:endParaRPr sz="3600" dirty="0">
              <a:solidFill>
                <a:schemeClr val="lt2"/>
              </a:solidFill>
            </a:endParaRPr>
          </a:p>
          <a:p>
            <a:pPr marL="742950" lvl="0" indent="-742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+mj-lt"/>
              <a:buAutoNum type="arabicPeriod"/>
            </a:pPr>
            <a:r>
              <a:rPr lang="pt-PT" sz="3600" dirty="0">
                <a:solidFill>
                  <a:schemeClr val="lt2"/>
                </a:solidFill>
              </a:rPr>
              <a:t>x </a:t>
            </a:r>
            <a:r>
              <a:rPr lang="pt-PT" sz="3600" dirty="0" err="1">
                <a:solidFill>
                  <a:schemeClr val="lt2"/>
                </a:solidFill>
              </a:rPr>
              <a:t>is</a:t>
            </a:r>
            <a:r>
              <a:rPr lang="pt-PT" sz="3600" dirty="0">
                <a:solidFill>
                  <a:schemeClr val="lt2"/>
                </a:solidFill>
              </a:rPr>
              <a:t> 3</a:t>
            </a:r>
            <a:endParaRPr sz="3600" dirty="0">
              <a:solidFill>
                <a:schemeClr val="lt2"/>
              </a:solidFill>
            </a:endParaRPr>
          </a:p>
          <a:p>
            <a:pPr marL="742950" lvl="0" indent="-742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+mj-lt"/>
              <a:buAutoNum type="arabicPeriod"/>
            </a:pPr>
            <a:r>
              <a:rPr lang="pt-PT" sz="3600" dirty="0">
                <a:solidFill>
                  <a:schemeClr val="lt2"/>
                </a:solidFill>
              </a:rPr>
              <a:t>x </a:t>
            </a:r>
            <a:r>
              <a:rPr lang="pt-PT" sz="3600" dirty="0" err="1">
                <a:solidFill>
                  <a:schemeClr val="lt2"/>
                </a:solidFill>
              </a:rPr>
              <a:t>is</a:t>
            </a:r>
            <a:r>
              <a:rPr lang="pt-PT" sz="3600" dirty="0">
                <a:solidFill>
                  <a:schemeClr val="lt2"/>
                </a:solidFill>
              </a:rPr>
              <a:t> 1</a:t>
            </a:r>
            <a:endParaRPr sz="3600" dirty="0">
              <a:solidFill>
                <a:schemeClr val="lt2"/>
              </a:solidFill>
            </a:endParaRPr>
          </a:p>
          <a:p>
            <a:pPr marL="742950" lvl="0" indent="-742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+mj-lt"/>
              <a:buAutoNum type="arabicPeriod"/>
            </a:pPr>
            <a:r>
              <a:rPr lang="pt-PT" sz="3600" dirty="0" err="1">
                <a:solidFill>
                  <a:schemeClr val="lt2"/>
                </a:solidFill>
              </a:rPr>
              <a:t>None</a:t>
            </a:r>
            <a:endParaRPr sz="3600" dirty="0">
              <a:solidFill>
                <a:schemeClr val="lt2"/>
              </a:solidFill>
            </a:endParaRPr>
          </a:p>
          <a:p>
            <a:pPr marL="742950" lvl="0" indent="-742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+mj-lt"/>
              <a:buAutoNum type="arabicPeriod"/>
            </a:pPr>
            <a:r>
              <a:rPr lang="pt-PT" sz="3600" dirty="0">
                <a:solidFill>
                  <a:schemeClr val="lt2"/>
                </a:solidFill>
              </a:rPr>
              <a:t>x </a:t>
            </a:r>
            <a:r>
              <a:rPr lang="pt-PT" sz="3600" dirty="0" err="1">
                <a:solidFill>
                  <a:schemeClr val="lt2"/>
                </a:solidFill>
              </a:rPr>
              <a:t>is</a:t>
            </a:r>
            <a:r>
              <a:rPr lang="pt-PT" sz="3600" dirty="0">
                <a:solidFill>
                  <a:schemeClr val="lt2"/>
                </a:solidFill>
              </a:rPr>
              <a:t> 4</a:t>
            </a:r>
            <a:endParaRPr sz="3600" dirty="0">
              <a:solidFill>
                <a:schemeClr val="lt2"/>
              </a:solidFill>
            </a:endParaRP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3" name="Google Shape;563;p1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43038" y="595313"/>
            <a:ext cx="6257925" cy="3952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8" name="Google Shape;568;p1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02063"/>
            <a:ext cx="8839201" cy="21393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3" name="Google Shape;573;p1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76338" y="1204913"/>
            <a:ext cx="6791325" cy="2733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8" name="Google Shape;578;p1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471338"/>
            <a:ext cx="8839201" cy="22008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3" name="Google Shape;583;p1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227775"/>
            <a:ext cx="8839200" cy="2687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8" name="Google Shape;588;p1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2950" y="1081088"/>
            <a:ext cx="7658100" cy="2981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3" name="Google Shape;593;p1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1938" y="695325"/>
            <a:ext cx="8620125" cy="3752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598;p1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212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2400" b="1">
                <a:solidFill>
                  <a:srgbClr val="FFFFFF"/>
                </a:solidFill>
              </a:rPr>
              <a:t>Which of the following is the output of the following Python code?</a:t>
            </a:r>
            <a:endParaRPr sz="2400" b="1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1800">
                <a:solidFill>
                  <a:srgbClr val="FFFFFF"/>
                </a:solidFill>
              </a:rPr>
              <a:t>Nums = set ([1,1,2,3,3,3,4])</a:t>
            </a: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800">
                <a:solidFill>
                  <a:srgbClr val="FFFFFF"/>
                </a:solidFill>
              </a:rPr>
              <a:t>print (len(Nums))</a:t>
            </a: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9" name="Google Shape;599;p118"/>
          <p:cNvSpPr txBox="1">
            <a:spLocks noGrp="1"/>
          </p:cNvSpPr>
          <p:nvPr>
            <p:ph type="body" idx="1"/>
          </p:nvPr>
        </p:nvSpPr>
        <p:spPr>
          <a:xfrm>
            <a:off x="4572000" y="1501300"/>
            <a:ext cx="4018200" cy="318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4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5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1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7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2 </a:t>
            </a:r>
            <a:endParaRPr sz="36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4" name="Google Shape;604;p1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389350"/>
            <a:ext cx="8839203" cy="23648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9" name="Google Shape;609;p1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05075" y="995363"/>
            <a:ext cx="4133850" cy="3152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" name="Google Shape;614;p1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49363"/>
            <a:ext cx="8839202" cy="20447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9" name="Google Shape;619;p1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43088" y="871538"/>
            <a:ext cx="5457825" cy="3400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p123"/>
          <p:cNvSpPr txBox="1">
            <a:spLocks noGrp="1"/>
          </p:cNvSpPr>
          <p:nvPr>
            <p:ph type="title"/>
          </p:nvPr>
        </p:nvSpPr>
        <p:spPr>
          <a:xfrm>
            <a:off x="311700" y="110125"/>
            <a:ext cx="8520600" cy="492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2400">
                <a:solidFill>
                  <a:srgbClr val="FFFFFF"/>
                </a:solidFill>
              </a:rPr>
              <a:t>Which of the following is the output of the below Python code fragment?</a:t>
            </a: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1800">
                <a:solidFill>
                  <a:srgbClr val="FFFFFF"/>
                </a:solidFill>
              </a:rPr>
              <a:t>list1 = [1, 3]</a:t>
            </a: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1800">
                <a:solidFill>
                  <a:srgbClr val="FFFFFF"/>
                </a:solidFill>
              </a:rPr>
              <a:t>list2 = list1</a:t>
            </a: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1800">
                <a:solidFill>
                  <a:srgbClr val="FFFFFF"/>
                </a:solidFill>
              </a:rPr>
              <a:t>list1[0] = 4</a:t>
            </a: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1800">
                <a:solidFill>
                  <a:srgbClr val="FFFFFF"/>
                </a:solidFill>
              </a:rPr>
              <a:t>print(list2)</a:t>
            </a: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800">
              <a:solidFill>
                <a:srgbClr val="FFFFFF"/>
              </a:solidFill>
            </a:endParaRPr>
          </a:p>
        </p:txBody>
      </p:sp>
      <p:sp>
        <p:nvSpPr>
          <p:cNvPr id="625" name="Google Shape;625;p123"/>
          <p:cNvSpPr txBox="1"/>
          <p:nvPr/>
        </p:nvSpPr>
        <p:spPr>
          <a:xfrm>
            <a:off x="3890700" y="1573500"/>
            <a:ext cx="4941600" cy="317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742950" lvl="0" indent="-742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+mj-lt"/>
              <a:buAutoNum type="arabicPeriod"/>
            </a:pPr>
            <a:r>
              <a:rPr lang="pt-PT" sz="3600" dirty="0">
                <a:solidFill>
                  <a:schemeClr val="lt2"/>
                </a:solidFill>
              </a:rPr>
              <a:t>[1, 3]</a:t>
            </a:r>
            <a:endParaRPr sz="3600" dirty="0">
              <a:solidFill>
                <a:schemeClr val="lt2"/>
              </a:solidFill>
            </a:endParaRPr>
          </a:p>
          <a:p>
            <a:pPr marL="742950" lvl="0" indent="-742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+mj-lt"/>
              <a:buAutoNum type="arabicPeriod"/>
            </a:pPr>
            <a:r>
              <a:rPr lang="pt-PT" sz="3600" dirty="0">
                <a:solidFill>
                  <a:schemeClr val="lt2"/>
                </a:solidFill>
              </a:rPr>
              <a:t>[1, 3, 4]</a:t>
            </a:r>
            <a:endParaRPr sz="3600" dirty="0">
              <a:solidFill>
                <a:schemeClr val="lt2"/>
              </a:solidFill>
            </a:endParaRPr>
          </a:p>
          <a:p>
            <a:pPr marL="742950" lvl="0" indent="-742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+mj-lt"/>
              <a:buAutoNum type="arabicPeriod"/>
            </a:pPr>
            <a:r>
              <a:rPr lang="pt-PT" sz="3600" dirty="0">
                <a:solidFill>
                  <a:schemeClr val="lt2"/>
                </a:solidFill>
              </a:rPr>
              <a:t>[4, 3]</a:t>
            </a:r>
            <a:endParaRPr sz="3600" dirty="0">
              <a:solidFill>
                <a:schemeClr val="lt2"/>
              </a:solidFill>
            </a:endParaRPr>
          </a:p>
          <a:p>
            <a:pPr marL="742950" lvl="0" indent="-7429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+mj-lt"/>
              <a:buAutoNum type="arabicPeriod"/>
            </a:pPr>
            <a:r>
              <a:rPr lang="pt-PT" sz="3600" dirty="0">
                <a:solidFill>
                  <a:schemeClr val="lt2"/>
                </a:solidFill>
              </a:rPr>
              <a:t>[1, 4]</a:t>
            </a:r>
            <a:endParaRPr sz="3600" dirty="0">
              <a:solidFill>
                <a:schemeClr val="lt2"/>
              </a:solidFill>
            </a:endParaRP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0" name="Google Shape;630;p1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394713"/>
            <a:ext cx="8839201" cy="235408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5" name="Google Shape;635;p1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9100" y="1066800"/>
            <a:ext cx="8305800" cy="3009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0" name="Google Shape;640;p1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47850" y="866775"/>
            <a:ext cx="5448300" cy="3409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5" name="Google Shape;645;p1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85863" y="833438"/>
            <a:ext cx="6772275" cy="3476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0" name="Google Shape;650;p1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8163" y="742950"/>
            <a:ext cx="8067675" cy="365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5" name="Google Shape;655;p1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768450"/>
            <a:ext cx="8839201" cy="36066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0" name="Google Shape;660;p1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81088" y="576263"/>
            <a:ext cx="6981825" cy="399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5" name="Google Shape;665;p1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33463" y="1376363"/>
            <a:ext cx="7077075" cy="2390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0" name="Google Shape;670;p1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5775" y="728663"/>
            <a:ext cx="8172450" cy="3686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5" name="Google Shape;675;p1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95463" y="1243013"/>
            <a:ext cx="5553075" cy="2657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0" name="Google Shape;680;p1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465050"/>
            <a:ext cx="8839201" cy="221339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Google Shape;685;p13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212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2400" b="1">
                <a:solidFill>
                  <a:srgbClr val="FFFFFF"/>
                </a:solidFill>
              </a:rPr>
              <a:t>Which of the following is the output of the following Python code?</a:t>
            </a:r>
            <a:endParaRPr sz="2400" b="1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1800">
                <a:solidFill>
                  <a:srgbClr val="FFFFFF"/>
                </a:solidFill>
              </a:rPr>
              <a:t>def factorial(n):</a:t>
            </a: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PT" sz="1800">
                <a:solidFill>
                  <a:srgbClr val="FFFFFF"/>
                </a:solidFill>
              </a:rPr>
              <a:t>      return n * factorial(n - 1)</a:t>
            </a: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6" name="Google Shape;686;p135"/>
          <p:cNvSpPr txBox="1">
            <a:spLocks noGrp="1"/>
          </p:cNvSpPr>
          <p:nvPr>
            <p:ph type="body" idx="1"/>
          </p:nvPr>
        </p:nvSpPr>
        <p:spPr>
          <a:xfrm>
            <a:off x="311700" y="2312800"/>
            <a:ext cx="8520600" cy="272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 err="1"/>
              <a:t>Invoking</a:t>
            </a:r>
            <a:r>
              <a:rPr lang="pt-PT" sz="3600" dirty="0"/>
              <a:t> </a:t>
            </a:r>
            <a:r>
              <a:rPr lang="pt-PT" sz="3600" dirty="0" err="1"/>
              <a:t>factorial</a:t>
            </a:r>
            <a:r>
              <a:rPr lang="pt-PT" sz="3600" dirty="0"/>
              <a:t>(1) </a:t>
            </a:r>
            <a:r>
              <a:rPr lang="pt-PT" sz="3600" dirty="0" err="1"/>
              <a:t>returns</a:t>
            </a:r>
            <a:r>
              <a:rPr lang="pt-PT" sz="3600" dirty="0"/>
              <a:t> 1. 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 err="1"/>
              <a:t>Invoking</a:t>
            </a:r>
            <a:r>
              <a:rPr lang="pt-PT" sz="3600" dirty="0"/>
              <a:t> </a:t>
            </a:r>
            <a:r>
              <a:rPr lang="pt-PT" sz="3600" dirty="0" err="1"/>
              <a:t>factorial</a:t>
            </a:r>
            <a:r>
              <a:rPr lang="pt-PT" sz="3600" dirty="0"/>
              <a:t>(2) </a:t>
            </a:r>
            <a:r>
              <a:rPr lang="pt-PT" sz="3600" dirty="0" err="1"/>
              <a:t>returns</a:t>
            </a:r>
            <a:r>
              <a:rPr lang="pt-PT" sz="3600" dirty="0"/>
              <a:t> 2. 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 err="1"/>
              <a:t>Invoking</a:t>
            </a:r>
            <a:r>
              <a:rPr lang="pt-PT" sz="3600" dirty="0"/>
              <a:t> </a:t>
            </a:r>
            <a:r>
              <a:rPr lang="pt-PT" sz="3600" dirty="0" err="1"/>
              <a:t>factorial</a:t>
            </a:r>
            <a:r>
              <a:rPr lang="pt-PT" sz="3600" dirty="0"/>
              <a:t>(0) </a:t>
            </a:r>
            <a:r>
              <a:rPr lang="pt-PT" sz="3600" dirty="0" err="1"/>
              <a:t>returns</a:t>
            </a:r>
            <a:r>
              <a:rPr lang="pt-PT" sz="3600" dirty="0"/>
              <a:t> 0. 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 err="1"/>
              <a:t>The</a:t>
            </a:r>
            <a:r>
              <a:rPr lang="pt-PT" sz="3600" dirty="0"/>
              <a:t> </a:t>
            </a:r>
            <a:r>
              <a:rPr lang="pt-PT" sz="3600" dirty="0" err="1"/>
              <a:t>function</a:t>
            </a:r>
            <a:r>
              <a:rPr lang="pt-PT" sz="3600" dirty="0"/>
              <a:t> runs </a:t>
            </a:r>
            <a:r>
              <a:rPr lang="pt-PT" sz="3600" dirty="0" err="1"/>
              <a:t>infinitely</a:t>
            </a:r>
            <a:r>
              <a:rPr lang="pt-PT" sz="3600" dirty="0"/>
              <a:t>.  </a:t>
            </a:r>
            <a:endParaRPr sz="3600" dirty="0"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p13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212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/>
              <a:t>What is output for </a:t>
            </a:r>
            <a:endParaRPr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/>
              <a:t>a = ['he', 'she', 'we']</a:t>
            </a:r>
            <a:endParaRPr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/>
              <a:t>' '.join(a)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2" name="Google Shape;692;p136"/>
          <p:cNvSpPr txBox="1">
            <a:spLocks noGrp="1"/>
          </p:cNvSpPr>
          <p:nvPr>
            <p:ph type="body" idx="1"/>
          </p:nvPr>
        </p:nvSpPr>
        <p:spPr>
          <a:xfrm>
            <a:off x="311700" y="2919725"/>
            <a:ext cx="8520600" cy="197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33400" lvl="0" indent="-457200" algn="l" rtl="0">
              <a:spcBef>
                <a:spcPts val="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/>
              <a:t>[‘</a:t>
            </a:r>
            <a:r>
              <a:rPr lang="pt-PT" sz="2400" dirty="0" err="1"/>
              <a:t>heshewe</a:t>
            </a:r>
            <a:r>
              <a:rPr lang="pt-PT" sz="2400" dirty="0"/>
              <a:t>’]</a:t>
            </a:r>
            <a:endParaRPr sz="2400" dirty="0"/>
          </a:p>
          <a:p>
            <a:pPr marL="533400" lvl="0" indent="-457200" algn="l" rtl="0">
              <a:spcBef>
                <a:spcPts val="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/>
              <a:t>‘</a:t>
            </a:r>
            <a:r>
              <a:rPr lang="pt-PT" sz="2400" dirty="0" err="1"/>
              <a:t>heshewe</a:t>
            </a:r>
            <a:r>
              <a:rPr lang="pt-PT" sz="2400" dirty="0"/>
              <a:t>’</a:t>
            </a:r>
            <a:endParaRPr sz="2400" dirty="0"/>
          </a:p>
          <a:p>
            <a:pPr marL="533400" lvl="0" indent="-457200" algn="l" rtl="0">
              <a:spcBef>
                <a:spcPts val="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/>
              <a:t>[‘</a:t>
            </a:r>
            <a:r>
              <a:rPr lang="pt-PT" sz="2400" dirty="0" err="1"/>
              <a:t>he</a:t>
            </a:r>
            <a:r>
              <a:rPr lang="pt-PT" sz="2400" dirty="0"/>
              <a:t> </a:t>
            </a:r>
            <a:r>
              <a:rPr lang="pt-PT" sz="2400" dirty="0" err="1"/>
              <a:t>she</a:t>
            </a:r>
            <a:r>
              <a:rPr lang="pt-PT" sz="2400" dirty="0"/>
              <a:t> </a:t>
            </a:r>
            <a:r>
              <a:rPr lang="pt-PT" sz="2400" dirty="0" err="1"/>
              <a:t>we</a:t>
            </a:r>
            <a:r>
              <a:rPr lang="pt-PT" sz="2400" dirty="0"/>
              <a:t>’]</a:t>
            </a:r>
            <a:endParaRPr sz="2400" dirty="0"/>
          </a:p>
          <a:p>
            <a:pPr marL="533400" lvl="0" indent="-457200" algn="l" rtl="0">
              <a:spcBef>
                <a:spcPts val="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/>
              <a:t>‘</a:t>
            </a:r>
            <a:r>
              <a:rPr lang="pt-PT" sz="2400" dirty="0" err="1"/>
              <a:t>he</a:t>
            </a:r>
            <a:r>
              <a:rPr lang="pt-PT" sz="2400" dirty="0"/>
              <a:t> </a:t>
            </a:r>
            <a:r>
              <a:rPr lang="pt-PT" sz="2400" dirty="0" err="1"/>
              <a:t>she</a:t>
            </a:r>
            <a:r>
              <a:rPr lang="pt-PT" sz="2400" dirty="0"/>
              <a:t> </a:t>
            </a:r>
            <a:r>
              <a:rPr lang="pt-PT" sz="2400" dirty="0" err="1"/>
              <a:t>we</a:t>
            </a:r>
            <a:r>
              <a:rPr lang="pt-PT" sz="2400" dirty="0"/>
              <a:t>´</a:t>
            </a:r>
            <a:endParaRPr sz="2400" dirty="0"/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Google Shape;697;p13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212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/>
              <a:t>What is output for </a:t>
            </a:r>
            <a:endParaRPr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/>
              <a:t>b = [11,13,15,17,19,21]</a:t>
            </a:r>
            <a:endParaRPr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/>
              <a:t>print(b[::2])</a:t>
            </a:r>
            <a:endParaRPr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8" name="Google Shape;698;p137"/>
          <p:cNvSpPr txBox="1">
            <a:spLocks noGrp="1"/>
          </p:cNvSpPr>
          <p:nvPr>
            <p:ph type="body" idx="1"/>
          </p:nvPr>
        </p:nvSpPr>
        <p:spPr>
          <a:xfrm>
            <a:off x="311700" y="2919725"/>
            <a:ext cx="8520600" cy="197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33400" lvl="0" indent="-457200" algn="l" rtl="0">
              <a:spcBef>
                <a:spcPts val="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/>
              <a:t>[19, 21]</a:t>
            </a:r>
            <a:endParaRPr sz="2400" dirty="0"/>
          </a:p>
          <a:p>
            <a:pPr marL="533400" lvl="0" indent="-457200" algn="l" rtl="0">
              <a:spcBef>
                <a:spcPts val="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/>
              <a:t>[11, 15]</a:t>
            </a:r>
            <a:endParaRPr sz="2400" dirty="0"/>
          </a:p>
          <a:p>
            <a:pPr marL="533400" lvl="0" indent="-457200" algn="l" rtl="0">
              <a:spcBef>
                <a:spcPts val="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/>
              <a:t>[11, 15, 19]</a:t>
            </a:r>
            <a:endParaRPr sz="2400" dirty="0"/>
          </a:p>
          <a:p>
            <a:pPr marL="533400" lvl="0" indent="-457200" algn="l" rtl="0">
              <a:spcBef>
                <a:spcPts val="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/>
              <a:t>[13, 17, 21]</a:t>
            </a:r>
            <a:endParaRPr sz="2400" dirty="0"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38"/>
          <p:cNvSpPr txBox="1">
            <a:spLocks noGrp="1"/>
          </p:cNvSpPr>
          <p:nvPr>
            <p:ph type="title"/>
          </p:nvPr>
        </p:nvSpPr>
        <p:spPr>
          <a:xfrm>
            <a:off x="311700" y="445050"/>
            <a:ext cx="8520600" cy="3447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/>
              <a:t>Select the option for following code</a:t>
            </a:r>
            <a:endParaRPr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/>
              <a:t>s = 0</a:t>
            </a:r>
            <a:endParaRPr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/>
              <a:t>for d in range(0, 5, 0.1):</a:t>
            </a:r>
            <a:endParaRPr/>
          </a:p>
          <a:p>
            <a:pPr marL="0" lvl="0" indent="4572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/>
              <a:t>s += d</a:t>
            </a:r>
            <a:endParaRPr/>
          </a:p>
          <a:p>
            <a:pPr marL="0" lvl="0" indent="4572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/>
              <a:t>print(s)</a:t>
            </a:r>
            <a:endParaRPr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4" name="Google Shape;704;p138"/>
          <p:cNvSpPr txBox="1">
            <a:spLocks noGrp="1"/>
          </p:cNvSpPr>
          <p:nvPr>
            <p:ph type="body" idx="1"/>
          </p:nvPr>
        </p:nvSpPr>
        <p:spPr>
          <a:xfrm>
            <a:off x="4886400" y="2571750"/>
            <a:ext cx="3945900" cy="197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33400" lvl="0" indent="-457200" algn="l" rtl="0">
              <a:spcBef>
                <a:spcPts val="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 err="1"/>
              <a:t>Syntax</a:t>
            </a:r>
            <a:r>
              <a:rPr lang="pt-PT" sz="2400" dirty="0"/>
              <a:t> Error</a:t>
            </a:r>
            <a:endParaRPr sz="2400" dirty="0"/>
          </a:p>
          <a:p>
            <a:pPr marL="533400" lvl="0" indent="-457200" algn="l" rtl="0">
              <a:spcBef>
                <a:spcPts val="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 err="1"/>
              <a:t>Type</a:t>
            </a:r>
            <a:r>
              <a:rPr lang="pt-PT" sz="2400" dirty="0"/>
              <a:t> Error</a:t>
            </a:r>
            <a:endParaRPr sz="2400" dirty="0"/>
          </a:p>
          <a:p>
            <a:pPr marL="533400" lvl="0" indent="-457200" algn="l" rtl="0">
              <a:spcBef>
                <a:spcPts val="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 err="1"/>
              <a:t>Runtime</a:t>
            </a:r>
            <a:r>
              <a:rPr lang="pt-PT" sz="2400" dirty="0"/>
              <a:t> Error</a:t>
            </a:r>
            <a:endParaRPr sz="2400" dirty="0"/>
          </a:p>
          <a:p>
            <a:pPr marL="533400" lvl="0" indent="-457200" algn="l" rtl="0">
              <a:spcBef>
                <a:spcPts val="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/>
              <a:t>Both </a:t>
            </a:r>
            <a:r>
              <a:rPr lang="pt-PT" sz="2400" dirty="0" err="1"/>
              <a:t>option</a:t>
            </a:r>
            <a:r>
              <a:rPr lang="pt-PT" sz="2400" dirty="0"/>
              <a:t> 1 </a:t>
            </a:r>
            <a:r>
              <a:rPr lang="pt-PT" sz="2400" dirty="0" err="1"/>
              <a:t>and</a:t>
            </a:r>
            <a:r>
              <a:rPr lang="pt-PT" sz="2400" dirty="0"/>
              <a:t> 2</a:t>
            </a:r>
            <a:endParaRPr sz="2400" dirty="0"/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Google Shape;709;p13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212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/>
              <a:t>What is output of following </a:t>
            </a:r>
            <a:endParaRPr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/>
              <a:t>print(''abbzxyzxzxabb''.count(‘abb’,-10,-1))</a:t>
            </a:r>
            <a:endParaRPr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0" name="Google Shape;710;p139"/>
          <p:cNvSpPr txBox="1">
            <a:spLocks noGrp="1"/>
          </p:cNvSpPr>
          <p:nvPr>
            <p:ph type="body" idx="1"/>
          </p:nvPr>
        </p:nvSpPr>
        <p:spPr>
          <a:xfrm>
            <a:off x="311700" y="2919725"/>
            <a:ext cx="8520600" cy="197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33400" lvl="0" indent="-457200" algn="l" rtl="0">
              <a:spcBef>
                <a:spcPts val="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/>
              <a:t>2</a:t>
            </a:r>
            <a:endParaRPr sz="2400" dirty="0"/>
          </a:p>
          <a:p>
            <a:pPr marL="533400" lvl="0" indent="-457200" algn="l" rtl="0">
              <a:spcBef>
                <a:spcPts val="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/>
              <a:t>0</a:t>
            </a:r>
            <a:endParaRPr sz="2400" dirty="0"/>
          </a:p>
          <a:p>
            <a:pPr marL="533400" lvl="0" indent="-457200" algn="l" rtl="0">
              <a:spcBef>
                <a:spcPts val="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/>
              <a:t>1</a:t>
            </a:r>
            <a:endParaRPr sz="2400" dirty="0"/>
          </a:p>
          <a:p>
            <a:pPr marL="533400" lvl="0" indent="-457200" algn="l" rtl="0">
              <a:spcBef>
                <a:spcPts val="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/>
              <a:t>Error</a:t>
            </a:r>
            <a:endParaRPr sz="2400" dirty="0"/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" name="Google Shape;715;p140"/>
          <p:cNvSpPr txBox="1">
            <a:spLocks noGrp="1"/>
          </p:cNvSpPr>
          <p:nvPr>
            <p:ph type="title"/>
          </p:nvPr>
        </p:nvSpPr>
        <p:spPr>
          <a:xfrm>
            <a:off x="311700" y="445050"/>
            <a:ext cx="8520600" cy="456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/>
              <a:t>Select the option for following code</a:t>
            </a:r>
            <a:endParaRPr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1200"/>
              <a:t>try: </a:t>
            </a:r>
            <a:endParaRPr sz="1200"/>
          </a:p>
          <a:p>
            <a:pPr marL="0" lvl="0" indent="4572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1200"/>
              <a:t>list = 5*[0]+5*[10] </a:t>
            </a:r>
            <a:endParaRPr sz="1200"/>
          </a:p>
          <a:p>
            <a:pPr marL="0" lvl="0" indent="4572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1200"/>
              <a:t>x = list[9] </a:t>
            </a:r>
            <a:endParaRPr sz="1200"/>
          </a:p>
          <a:p>
            <a:pPr marL="0" lvl="0" indent="4572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1200"/>
              <a:t>print(''Done!'') </a:t>
            </a:r>
            <a:endParaRPr sz="1200"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1200"/>
              <a:t>except IndexError: </a:t>
            </a:r>
            <a:endParaRPr sz="1200"/>
          </a:p>
          <a:p>
            <a:pPr marL="0" lvl="0" indent="4572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1200"/>
              <a:t>   print(''Index out of Bond! '') </a:t>
            </a:r>
            <a:endParaRPr sz="1200"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1200"/>
              <a:t>else: </a:t>
            </a:r>
            <a:endParaRPr sz="1200"/>
          </a:p>
          <a:p>
            <a:pPr marL="0" lvl="0" indent="4572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1200"/>
              <a:t>   print(''Nothing is wrong!'') </a:t>
            </a:r>
            <a:endParaRPr sz="1200"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1200"/>
              <a:t>finally: </a:t>
            </a:r>
            <a:endParaRPr sz="1200"/>
          </a:p>
          <a:p>
            <a:pPr marL="0" lvl="0" indent="4572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1200"/>
              <a:t>   print(''Finally block!'')</a:t>
            </a:r>
            <a:endParaRPr sz="1200"/>
          </a:p>
          <a:p>
            <a:pPr marL="0" lvl="0" indent="4572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1200"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1200"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12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2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/>
          </a:p>
        </p:txBody>
      </p:sp>
      <p:sp>
        <p:nvSpPr>
          <p:cNvPr id="716" name="Google Shape;716;p140"/>
          <p:cNvSpPr txBox="1">
            <a:spLocks noGrp="1"/>
          </p:cNvSpPr>
          <p:nvPr>
            <p:ph type="body" idx="1"/>
          </p:nvPr>
        </p:nvSpPr>
        <p:spPr>
          <a:xfrm>
            <a:off x="3287486" y="1655250"/>
            <a:ext cx="5479574" cy="304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33400" lvl="0" indent="-457200" algn="l" rtl="0">
              <a:spcBef>
                <a:spcPts val="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/>
              <a:t>‘</a:t>
            </a:r>
            <a:r>
              <a:rPr lang="pt-PT" sz="2400" dirty="0" err="1"/>
              <a:t>Finally</a:t>
            </a:r>
            <a:r>
              <a:rPr lang="pt-PT" sz="2400" dirty="0"/>
              <a:t> </a:t>
            </a:r>
            <a:r>
              <a:rPr lang="pt-PT" sz="2400" dirty="0" err="1"/>
              <a:t>Block</a:t>
            </a:r>
            <a:r>
              <a:rPr lang="pt-PT" sz="2400" dirty="0"/>
              <a:t>!’</a:t>
            </a:r>
            <a:endParaRPr sz="2400" dirty="0"/>
          </a:p>
          <a:p>
            <a:pPr marL="533400" lvl="0" indent="-457200" algn="l" rtl="0">
              <a:spcBef>
                <a:spcPts val="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/>
              <a:t>‘</a:t>
            </a:r>
            <a:r>
              <a:rPr lang="pt-PT" sz="2400" dirty="0" err="1"/>
              <a:t>Done</a:t>
            </a:r>
            <a:r>
              <a:rPr lang="pt-PT" sz="2400" dirty="0"/>
              <a:t>! </a:t>
            </a:r>
            <a:r>
              <a:rPr lang="pt-PT" sz="2400" dirty="0" err="1"/>
              <a:t>follow</a:t>
            </a:r>
            <a:r>
              <a:rPr lang="pt-PT" sz="2400" dirty="0"/>
              <a:t> </a:t>
            </a:r>
            <a:r>
              <a:rPr lang="pt-PT" sz="2400" dirty="0" err="1"/>
              <a:t>by</a:t>
            </a:r>
            <a:r>
              <a:rPr lang="pt-PT" sz="2400" dirty="0"/>
              <a:t> ‘</a:t>
            </a:r>
            <a:r>
              <a:rPr lang="pt-PT" sz="2400" dirty="0" err="1"/>
              <a:t>Nothing</a:t>
            </a:r>
            <a:r>
              <a:rPr lang="pt-PT" sz="2400" dirty="0"/>
              <a:t> </a:t>
            </a:r>
            <a:r>
              <a:rPr lang="pt-PT" sz="2400" dirty="0" err="1"/>
              <a:t>is</a:t>
            </a:r>
            <a:r>
              <a:rPr lang="pt-PT" sz="2400" dirty="0"/>
              <a:t> </a:t>
            </a:r>
            <a:r>
              <a:rPr lang="pt-PT" sz="2400" dirty="0" err="1"/>
              <a:t>wrong</a:t>
            </a:r>
            <a:r>
              <a:rPr lang="pt-PT" sz="2400" dirty="0"/>
              <a:t>!’</a:t>
            </a:r>
            <a:endParaRPr sz="2400" dirty="0"/>
          </a:p>
          <a:p>
            <a:pPr marL="533400" lvl="0" indent="-457200" algn="l" rtl="0">
              <a:spcBef>
                <a:spcPts val="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/>
              <a:t>‘</a:t>
            </a:r>
            <a:r>
              <a:rPr lang="pt-PT" sz="2400" dirty="0" err="1"/>
              <a:t>Nothing</a:t>
            </a:r>
            <a:r>
              <a:rPr lang="pt-PT" sz="2400" dirty="0"/>
              <a:t> </a:t>
            </a:r>
            <a:r>
              <a:rPr lang="pt-PT" sz="2400" dirty="0" err="1"/>
              <a:t>is</a:t>
            </a:r>
            <a:r>
              <a:rPr lang="pt-PT" sz="2400" dirty="0"/>
              <a:t> </a:t>
            </a:r>
            <a:r>
              <a:rPr lang="pt-PT" sz="2400" dirty="0" err="1"/>
              <a:t>wrong</a:t>
            </a:r>
            <a:r>
              <a:rPr lang="pt-PT" sz="2400" dirty="0"/>
              <a:t>!’ </a:t>
            </a:r>
            <a:r>
              <a:rPr lang="pt-PT" sz="2400" dirty="0" err="1"/>
              <a:t>followed</a:t>
            </a:r>
            <a:r>
              <a:rPr lang="pt-PT" sz="2400" dirty="0"/>
              <a:t> </a:t>
            </a:r>
            <a:r>
              <a:rPr lang="pt-PT" sz="2400" dirty="0" err="1"/>
              <a:t>by</a:t>
            </a:r>
            <a:r>
              <a:rPr lang="pt-PT" sz="2400" dirty="0"/>
              <a:t> ‘</a:t>
            </a:r>
            <a:r>
              <a:rPr lang="pt-PT" sz="2400" dirty="0" err="1"/>
              <a:t>Finally</a:t>
            </a:r>
            <a:r>
              <a:rPr lang="pt-PT" sz="2400" dirty="0"/>
              <a:t> </a:t>
            </a:r>
            <a:r>
              <a:rPr lang="pt-PT" sz="2400" dirty="0" err="1"/>
              <a:t>block</a:t>
            </a:r>
            <a:r>
              <a:rPr lang="pt-PT" sz="2400" dirty="0"/>
              <a:t>’.</a:t>
            </a:r>
            <a:endParaRPr sz="2400" dirty="0"/>
          </a:p>
          <a:p>
            <a:pPr marL="533400" lvl="0" indent="-457200" algn="l" rtl="0">
              <a:spcBef>
                <a:spcPts val="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/>
              <a:t>‘</a:t>
            </a:r>
            <a:r>
              <a:rPr lang="pt-PT" sz="2400" dirty="0" err="1"/>
              <a:t>Done</a:t>
            </a:r>
            <a:r>
              <a:rPr lang="pt-PT" sz="2400" dirty="0"/>
              <a:t>!’ </a:t>
            </a:r>
            <a:r>
              <a:rPr lang="pt-PT" sz="2400" dirty="0" err="1"/>
              <a:t>follow</a:t>
            </a:r>
            <a:r>
              <a:rPr lang="pt-PT" sz="2400" dirty="0"/>
              <a:t> </a:t>
            </a:r>
            <a:r>
              <a:rPr lang="pt-PT" sz="2400" dirty="0" err="1"/>
              <a:t>by</a:t>
            </a:r>
            <a:r>
              <a:rPr lang="pt-PT" sz="2400" dirty="0"/>
              <a:t> ‘</a:t>
            </a:r>
            <a:r>
              <a:rPr lang="pt-PT" sz="2400" dirty="0" err="1"/>
              <a:t>Nothing</a:t>
            </a:r>
            <a:r>
              <a:rPr lang="pt-PT" sz="2400" dirty="0"/>
              <a:t> </a:t>
            </a:r>
            <a:r>
              <a:rPr lang="pt-PT" sz="2400" dirty="0" err="1"/>
              <a:t>is</a:t>
            </a:r>
            <a:r>
              <a:rPr lang="pt-PT" sz="2400" dirty="0"/>
              <a:t> </a:t>
            </a:r>
            <a:r>
              <a:rPr lang="pt-PT" sz="2400" dirty="0" err="1"/>
              <a:t>wrong</a:t>
            </a:r>
            <a:r>
              <a:rPr lang="pt-PT" sz="2400" dirty="0"/>
              <a:t>!’ </a:t>
            </a:r>
            <a:r>
              <a:rPr lang="pt-PT" sz="2400" dirty="0" err="1"/>
              <a:t>followed</a:t>
            </a:r>
            <a:r>
              <a:rPr lang="pt-PT" sz="2400" dirty="0"/>
              <a:t> </a:t>
            </a:r>
            <a:r>
              <a:rPr lang="pt-PT" sz="2400" dirty="0" err="1"/>
              <a:t>by</a:t>
            </a:r>
            <a:r>
              <a:rPr lang="pt-PT" sz="2400" dirty="0"/>
              <a:t> ‘</a:t>
            </a:r>
            <a:r>
              <a:rPr lang="pt-PT" sz="2400" dirty="0" err="1"/>
              <a:t>Finally</a:t>
            </a:r>
            <a:r>
              <a:rPr lang="pt-PT" sz="2400" dirty="0"/>
              <a:t> </a:t>
            </a:r>
            <a:r>
              <a:rPr lang="pt-PT" sz="2400" dirty="0" err="1"/>
              <a:t>block</a:t>
            </a:r>
            <a:r>
              <a:rPr lang="pt-PT" sz="2400" dirty="0"/>
              <a:t>’.</a:t>
            </a:r>
            <a:endParaRPr sz="2400" dirty="0"/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p14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12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400" b="1">
                <a:solidFill>
                  <a:srgbClr val="FFFFFF"/>
                </a:solidFill>
              </a:rPr>
              <a:t>Which among them is correct(s) about Recursive Function?</a:t>
            </a: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2" name="Google Shape;722;p141"/>
          <p:cNvSpPr txBox="1">
            <a:spLocks noGrp="1"/>
          </p:cNvSpPr>
          <p:nvPr>
            <p:ph type="body" idx="1"/>
          </p:nvPr>
        </p:nvSpPr>
        <p:spPr>
          <a:xfrm>
            <a:off x="311700" y="1660625"/>
            <a:ext cx="8520600" cy="337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33400" lvl="0" indent="-457200" algn="l" rtl="0">
              <a:spcBef>
                <a:spcPts val="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 err="1"/>
              <a:t>They</a:t>
            </a:r>
            <a:r>
              <a:rPr lang="pt-PT" sz="2400" dirty="0"/>
              <a:t> are </a:t>
            </a:r>
            <a:r>
              <a:rPr lang="pt-PT" sz="2400" dirty="0" err="1"/>
              <a:t>much</a:t>
            </a:r>
            <a:r>
              <a:rPr lang="pt-PT" sz="2400" dirty="0"/>
              <a:t> </a:t>
            </a:r>
            <a:r>
              <a:rPr lang="pt-PT" sz="2400" dirty="0" err="1"/>
              <a:t>faster</a:t>
            </a:r>
            <a:r>
              <a:rPr lang="pt-PT" sz="2400" dirty="0"/>
              <a:t> </a:t>
            </a:r>
            <a:r>
              <a:rPr lang="pt-PT" sz="2400" dirty="0" err="1"/>
              <a:t>than</a:t>
            </a:r>
            <a:r>
              <a:rPr lang="pt-PT" sz="2400" dirty="0"/>
              <a:t> </a:t>
            </a:r>
            <a:r>
              <a:rPr lang="pt-PT" sz="2400" dirty="0" err="1"/>
              <a:t>the</a:t>
            </a:r>
            <a:r>
              <a:rPr lang="pt-PT" sz="2400" dirty="0"/>
              <a:t> normal </a:t>
            </a:r>
            <a:r>
              <a:rPr lang="pt-PT" sz="2400" dirty="0" err="1"/>
              <a:t>functions</a:t>
            </a:r>
            <a:endParaRPr sz="2400" dirty="0"/>
          </a:p>
          <a:p>
            <a:pPr marL="533400" lvl="0" indent="-457200" algn="l" rtl="0">
              <a:spcBef>
                <a:spcPts val="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/>
              <a:t> </a:t>
            </a:r>
            <a:r>
              <a:rPr lang="pt-PT" sz="2400" dirty="0" err="1"/>
              <a:t>They</a:t>
            </a:r>
            <a:r>
              <a:rPr lang="pt-PT" sz="2400" dirty="0"/>
              <a:t> take more </a:t>
            </a:r>
            <a:r>
              <a:rPr lang="pt-PT" sz="2400" dirty="0" err="1"/>
              <a:t>space</a:t>
            </a:r>
            <a:r>
              <a:rPr lang="pt-PT" sz="2400" dirty="0"/>
              <a:t> </a:t>
            </a:r>
            <a:r>
              <a:rPr lang="pt-PT" sz="2400" dirty="0" err="1"/>
              <a:t>then</a:t>
            </a:r>
            <a:r>
              <a:rPr lang="pt-PT" sz="2400" dirty="0"/>
              <a:t> </a:t>
            </a:r>
            <a:r>
              <a:rPr lang="pt-PT" sz="2400" dirty="0" err="1"/>
              <a:t>the</a:t>
            </a:r>
            <a:r>
              <a:rPr lang="pt-PT" sz="2400" dirty="0"/>
              <a:t> non-</a:t>
            </a:r>
            <a:r>
              <a:rPr lang="pt-PT" sz="2400" dirty="0" err="1"/>
              <a:t>recursive</a:t>
            </a:r>
            <a:r>
              <a:rPr lang="pt-PT" sz="2400" dirty="0"/>
              <a:t> </a:t>
            </a:r>
            <a:r>
              <a:rPr lang="pt-PT" sz="2400" dirty="0" err="1"/>
              <a:t>functions</a:t>
            </a:r>
            <a:endParaRPr sz="2400" dirty="0"/>
          </a:p>
          <a:p>
            <a:pPr marL="533400" lvl="0" indent="-457200" algn="l" rtl="0">
              <a:spcBef>
                <a:spcPts val="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 err="1"/>
              <a:t>They</a:t>
            </a:r>
            <a:r>
              <a:rPr lang="pt-PT" sz="2400" dirty="0"/>
              <a:t> can </a:t>
            </a:r>
            <a:r>
              <a:rPr lang="pt-PT" sz="2400" dirty="0" err="1"/>
              <a:t>always</a:t>
            </a:r>
            <a:r>
              <a:rPr lang="pt-PT" sz="2400" dirty="0"/>
              <a:t> </a:t>
            </a:r>
            <a:r>
              <a:rPr lang="pt-PT" sz="2400" dirty="0" err="1"/>
              <a:t>be</a:t>
            </a:r>
            <a:r>
              <a:rPr lang="pt-PT" sz="2400" dirty="0"/>
              <a:t> </a:t>
            </a:r>
            <a:r>
              <a:rPr lang="pt-PT" sz="2400" dirty="0" err="1"/>
              <a:t>replaced</a:t>
            </a:r>
            <a:r>
              <a:rPr lang="pt-PT" sz="2400" dirty="0"/>
              <a:t> </a:t>
            </a:r>
            <a:r>
              <a:rPr lang="pt-PT" sz="2400" dirty="0" err="1"/>
              <a:t>by</a:t>
            </a:r>
            <a:r>
              <a:rPr lang="pt-PT" sz="2400" dirty="0"/>
              <a:t> non-</a:t>
            </a:r>
            <a:r>
              <a:rPr lang="pt-PT" sz="2400" dirty="0" err="1"/>
              <a:t>recursive</a:t>
            </a:r>
            <a:r>
              <a:rPr lang="pt-PT" sz="2400" dirty="0"/>
              <a:t> </a:t>
            </a:r>
            <a:r>
              <a:rPr lang="pt-PT" sz="2400" dirty="0" err="1"/>
              <a:t>functions</a:t>
            </a:r>
            <a:endParaRPr sz="2400" dirty="0"/>
          </a:p>
          <a:p>
            <a:pPr marL="533400" lvl="0" indent="-457200" algn="l" rtl="0">
              <a:spcBef>
                <a:spcPts val="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 err="1"/>
              <a:t>Using</a:t>
            </a:r>
            <a:r>
              <a:rPr lang="pt-PT" sz="2400" dirty="0"/>
              <a:t> </a:t>
            </a:r>
            <a:r>
              <a:rPr lang="pt-PT" sz="2400" dirty="0" err="1"/>
              <a:t>recursive</a:t>
            </a:r>
            <a:r>
              <a:rPr lang="pt-PT" sz="2400" dirty="0"/>
              <a:t> </a:t>
            </a:r>
            <a:r>
              <a:rPr lang="pt-PT" sz="2400" dirty="0" err="1"/>
              <a:t>functions</a:t>
            </a:r>
            <a:r>
              <a:rPr lang="pt-PT" sz="2400" dirty="0"/>
              <a:t> </a:t>
            </a:r>
            <a:r>
              <a:rPr lang="pt-PT" sz="2400" dirty="0" err="1"/>
              <a:t>however</a:t>
            </a:r>
            <a:r>
              <a:rPr lang="pt-PT" sz="2400" dirty="0"/>
              <a:t> </a:t>
            </a:r>
            <a:r>
              <a:rPr lang="pt-PT" sz="2400" dirty="0" err="1"/>
              <a:t>also</a:t>
            </a:r>
            <a:r>
              <a:rPr lang="pt-PT" sz="2400" dirty="0"/>
              <a:t> </a:t>
            </a:r>
            <a:r>
              <a:rPr lang="pt-PT" sz="2400" dirty="0" err="1"/>
              <a:t>gives</a:t>
            </a:r>
            <a:r>
              <a:rPr lang="pt-PT" sz="2400" dirty="0"/>
              <a:t> a natural </a:t>
            </a:r>
            <a:r>
              <a:rPr lang="pt-PT" sz="2400" dirty="0" err="1"/>
              <a:t>and</a:t>
            </a:r>
            <a:r>
              <a:rPr lang="pt-PT" sz="2400" dirty="0"/>
              <a:t> straight </a:t>
            </a:r>
            <a:r>
              <a:rPr lang="pt-PT" sz="2400" dirty="0" err="1"/>
              <a:t>forward</a:t>
            </a:r>
            <a:r>
              <a:rPr lang="pt-PT" sz="2400" dirty="0"/>
              <a:t> </a:t>
            </a:r>
            <a:r>
              <a:rPr lang="pt-PT" sz="2400" dirty="0" err="1"/>
              <a:t>simple</a:t>
            </a:r>
            <a:r>
              <a:rPr lang="pt-PT" sz="2400" dirty="0"/>
              <a:t> </a:t>
            </a:r>
            <a:r>
              <a:rPr lang="pt-PT" sz="2400" dirty="0" err="1"/>
              <a:t>solution</a:t>
            </a:r>
            <a:r>
              <a:rPr lang="pt-PT" sz="2400" dirty="0"/>
              <a:t> for </a:t>
            </a:r>
            <a:r>
              <a:rPr lang="pt-PT" sz="2400" dirty="0" err="1"/>
              <a:t>the</a:t>
            </a:r>
            <a:r>
              <a:rPr lang="pt-PT" sz="2400" dirty="0"/>
              <a:t> </a:t>
            </a:r>
            <a:r>
              <a:rPr lang="pt-PT" sz="2400" dirty="0" err="1"/>
              <a:t>program</a:t>
            </a:r>
            <a:r>
              <a:rPr lang="pt-PT" sz="2400" dirty="0"/>
              <a:t>.</a:t>
            </a:r>
            <a:endParaRPr sz="2400" dirty="0"/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Google Shape;727;p14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12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400" b="1">
                <a:solidFill>
                  <a:srgbClr val="FFFFFF"/>
                </a:solidFill>
              </a:rPr>
              <a:t>Which module is used in python to create Graphics?</a:t>
            </a: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8" name="Google Shape;728;p142"/>
          <p:cNvSpPr txBox="1">
            <a:spLocks noGrp="1"/>
          </p:cNvSpPr>
          <p:nvPr>
            <p:ph type="body" idx="1"/>
          </p:nvPr>
        </p:nvSpPr>
        <p:spPr>
          <a:xfrm>
            <a:off x="311700" y="1660625"/>
            <a:ext cx="8520600" cy="337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33400" lvl="0" indent="-457200" algn="l" rtl="0">
              <a:spcBef>
                <a:spcPts val="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 err="1"/>
              <a:t>Turtle</a:t>
            </a:r>
            <a:endParaRPr sz="2400" dirty="0"/>
          </a:p>
          <a:p>
            <a:pPr marL="533400" lvl="0" indent="-457200" algn="l" rtl="0">
              <a:spcBef>
                <a:spcPts val="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 err="1"/>
              <a:t>Canvas</a:t>
            </a:r>
            <a:endParaRPr sz="2400" dirty="0"/>
          </a:p>
          <a:p>
            <a:pPr marL="533400" lvl="0" indent="-457200" algn="l" rtl="0">
              <a:spcBef>
                <a:spcPts val="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 err="1"/>
              <a:t>Tkinter</a:t>
            </a:r>
            <a:endParaRPr sz="2400" dirty="0"/>
          </a:p>
          <a:p>
            <a:pPr marL="533400" lvl="0" indent="-457200" algn="l" rtl="0">
              <a:spcBef>
                <a:spcPts val="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 err="1"/>
              <a:t>Graphics</a:t>
            </a:r>
            <a:endParaRPr sz="2400" dirty="0"/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p14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159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400">
                <a:solidFill>
                  <a:srgbClr val="FFFFFF"/>
                </a:solidFill>
              </a:rPr>
              <a:t>What will be the output of the following code :</a:t>
            </a: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400">
                <a:solidFill>
                  <a:srgbClr val="FFFFFF"/>
                </a:solidFill>
              </a:rPr>
              <a:t>print type(type(int))</a:t>
            </a: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4" name="Google Shape;734;p143"/>
          <p:cNvSpPr txBox="1">
            <a:spLocks noGrp="1"/>
          </p:cNvSpPr>
          <p:nvPr>
            <p:ph type="body" idx="1"/>
          </p:nvPr>
        </p:nvSpPr>
        <p:spPr>
          <a:xfrm>
            <a:off x="311700" y="2312800"/>
            <a:ext cx="8520600" cy="272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 err="1"/>
              <a:t>type</a:t>
            </a:r>
            <a:r>
              <a:rPr lang="pt-PT" sz="3600" dirty="0"/>
              <a:t> ‘</a:t>
            </a:r>
            <a:r>
              <a:rPr lang="pt-PT" sz="3600" dirty="0" err="1"/>
              <a:t>int</a:t>
            </a:r>
            <a:r>
              <a:rPr lang="pt-PT" sz="3600" dirty="0"/>
              <a:t>’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 err="1"/>
              <a:t>type</a:t>
            </a:r>
            <a:r>
              <a:rPr lang="pt-PT" sz="3600" dirty="0"/>
              <a:t> ‘</a:t>
            </a:r>
            <a:r>
              <a:rPr lang="pt-PT" sz="3600" dirty="0" err="1"/>
              <a:t>type</a:t>
            </a:r>
            <a:r>
              <a:rPr lang="pt-PT" sz="3600" dirty="0"/>
              <a:t>’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Error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0</a:t>
            </a:r>
            <a:endParaRPr sz="3600" dirty="0"/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Google Shape;739;p14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159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400">
                <a:solidFill>
                  <a:srgbClr val="FFFFFF"/>
                </a:solidFill>
              </a:rPr>
              <a:t>What is the output of the following code :</a:t>
            </a: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400">
                <a:solidFill>
                  <a:srgbClr val="FFFFFF"/>
                </a:solidFill>
              </a:rPr>
              <a:t>L = ['a','b','c','d']</a:t>
            </a: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400">
                <a:solidFill>
                  <a:srgbClr val="FFFFFF"/>
                </a:solidFill>
              </a:rPr>
              <a:t>print "".join(L)</a:t>
            </a: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0" name="Google Shape;740;p144"/>
          <p:cNvSpPr txBox="1">
            <a:spLocks noGrp="1"/>
          </p:cNvSpPr>
          <p:nvPr>
            <p:ph type="body" idx="1"/>
          </p:nvPr>
        </p:nvSpPr>
        <p:spPr>
          <a:xfrm>
            <a:off x="311700" y="2312800"/>
            <a:ext cx="8520600" cy="272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Error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 err="1"/>
              <a:t>None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 err="1"/>
              <a:t>abcd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[‘a’, ‘b’, ‘c’, ‘d’]</a:t>
            </a:r>
            <a:endParaRPr sz="3600" dirty="0"/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Google Shape;745;p14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159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400">
                <a:solidFill>
                  <a:srgbClr val="FFFFFF"/>
                </a:solidFill>
              </a:rPr>
              <a:t>What is the output of the following segment :</a:t>
            </a: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400">
                <a:solidFill>
                  <a:srgbClr val="FFFFFF"/>
                </a:solidFill>
              </a:rPr>
              <a:t>chr(ord('A'))</a:t>
            </a: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6" name="Google Shape;746;p145"/>
          <p:cNvSpPr txBox="1">
            <a:spLocks noGrp="1"/>
          </p:cNvSpPr>
          <p:nvPr>
            <p:ph type="body" idx="1"/>
          </p:nvPr>
        </p:nvSpPr>
        <p:spPr>
          <a:xfrm>
            <a:off x="311700" y="2312800"/>
            <a:ext cx="8520600" cy="272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A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B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a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Error</a:t>
            </a:r>
            <a:endParaRPr sz="3600" dirty="0"/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Google Shape;751;p14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186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400">
                <a:solidFill>
                  <a:srgbClr val="FFFFFF"/>
                </a:solidFill>
              </a:rPr>
              <a:t>What is the output of the following program :</a:t>
            </a: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400">
                <a:solidFill>
                  <a:srgbClr val="FFFFFF"/>
                </a:solidFill>
              </a:rPr>
              <a:t>y = 8</a:t>
            </a: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400">
                <a:solidFill>
                  <a:srgbClr val="FFFFFF"/>
                </a:solidFill>
              </a:rPr>
              <a:t>z = lambda x : x * y</a:t>
            </a: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400">
                <a:solidFill>
                  <a:srgbClr val="FFFFFF"/>
                </a:solidFill>
              </a:rPr>
              <a:t>print z(6)</a:t>
            </a: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2" name="Google Shape;752;p146"/>
          <p:cNvSpPr txBox="1">
            <a:spLocks noGrp="1"/>
          </p:cNvSpPr>
          <p:nvPr>
            <p:ph type="body" idx="1"/>
          </p:nvPr>
        </p:nvSpPr>
        <p:spPr>
          <a:xfrm>
            <a:off x="311700" y="2312800"/>
            <a:ext cx="8520600" cy="272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48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14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64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 err="1"/>
              <a:t>None</a:t>
            </a:r>
            <a:r>
              <a:rPr lang="pt-PT" sz="3600" dirty="0"/>
              <a:t> </a:t>
            </a:r>
            <a:r>
              <a:rPr lang="pt-PT" sz="3600" dirty="0" err="1"/>
              <a:t>of</a:t>
            </a:r>
            <a:r>
              <a:rPr lang="pt-PT" sz="3600" dirty="0"/>
              <a:t> </a:t>
            </a:r>
            <a:r>
              <a:rPr lang="pt-PT" sz="3600" dirty="0" err="1"/>
              <a:t>the</a:t>
            </a:r>
            <a:r>
              <a:rPr lang="pt-PT" sz="3600" dirty="0"/>
              <a:t> </a:t>
            </a:r>
            <a:r>
              <a:rPr lang="pt-PT" sz="3600" dirty="0" err="1"/>
              <a:t>above</a:t>
            </a:r>
            <a:endParaRPr sz="3600" dirty="0"/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p14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186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400">
                <a:solidFill>
                  <a:srgbClr val="FFFFFF"/>
                </a:solidFill>
              </a:rPr>
              <a:t>Suppose list1 is [3, 4, 5, 20, 5, 25, 1, 3], what is list1 after list1.pop(1)?</a:t>
            </a: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8" name="Google Shape;758;p147"/>
          <p:cNvSpPr txBox="1">
            <a:spLocks noGrp="1"/>
          </p:cNvSpPr>
          <p:nvPr>
            <p:ph type="body" idx="1"/>
          </p:nvPr>
        </p:nvSpPr>
        <p:spPr>
          <a:xfrm>
            <a:off x="311700" y="2312800"/>
            <a:ext cx="8520600" cy="272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[3, 4, 5, 20, 5, 25, 1, 3]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[1, 3, 3, 4, 5, 5, 20, 25]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[3, 5, 20, 5, 25, 1, 3]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[1, 3, 4, 5, 20, 5, 25]</a:t>
            </a:r>
            <a:endParaRPr sz="3600" dirty="0"/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p14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186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400">
                <a:solidFill>
                  <a:srgbClr val="FFFFFF"/>
                </a:solidFill>
              </a:rPr>
              <a:t>What is the output of the following program :</a:t>
            </a: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400">
                <a:solidFill>
                  <a:srgbClr val="FFFFFF"/>
                </a:solidFill>
              </a:rPr>
              <a:t>i = 0</a:t>
            </a: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400">
                <a:solidFill>
                  <a:srgbClr val="FFFFFF"/>
                </a:solidFill>
              </a:rPr>
              <a:t>while i &lt; 3:</a:t>
            </a: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400">
                <a:solidFill>
                  <a:srgbClr val="FFFFFF"/>
                </a:solidFill>
              </a:rPr>
              <a:t>       print i</a:t>
            </a: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400">
                <a:solidFill>
                  <a:srgbClr val="FFFFFF"/>
                </a:solidFill>
              </a:rPr>
              <a:t>       i++</a:t>
            </a: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400">
                <a:solidFill>
                  <a:srgbClr val="FFFFFF"/>
                </a:solidFill>
              </a:rPr>
              <a:t>       print i+1</a:t>
            </a: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4" name="Google Shape;764;p148"/>
          <p:cNvSpPr txBox="1">
            <a:spLocks noGrp="1"/>
          </p:cNvSpPr>
          <p:nvPr>
            <p:ph type="body" idx="1"/>
          </p:nvPr>
        </p:nvSpPr>
        <p:spPr>
          <a:xfrm>
            <a:off x="4002500" y="1660700"/>
            <a:ext cx="4641300" cy="272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0 2 1 3 2 4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0 1 2 3 4 5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Error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1 0 2 4 3 5</a:t>
            </a:r>
            <a:endParaRPr sz="3600" dirty="0"/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4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92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400">
                <a:solidFill>
                  <a:srgbClr val="FFFFFF"/>
                </a:solidFill>
              </a:rPr>
              <a:t>What is the output of the expression : 3*1**3</a:t>
            </a: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0" name="Google Shape;770;p149"/>
          <p:cNvSpPr txBox="1">
            <a:spLocks noGrp="1"/>
          </p:cNvSpPr>
          <p:nvPr>
            <p:ph type="body" idx="1"/>
          </p:nvPr>
        </p:nvSpPr>
        <p:spPr>
          <a:xfrm>
            <a:off x="311700" y="1370825"/>
            <a:ext cx="8520600" cy="366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27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9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3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1</a:t>
            </a:r>
            <a:endParaRPr sz="3600" dirty="0"/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Google Shape;775;p15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127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400">
                <a:solidFill>
                  <a:srgbClr val="FFFFFF"/>
                </a:solidFill>
              </a:rPr>
              <a:t>What is the output of the following program :</a:t>
            </a: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400">
                <a:solidFill>
                  <a:srgbClr val="FFFFFF"/>
                </a:solidFill>
              </a:rPr>
              <a:t>print '{0:.2}'.format(1.0 / 3)</a:t>
            </a: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6" name="Google Shape;776;p150"/>
          <p:cNvSpPr txBox="1">
            <a:spLocks noGrp="1"/>
          </p:cNvSpPr>
          <p:nvPr>
            <p:ph type="body" idx="1"/>
          </p:nvPr>
        </p:nvSpPr>
        <p:spPr>
          <a:xfrm>
            <a:off x="311700" y="1718525"/>
            <a:ext cx="8520600" cy="331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0.3333333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0.33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0.3333333:-2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Error</a:t>
            </a:r>
            <a:endParaRPr sz="3600" dirty="0"/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1" name="Google Shape;781;p15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321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400">
                <a:solidFill>
                  <a:srgbClr val="FFFFFF"/>
                </a:solidFill>
              </a:rPr>
              <a:t>What is the output of the following program :</a:t>
            </a: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400">
                <a:solidFill>
                  <a:srgbClr val="FFFFFF"/>
                </a:solidFill>
              </a:rPr>
              <a:t>i = 0</a:t>
            </a: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400">
                <a:solidFill>
                  <a:srgbClr val="FFFFFF"/>
                </a:solidFill>
              </a:rPr>
              <a:t>while i &lt; 3:</a:t>
            </a: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400">
                <a:solidFill>
                  <a:srgbClr val="FFFFFF"/>
                </a:solidFill>
              </a:rPr>
              <a:t>    	print i</a:t>
            </a: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400">
                <a:solidFill>
                  <a:srgbClr val="FFFFFF"/>
                </a:solidFill>
              </a:rPr>
              <a:t>    	i += 1</a:t>
            </a: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400">
                <a:solidFill>
                  <a:srgbClr val="FFFFFF"/>
                </a:solidFill>
              </a:rPr>
              <a:t>else:</a:t>
            </a: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400">
                <a:solidFill>
                  <a:srgbClr val="FFFFFF"/>
                </a:solidFill>
              </a:rPr>
              <a:t>    	print 0</a:t>
            </a: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2" name="Google Shape;782;p151"/>
          <p:cNvSpPr txBox="1">
            <a:spLocks noGrp="1"/>
          </p:cNvSpPr>
          <p:nvPr>
            <p:ph type="body" idx="1"/>
          </p:nvPr>
        </p:nvSpPr>
        <p:spPr>
          <a:xfrm>
            <a:off x="4002500" y="1660700"/>
            <a:ext cx="4641300" cy="272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0 1 2 3 0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0 1 2 0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Error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Runs </a:t>
            </a:r>
            <a:r>
              <a:rPr lang="pt-PT" sz="3600" dirty="0" err="1"/>
              <a:t>infinitely</a:t>
            </a:r>
            <a:r>
              <a:rPr lang="pt-PT" sz="3600" dirty="0"/>
              <a:t> </a:t>
            </a:r>
            <a:endParaRPr sz="3600" dirty="0"/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Google Shape;787;p15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393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400">
                <a:solidFill>
                  <a:srgbClr val="FFFFFF"/>
                </a:solidFill>
              </a:rPr>
              <a:t>What is the output of the following program : </a:t>
            </a: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400">
                <a:solidFill>
                  <a:srgbClr val="FFFFFF"/>
                </a:solidFill>
              </a:rPr>
              <a:t>i = 0</a:t>
            </a: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400">
                <a:solidFill>
                  <a:srgbClr val="FFFFFF"/>
                </a:solidFill>
              </a:rPr>
              <a:t>while i &lt; 5:</a:t>
            </a: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400">
                <a:solidFill>
                  <a:srgbClr val="FFFFFF"/>
                </a:solidFill>
              </a:rPr>
              <a:t>    print(i)</a:t>
            </a: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400">
                <a:solidFill>
                  <a:srgbClr val="FFFFFF"/>
                </a:solidFill>
              </a:rPr>
              <a:t>    i += 1</a:t>
            </a: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400">
                <a:solidFill>
                  <a:srgbClr val="FFFFFF"/>
                </a:solidFill>
              </a:rPr>
              <a:t>    if i == 3:</a:t>
            </a: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400">
                <a:solidFill>
                  <a:srgbClr val="FFFFFF"/>
                </a:solidFill>
              </a:rPr>
              <a:t>        break</a:t>
            </a: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400">
                <a:solidFill>
                  <a:srgbClr val="FFFFFF"/>
                </a:solidFill>
              </a:rPr>
              <a:t>else:</a:t>
            </a: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400">
                <a:solidFill>
                  <a:srgbClr val="FFFFFF"/>
                </a:solidFill>
              </a:rPr>
              <a:t>    print(0)</a:t>
            </a: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8" name="Google Shape;788;p152"/>
          <p:cNvSpPr txBox="1">
            <a:spLocks noGrp="1"/>
          </p:cNvSpPr>
          <p:nvPr>
            <p:ph type="body" idx="1"/>
          </p:nvPr>
        </p:nvSpPr>
        <p:spPr>
          <a:xfrm>
            <a:off x="3664857" y="1660700"/>
            <a:ext cx="4978943" cy="27242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0 1 2 0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0 1 2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Error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 err="1"/>
              <a:t>None</a:t>
            </a:r>
            <a:r>
              <a:rPr lang="pt-PT" sz="3600" dirty="0"/>
              <a:t> </a:t>
            </a:r>
            <a:r>
              <a:rPr lang="pt-PT" sz="3600" dirty="0" err="1"/>
              <a:t>of</a:t>
            </a:r>
            <a:r>
              <a:rPr lang="pt-PT" sz="3600" dirty="0"/>
              <a:t> </a:t>
            </a:r>
            <a:r>
              <a:rPr lang="pt-PT" sz="3600" dirty="0" err="1"/>
              <a:t>the</a:t>
            </a:r>
            <a:r>
              <a:rPr lang="pt-PT" sz="3600" dirty="0"/>
              <a:t> </a:t>
            </a:r>
            <a:r>
              <a:rPr lang="pt-PT" sz="3600" dirty="0" err="1"/>
              <a:t>above</a:t>
            </a:r>
            <a:endParaRPr sz="3600" dirty="0"/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Google Shape;793;p15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127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400" dirty="0" err="1">
                <a:solidFill>
                  <a:srgbClr val="FFFFFF"/>
                </a:solidFill>
              </a:rPr>
              <a:t>What</a:t>
            </a:r>
            <a:r>
              <a:rPr lang="pt-PT" sz="2400" dirty="0">
                <a:solidFill>
                  <a:srgbClr val="FFFFFF"/>
                </a:solidFill>
              </a:rPr>
              <a:t> </a:t>
            </a:r>
            <a:r>
              <a:rPr lang="pt-PT" sz="2400" dirty="0" err="1">
                <a:solidFill>
                  <a:srgbClr val="FFFFFF"/>
                </a:solidFill>
              </a:rPr>
              <a:t>is</a:t>
            </a:r>
            <a:r>
              <a:rPr lang="pt-PT" sz="2400" dirty="0">
                <a:solidFill>
                  <a:srgbClr val="FFFFFF"/>
                </a:solidFill>
              </a:rPr>
              <a:t> </a:t>
            </a:r>
            <a:r>
              <a:rPr lang="pt-PT" sz="2400" dirty="0" err="1">
                <a:solidFill>
                  <a:srgbClr val="FFFFFF"/>
                </a:solidFill>
              </a:rPr>
              <a:t>the</a:t>
            </a:r>
            <a:r>
              <a:rPr lang="pt-PT" sz="2400" dirty="0">
                <a:solidFill>
                  <a:srgbClr val="FFFFFF"/>
                </a:solidFill>
              </a:rPr>
              <a:t> output </a:t>
            </a:r>
            <a:r>
              <a:rPr lang="pt-PT" sz="2400" dirty="0" err="1">
                <a:solidFill>
                  <a:srgbClr val="FFFFFF"/>
                </a:solidFill>
              </a:rPr>
              <a:t>of</a:t>
            </a:r>
            <a:r>
              <a:rPr lang="pt-PT" sz="2400" dirty="0">
                <a:solidFill>
                  <a:srgbClr val="FFFFFF"/>
                </a:solidFill>
              </a:rPr>
              <a:t> </a:t>
            </a:r>
            <a:r>
              <a:rPr lang="pt-PT" sz="2400" dirty="0" err="1">
                <a:solidFill>
                  <a:srgbClr val="FFFFFF"/>
                </a:solidFill>
              </a:rPr>
              <a:t>the</a:t>
            </a:r>
            <a:r>
              <a:rPr lang="pt-PT" sz="2400" dirty="0">
                <a:solidFill>
                  <a:srgbClr val="FFFFFF"/>
                </a:solidFill>
              </a:rPr>
              <a:t> </a:t>
            </a:r>
            <a:r>
              <a:rPr lang="pt-PT" sz="2400" dirty="0" err="1">
                <a:solidFill>
                  <a:srgbClr val="FFFFFF"/>
                </a:solidFill>
              </a:rPr>
              <a:t>following</a:t>
            </a:r>
            <a:r>
              <a:rPr lang="pt-PT" sz="2400" dirty="0">
                <a:solidFill>
                  <a:srgbClr val="FFFFFF"/>
                </a:solidFill>
              </a:rPr>
              <a:t> </a:t>
            </a:r>
            <a:r>
              <a:rPr lang="pt-PT" sz="2400" dirty="0" err="1">
                <a:solidFill>
                  <a:srgbClr val="FFFFFF"/>
                </a:solidFill>
              </a:rPr>
              <a:t>program</a:t>
            </a:r>
            <a:r>
              <a:rPr lang="pt-PT" sz="2400" dirty="0">
                <a:solidFill>
                  <a:srgbClr val="FFFFFF"/>
                </a:solidFill>
              </a:rPr>
              <a:t> :</a:t>
            </a:r>
            <a:endParaRPr sz="24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400" dirty="0">
                <a:solidFill>
                  <a:srgbClr val="FFFFFF"/>
                </a:solidFill>
              </a:rPr>
              <a:t>print '</a:t>
            </a:r>
            <a:r>
              <a:rPr lang="pt-PT" sz="2400" dirty="0" err="1">
                <a:solidFill>
                  <a:srgbClr val="FFFFFF"/>
                </a:solidFill>
              </a:rPr>
              <a:t>abcefd</a:t>
            </a:r>
            <a:r>
              <a:rPr lang="pt-PT" sz="2400" dirty="0">
                <a:solidFill>
                  <a:srgbClr val="FFFFFF"/>
                </a:solidFill>
              </a:rPr>
              <a:t>'.</a:t>
            </a:r>
            <a:r>
              <a:rPr lang="pt-PT" sz="2400" dirty="0" err="1">
                <a:solidFill>
                  <a:srgbClr val="FFFFFF"/>
                </a:solidFill>
              </a:rPr>
              <a:t>replace</a:t>
            </a:r>
            <a:r>
              <a:rPr lang="pt-PT" sz="2400" dirty="0">
                <a:solidFill>
                  <a:srgbClr val="FFFFFF"/>
                </a:solidFill>
              </a:rPr>
              <a:t>('cd', '12')</a:t>
            </a:r>
            <a:endParaRPr sz="24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94" name="Google Shape;794;p153"/>
          <p:cNvSpPr txBox="1">
            <a:spLocks noGrp="1"/>
          </p:cNvSpPr>
          <p:nvPr>
            <p:ph type="body" idx="1"/>
          </p:nvPr>
        </p:nvSpPr>
        <p:spPr>
          <a:xfrm>
            <a:off x="311700" y="1718525"/>
            <a:ext cx="8520600" cy="331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ab1ef2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 err="1"/>
              <a:t>abcefd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ab1efd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ab12ed2</a:t>
            </a:r>
            <a:endParaRPr sz="3600" dirty="0"/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Google Shape;799;p15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393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400" dirty="0" err="1">
                <a:solidFill>
                  <a:srgbClr val="FFFFFF"/>
                </a:solidFill>
              </a:rPr>
              <a:t>What</a:t>
            </a:r>
            <a:r>
              <a:rPr lang="pt-PT" sz="2400" dirty="0">
                <a:solidFill>
                  <a:srgbClr val="FFFFFF"/>
                </a:solidFill>
              </a:rPr>
              <a:t> </a:t>
            </a:r>
            <a:r>
              <a:rPr lang="pt-PT" sz="2400" dirty="0" err="1">
                <a:solidFill>
                  <a:srgbClr val="FFFFFF"/>
                </a:solidFill>
              </a:rPr>
              <a:t>will</a:t>
            </a:r>
            <a:r>
              <a:rPr lang="pt-PT" sz="2400" dirty="0">
                <a:solidFill>
                  <a:srgbClr val="FFFFFF"/>
                </a:solidFill>
              </a:rPr>
              <a:t> </a:t>
            </a:r>
            <a:r>
              <a:rPr lang="pt-PT" sz="2400" dirty="0" err="1">
                <a:solidFill>
                  <a:srgbClr val="FFFFFF"/>
                </a:solidFill>
              </a:rPr>
              <a:t>be</a:t>
            </a:r>
            <a:r>
              <a:rPr lang="pt-PT" sz="2400" dirty="0">
                <a:solidFill>
                  <a:srgbClr val="FFFFFF"/>
                </a:solidFill>
              </a:rPr>
              <a:t> </a:t>
            </a:r>
            <a:r>
              <a:rPr lang="pt-PT" sz="2400" dirty="0" err="1">
                <a:solidFill>
                  <a:srgbClr val="FFFFFF"/>
                </a:solidFill>
              </a:rPr>
              <a:t>displayed</a:t>
            </a:r>
            <a:r>
              <a:rPr lang="pt-PT" sz="2400" dirty="0">
                <a:solidFill>
                  <a:srgbClr val="FFFFFF"/>
                </a:solidFill>
              </a:rPr>
              <a:t> </a:t>
            </a:r>
            <a:r>
              <a:rPr lang="pt-PT" sz="2400" dirty="0" err="1">
                <a:solidFill>
                  <a:srgbClr val="FFFFFF"/>
                </a:solidFill>
              </a:rPr>
              <a:t>by</a:t>
            </a:r>
            <a:r>
              <a:rPr lang="pt-PT" sz="2400" dirty="0">
                <a:solidFill>
                  <a:srgbClr val="FFFFFF"/>
                </a:solidFill>
              </a:rPr>
              <a:t> </a:t>
            </a:r>
            <a:r>
              <a:rPr lang="pt-PT" sz="2400" dirty="0" err="1">
                <a:solidFill>
                  <a:srgbClr val="FFFFFF"/>
                </a:solidFill>
              </a:rPr>
              <a:t>the</a:t>
            </a:r>
            <a:r>
              <a:rPr lang="pt-PT" sz="2400" dirty="0">
                <a:solidFill>
                  <a:srgbClr val="FFFFFF"/>
                </a:solidFill>
              </a:rPr>
              <a:t> </a:t>
            </a:r>
            <a:r>
              <a:rPr lang="pt-PT" sz="2400" dirty="0" err="1">
                <a:solidFill>
                  <a:srgbClr val="FFFFFF"/>
                </a:solidFill>
              </a:rPr>
              <a:t>following</a:t>
            </a:r>
            <a:r>
              <a:rPr lang="pt-PT" sz="2400" dirty="0">
                <a:solidFill>
                  <a:srgbClr val="FFFFFF"/>
                </a:solidFill>
              </a:rPr>
              <a:t> </a:t>
            </a:r>
            <a:r>
              <a:rPr lang="pt-PT" sz="2400" dirty="0" err="1">
                <a:solidFill>
                  <a:srgbClr val="FFFFFF"/>
                </a:solidFill>
              </a:rPr>
              <a:t>code</a:t>
            </a:r>
            <a:r>
              <a:rPr lang="pt-PT" sz="2400" dirty="0">
                <a:solidFill>
                  <a:srgbClr val="FFFFFF"/>
                </a:solidFill>
              </a:rPr>
              <a:t>?</a:t>
            </a:r>
            <a:endParaRPr sz="24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400" dirty="0" err="1">
                <a:solidFill>
                  <a:srgbClr val="FFFFFF"/>
                </a:solidFill>
              </a:rPr>
              <a:t>def</a:t>
            </a:r>
            <a:r>
              <a:rPr lang="pt-PT" sz="2400" dirty="0">
                <a:solidFill>
                  <a:srgbClr val="FFFFFF"/>
                </a:solidFill>
              </a:rPr>
              <a:t> f(</a:t>
            </a:r>
            <a:r>
              <a:rPr lang="pt-PT" sz="2400" dirty="0" err="1">
                <a:solidFill>
                  <a:srgbClr val="FFFFFF"/>
                </a:solidFill>
              </a:rPr>
              <a:t>value</a:t>
            </a:r>
            <a:r>
              <a:rPr lang="pt-PT" sz="2400" dirty="0">
                <a:solidFill>
                  <a:srgbClr val="FFFFFF"/>
                </a:solidFill>
              </a:rPr>
              <a:t>, </a:t>
            </a:r>
            <a:r>
              <a:rPr lang="pt-PT" sz="2400" dirty="0" err="1">
                <a:solidFill>
                  <a:srgbClr val="FFFFFF"/>
                </a:solidFill>
              </a:rPr>
              <a:t>values</a:t>
            </a:r>
            <a:r>
              <a:rPr lang="pt-PT" sz="2400" dirty="0">
                <a:solidFill>
                  <a:srgbClr val="FFFFFF"/>
                </a:solidFill>
              </a:rPr>
              <a:t>):</a:t>
            </a:r>
            <a:endParaRPr sz="24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400" dirty="0">
                <a:solidFill>
                  <a:srgbClr val="FFFFFF"/>
                </a:solidFill>
              </a:rPr>
              <a:t>    v = 1</a:t>
            </a:r>
            <a:endParaRPr sz="24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400" dirty="0">
                <a:solidFill>
                  <a:srgbClr val="FFFFFF"/>
                </a:solidFill>
              </a:rPr>
              <a:t>    </a:t>
            </a:r>
            <a:r>
              <a:rPr lang="pt-PT" sz="2400" dirty="0" err="1">
                <a:solidFill>
                  <a:srgbClr val="FFFFFF"/>
                </a:solidFill>
              </a:rPr>
              <a:t>values</a:t>
            </a:r>
            <a:r>
              <a:rPr lang="pt-PT" sz="2400" dirty="0">
                <a:solidFill>
                  <a:srgbClr val="FFFFFF"/>
                </a:solidFill>
              </a:rPr>
              <a:t>[0] = 44</a:t>
            </a:r>
            <a:endParaRPr sz="24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400" dirty="0">
                <a:solidFill>
                  <a:srgbClr val="FFFFFF"/>
                </a:solidFill>
              </a:rPr>
              <a:t>t = 3</a:t>
            </a:r>
            <a:endParaRPr sz="24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400" dirty="0">
                <a:solidFill>
                  <a:srgbClr val="FFFFFF"/>
                </a:solidFill>
              </a:rPr>
              <a:t>v = [1, 2, 3]</a:t>
            </a:r>
            <a:endParaRPr sz="24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400" dirty="0">
                <a:solidFill>
                  <a:srgbClr val="FFFFFF"/>
                </a:solidFill>
              </a:rPr>
              <a:t>f(t, v)</a:t>
            </a:r>
            <a:endParaRPr sz="24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400" dirty="0">
                <a:solidFill>
                  <a:srgbClr val="FFFFFF"/>
                </a:solidFill>
              </a:rPr>
              <a:t>print(t, v[0])</a:t>
            </a:r>
            <a:endParaRPr sz="24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00" name="Google Shape;800;p154"/>
          <p:cNvSpPr txBox="1">
            <a:spLocks noGrp="1"/>
          </p:cNvSpPr>
          <p:nvPr>
            <p:ph type="body" idx="1"/>
          </p:nvPr>
        </p:nvSpPr>
        <p:spPr>
          <a:xfrm>
            <a:off x="4002500" y="1660700"/>
            <a:ext cx="4641300" cy="272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1 1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1 44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3 1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3 44</a:t>
            </a:r>
            <a:endParaRPr sz="3600" dirty="0"/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Google Shape;805;p15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92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400">
                <a:solidFill>
                  <a:srgbClr val="FFFFFF"/>
                </a:solidFill>
              </a:rPr>
              <a:t>Which of the following statements is true?</a:t>
            </a: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6" name="Google Shape;806;p155"/>
          <p:cNvSpPr txBox="1">
            <a:spLocks noGrp="1"/>
          </p:cNvSpPr>
          <p:nvPr>
            <p:ph type="body" idx="1"/>
          </p:nvPr>
        </p:nvSpPr>
        <p:spPr>
          <a:xfrm>
            <a:off x="311700" y="1139371"/>
            <a:ext cx="8520600" cy="365760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 err="1"/>
              <a:t>Python</a:t>
            </a:r>
            <a:r>
              <a:rPr lang="pt-PT" sz="3600" dirty="0"/>
              <a:t> </a:t>
            </a:r>
            <a:r>
              <a:rPr lang="pt-PT" sz="3600" dirty="0" err="1"/>
              <a:t>is</a:t>
            </a:r>
            <a:r>
              <a:rPr lang="pt-PT" sz="3600" dirty="0"/>
              <a:t> a </a:t>
            </a:r>
            <a:r>
              <a:rPr lang="pt-PT" sz="3600" dirty="0" err="1"/>
              <a:t>high</a:t>
            </a:r>
            <a:r>
              <a:rPr lang="pt-PT" sz="3600" dirty="0"/>
              <a:t> </a:t>
            </a:r>
            <a:r>
              <a:rPr lang="pt-PT" sz="3600" dirty="0" err="1"/>
              <a:t>level</a:t>
            </a:r>
            <a:r>
              <a:rPr lang="pt-PT" sz="3600" dirty="0"/>
              <a:t> </a:t>
            </a:r>
            <a:r>
              <a:rPr lang="pt-PT" sz="3600" dirty="0" err="1"/>
              <a:t>programming</a:t>
            </a:r>
            <a:r>
              <a:rPr lang="pt-PT" sz="3600" dirty="0"/>
              <a:t> </a:t>
            </a:r>
            <a:r>
              <a:rPr lang="pt-PT" sz="3600" dirty="0" err="1"/>
              <a:t>language</a:t>
            </a:r>
            <a:r>
              <a:rPr lang="pt-PT" sz="3600" dirty="0"/>
              <a:t>.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 err="1"/>
              <a:t>Python</a:t>
            </a:r>
            <a:r>
              <a:rPr lang="pt-PT" sz="3600" dirty="0"/>
              <a:t> </a:t>
            </a:r>
            <a:r>
              <a:rPr lang="pt-PT" sz="3600" dirty="0" err="1"/>
              <a:t>is</a:t>
            </a:r>
            <a:r>
              <a:rPr lang="pt-PT" sz="3600" dirty="0"/>
              <a:t> </a:t>
            </a:r>
            <a:r>
              <a:rPr lang="pt-PT" sz="3600" dirty="0" err="1"/>
              <a:t>an</a:t>
            </a:r>
            <a:r>
              <a:rPr lang="pt-PT" sz="3600" dirty="0"/>
              <a:t> </a:t>
            </a:r>
            <a:r>
              <a:rPr lang="pt-PT" sz="3600" dirty="0" err="1"/>
              <a:t>interpreted</a:t>
            </a:r>
            <a:r>
              <a:rPr lang="pt-PT" sz="3600" dirty="0"/>
              <a:t> </a:t>
            </a:r>
            <a:r>
              <a:rPr lang="pt-PT" sz="3600" dirty="0" err="1"/>
              <a:t>language</a:t>
            </a:r>
            <a:r>
              <a:rPr lang="pt-PT" sz="3600" dirty="0"/>
              <a:t>.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 err="1"/>
              <a:t>Python</a:t>
            </a:r>
            <a:r>
              <a:rPr lang="pt-PT" sz="3600" dirty="0"/>
              <a:t> </a:t>
            </a:r>
            <a:r>
              <a:rPr lang="pt-PT" sz="3600" dirty="0" err="1"/>
              <a:t>is</a:t>
            </a:r>
            <a:r>
              <a:rPr lang="pt-PT" sz="3600" dirty="0"/>
              <a:t> </a:t>
            </a:r>
            <a:r>
              <a:rPr lang="pt-PT" sz="3600" dirty="0" err="1"/>
              <a:t>an</a:t>
            </a:r>
            <a:r>
              <a:rPr lang="pt-PT" sz="3600" dirty="0"/>
              <a:t> </a:t>
            </a:r>
            <a:r>
              <a:rPr lang="pt-PT" sz="3600" dirty="0" err="1"/>
              <a:t>object-oriented</a:t>
            </a:r>
            <a:r>
              <a:rPr lang="pt-PT" sz="3600" dirty="0"/>
              <a:t> </a:t>
            </a:r>
            <a:r>
              <a:rPr lang="pt-PT" sz="3600" dirty="0" err="1"/>
              <a:t>language</a:t>
            </a:r>
            <a:r>
              <a:rPr lang="pt-PT" sz="3600" dirty="0"/>
              <a:t>.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 err="1"/>
              <a:t>All</a:t>
            </a:r>
            <a:r>
              <a:rPr lang="pt-PT" sz="3600" dirty="0"/>
              <a:t> </a:t>
            </a:r>
            <a:r>
              <a:rPr lang="pt-PT" sz="3600" dirty="0" err="1"/>
              <a:t>of</a:t>
            </a:r>
            <a:r>
              <a:rPr lang="pt-PT" sz="3600" dirty="0"/>
              <a:t> </a:t>
            </a:r>
            <a:r>
              <a:rPr lang="pt-PT" sz="3600" dirty="0" err="1"/>
              <a:t>the</a:t>
            </a:r>
            <a:r>
              <a:rPr lang="pt-PT" sz="3600" dirty="0"/>
              <a:t> </a:t>
            </a:r>
            <a:r>
              <a:rPr lang="pt-PT" sz="3600" dirty="0" err="1"/>
              <a:t>above</a:t>
            </a:r>
            <a:r>
              <a:rPr lang="pt-PT" sz="3600" dirty="0"/>
              <a:t>.</a:t>
            </a:r>
            <a:endParaRPr sz="3600" dirty="0"/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Google Shape;811;p15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92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PT" sz="2400">
                <a:solidFill>
                  <a:srgbClr val="FFFFFF"/>
                </a:solidFill>
              </a:rPr>
              <a:t>Which of the following is correct? </a:t>
            </a: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2" name="Google Shape;812;p156"/>
          <p:cNvSpPr txBox="1">
            <a:spLocks noGrp="1"/>
          </p:cNvSpPr>
          <p:nvPr>
            <p:ph type="body" idx="1"/>
          </p:nvPr>
        </p:nvSpPr>
        <p:spPr>
          <a:xfrm>
            <a:off x="311700" y="1370825"/>
            <a:ext cx="8520600" cy="366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52450" lvl="0" indent="-514350" algn="l" rtl="0">
              <a:spcBef>
                <a:spcPts val="0"/>
              </a:spcBef>
              <a:spcAft>
                <a:spcPts val="0"/>
              </a:spcAft>
              <a:buSzPts val="3000"/>
              <a:buFont typeface="+mj-lt"/>
              <a:buAutoNum type="arabicPeriod"/>
            </a:pPr>
            <a:r>
              <a:rPr lang="pt-PT" sz="3000" dirty="0" err="1"/>
              <a:t>Variable</a:t>
            </a:r>
            <a:r>
              <a:rPr lang="pt-PT" sz="3000" dirty="0"/>
              <a:t> </a:t>
            </a:r>
            <a:r>
              <a:rPr lang="pt-PT" sz="3000" dirty="0" err="1"/>
              <a:t>name</a:t>
            </a:r>
            <a:r>
              <a:rPr lang="pt-PT" sz="3000" dirty="0"/>
              <a:t> can </a:t>
            </a:r>
            <a:r>
              <a:rPr lang="pt-PT" sz="3000" dirty="0" err="1"/>
              <a:t>start</a:t>
            </a:r>
            <a:r>
              <a:rPr lang="pt-PT" sz="3000" dirty="0"/>
              <a:t> </a:t>
            </a:r>
            <a:r>
              <a:rPr lang="pt-PT" sz="3000" dirty="0" err="1"/>
              <a:t>with</a:t>
            </a:r>
            <a:r>
              <a:rPr lang="pt-PT" sz="3000" dirty="0"/>
              <a:t> </a:t>
            </a:r>
            <a:r>
              <a:rPr lang="pt-PT" sz="3000" dirty="0" err="1"/>
              <a:t>an</a:t>
            </a:r>
            <a:r>
              <a:rPr lang="pt-PT" sz="3000" dirty="0"/>
              <a:t> </a:t>
            </a:r>
            <a:r>
              <a:rPr lang="pt-PT" sz="3000" dirty="0" err="1"/>
              <a:t>underscore</a:t>
            </a:r>
            <a:r>
              <a:rPr lang="pt-PT" sz="3000" dirty="0"/>
              <a:t>.</a:t>
            </a:r>
            <a:endParaRPr sz="3000" dirty="0"/>
          </a:p>
          <a:p>
            <a:pPr marL="552450" lvl="0" indent="-514350" algn="l" rtl="0">
              <a:spcBef>
                <a:spcPts val="0"/>
              </a:spcBef>
              <a:spcAft>
                <a:spcPts val="0"/>
              </a:spcAft>
              <a:buSzPts val="3000"/>
              <a:buFont typeface="+mj-lt"/>
              <a:buAutoNum type="arabicPeriod"/>
            </a:pPr>
            <a:r>
              <a:rPr lang="pt-PT" sz="3000" dirty="0" err="1"/>
              <a:t>Variable</a:t>
            </a:r>
            <a:r>
              <a:rPr lang="pt-PT" sz="3000" dirty="0"/>
              <a:t> </a:t>
            </a:r>
            <a:r>
              <a:rPr lang="pt-PT" sz="3000" dirty="0" err="1"/>
              <a:t>name</a:t>
            </a:r>
            <a:r>
              <a:rPr lang="pt-PT" sz="3000" dirty="0"/>
              <a:t> can </a:t>
            </a:r>
            <a:r>
              <a:rPr lang="pt-PT" sz="3000" dirty="0" err="1"/>
              <a:t>start</a:t>
            </a:r>
            <a:r>
              <a:rPr lang="pt-PT" sz="3000" dirty="0"/>
              <a:t> </a:t>
            </a:r>
            <a:r>
              <a:rPr lang="pt-PT" sz="3000" dirty="0" err="1"/>
              <a:t>with</a:t>
            </a:r>
            <a:r>
              <a:rPr lang="pt-PT" sz="3000" dirty="0"/>
              <a:t> a </a:t>
            </a:r>
            <a:r>
              <a:rPr lang="pt-PT" sz="3000" dirty="0" err="1"/>
              <a:t>digit</a:t>
            </a:r>
            <a:r>
              <a:rPr lang="pt-PT" sz="3000" dirty="0"/>
              <a:t>.</a:t>
            </a:r>
            <a:endParaRPr sz="3000" dirty="0"/>
          </a:p>
          <a:p>
            <a:pPr marL="552450" lvl="0" indent="-514350" algn="l" rtl="0">
              <a:spcBef>
                <a:spcPts val="0"/>
              </a:spcBef>
              <a:spcAft>
                <a:spcPts val="0"/>
              </a:spcAft>
              <a:buSzPts val="3000"/>
              <a:buFont typeface="+mj-lt"/>
              <a:buAutoNum type="arabicPeriod"/>
            </a:pPr>
            <a:r>
              <a:rPr lang="pt-PT" sz="3000" dirty="0" err="1"/>
              <a:t>Keywords</a:t>
            </a:r>
            <a:r>
              <a:rPr lang="pt-PT" sz="3000" dirty="0"/>
              <a:t> </a:t>
            </a:r>
            <a:r>
              <a:rPr lang="pt-PT" sz="3000" dirty="0" err="1"/>
              <a:t>cannot</a:t>
            </a:r>
            <a:r>
              <a:rPr lang="pt-PT" sz="3000" dirty="0"/>
              <a:t> </a:t>
            </a:r>
            <a:r>
              <a:rPr lang="pt-PT" sz="3000" dirty="0" err="1"/>
              <a:t>be</a:t>
            </a:r>
            <a:r>
              <a:rPr lang="pt-PT" sz="3000" dirty="0"/>
              <a:t> </a:t>
            </a:r>
            <a:r>
              <a:rPr lang="pt-PT" sz="3000" dirty="0" err="1"/>
              <a:t>used</a:t>
            </a:r>
            <a:r>
              <a:rPr lang="pt-PT" sz="3000" dirty="0"/>
              <a:t> as a </a:t>
            </a:r>
            <a:r>
              <a:rPr lang="pt-PT" sz="3000" dirty="0" err="1"/>
              <a:t>variable</a:t>
            </a:r>
            <a:r>
              <a:rPr lang="pt-PT" sz="3000" dirty="0"/>
              <a:t> </a:t>
            </a:r>
            <a:r>
              <a:rPr lang="pt-PT" sz="3000" dirty="0" err="1"/>
              <a:t>name</a:t>
            </a:r>
            <a:r>
              <a:rPr lang="pt-PT" sz="3000" dirty="0"/>
              <a:t>.</a:t>
            </a:r>
            <a:endParaRPr sz="3000" dirty="0"/>
          </a:p>
          <a:p>
            <a:pPr marL="552450" lvl="0" indent="-514350" algn="l" rtl="0">
              <a:spcBef>
                <a:spcPts val="0"/>
              </a:spcBef>
              <a:spcAft>
                <a:spcPts val="0"/>
              </a:spcAft>
              <a:buSzPts val="3000"/>
              <a:buFont typeface="+mj-lt"/>
              <a:buAutoNum type="arabicPeriod"/>
            </a:pPr>
            <a:r>
              <a:rPr lang="pt-PT" sz="3000" dirty="0" err="1"/>
              <a:t>Variable</a:t>
            </a:r>
            <a:r>
              <a:rPr lang="pt-PT" sz="3000" dirty="0"/>
              <a:t> </a:t>
            </a:r>
            <a:r>
              <a:rPr lang="pt-PT" sz="3000" dirty="0" err="1"/>
              <a:t>name</a:t>
            </a:r>
            <a:r>
              <a:rPr lang="pt-PT" sz="3000" dirty="0"/>
              <a:t> can </a:t>
            </a:r>
            <a:r>
              <a:rPr lang="pt-PT" sz="3000" dirty="0" err="1"/>
              <a:t>have</a:t>
            </a:r>
            <a:r>
              <a:rPr lang="pt-PT" sz="3000" dirty="0"/>
              <a:t> </a:t>
            </a:r>
            <a:r>
              <a:rPr lang="pt-PT" sz="3000" dirty="0" err="1"/>
              <a:t>symbols</a:t>
            </a:r>
            <a:r>
              <a:rPr lang="pt-PT" sz="3000" dirty="0"/>
              <a:t> </a:t>
            </a:r>
            <a:r>
              <a:rPr lang="pt-PT" sz="3000" dirty="0" err="1"/>
              <a:t>like</a:t>
            </a:r>
            <a:r>
              <a:rPr lang="pt-PT" sz="3000" dirty="0"/>
              <a:t>: @, #, $ etc.</a:t>
            </a:r>
            <a:endParaRPr sz="3000" dirty="0"/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Google Shape;817;p15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128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2400">
                <a:solidFill>
                  <a:srgbClr val="FFFFFF"/>
                </a:solidFill>
              </a:rPr>
              <a:t>What is the output of the following code?</a:t>
            </a:r>
            <a:endParaRPr sz="240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AutoNum type="arabicPeriod"/>
            </a:pPr>
            <a:r>
              <a:rPr lang="pt-PT" sz="2400">
                <a:solidFill>
                  <a:srgbClr val="FFFFFF"/>
                </a:solidFill>
              </a:rPr>
              <a:t>print(1, 2, 3, 4, sep='*')</a:t>
            </a: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8" name="Google Shape;818;p157"/>
          <p:cNvSpPr txBox="1">
            <a:spLocks noGrp="1"/>
          </p:cNvSpPr>
          <p:nvPr>
            <p:ph type="body" idx="1"/>
          </p:nvPr>
        </p:nvSpPr>
        <p:spPr>
          <a:xfrm>
            <a:off x="311700" y="1882200"/>
            <a:ext cx="8520600" cy="315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1 2 3 4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1234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1*2*3*4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24</a:t>
            </a:r>
            <a:endParaRPr sz="3600" dirty="0"/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3" name="Google Shape;823;p15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128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pt-PT" sz="2400" dirty="0" err="1">
                <a:solidFill>
                  <a:srgbClr val="FFFFFF"/>
                </a:solidFill>
              </a:rPr>
              <a:t>Suppose</a:t>
            </a:r>
            <a:r>
              <a:rPr lang="pt-PT" sz="2400" dirty="0">
                <a:solidFill>
                  <a:srgbClr val="FFFFFF"/>
                </a:solidFill>
              </a:rPr>
              <a:t> a </a:t>
            </a:r>
            <a:r>
              <a:rPr lang="pt-PT" sz="2400" dirty="0" err="1">
                <a:solidFill>
                  <a:srgbClr val="FFFFFF"/>
                </a:solidFill>
              </a:rPr>
              <a:t>list</a:t>
            </a:r>
            <a:r>
              <a:rPr lang="pt-PT" sz="2400" dirty="0">
                <a:solidFill>
                  <a:srgbClr val="FFFFFF"/>
                </a:solidFill>
              </a:rPr>
              <a:t> </a:t>
            </a:r>
            <a:r>
              <a:rPr lang="pt-PT" sz="2400" dirty="0" err="1">
                <a:solidFill>
                  <a:srgbClr val="FFFFFF"/>
                </a:solidFill>
              </a:rPr>
              <a:t>with</a:t>
            </a:r>
            <a:r>
              <a:rPr lang="pt-PT" sz="2400" dirty="0">
                <a:solidFill>
                  <a:srgbClr val="FFFFFF"/>
                </a:solidFill>
              </a:rPr>
              <a:t> </a:t>
            </a:r>
            <a:r>
              <a:rPr lang="pt-PT" sz="2400" dirty="0" err="1">
                <a:solidFill>
                  <a:srgbClr val="FFFFFF"/>
                </a:solidFill>
              </a:rPr>
              <a:t>name</a:t>
            </a:r>
            <a:r>
              <a:rPr lang="pt-PT" sz="2400" dirty="0">
                <a:solidFill>
                  <a:srgbClr val="FFFFFF"/>
                </a:solidFill>
              </a:rPr>
              <a:t> </a:t>
            </a:r>
            <a:r>
              <a:rPr lang="pt-PT" sz="2400" dirty="0" err="1">
                <a:solidFill>
                  <a:srgbClr val="FFFFFF"/>
                </a:solidFill>
              </a:rPr>
              <a:t>test</a:t>
            </a:r>
            <a:r>
              <a:rPr lang="pt-PT" sz="2400" dirty="0">
                <a:solidFill>
                  <a:srgbClr val="FFFFFF"/>
                </a:solidFill>
              </a:rPr>
              <a:t>, </a:t>
            </a:r>
            <a:r>
              <a:rPr lang="pt-PT" sz="2400" dirty="0" err="1">
                <a:solidFill>
                  <a:srgbClr val="FFFFFF"/>
                </a:solidFill>
              </a:rPr>
              <a:t>contains</a:t>
            </a:r>
            <a:r>
              <a:rPr lang="pt-PT" sz="2400" dirty="0">
                <a:solidFill>
                  <a:srgbClr val="FFFFFF"/>
                </a:solidFill>
              </a:rPr>
              <a:t> 10 </a:t>
            </a:r>
            <a:r>
              <a:rPr lang="pt-PT" sz="2400" dirty="0" err="1">
                <a:solidFill>
                  <a:srgbClr val="FFFFFF"/>
                </a:solidFill>
              </a:rPr>
              <a:t>elements</a:t>
            </a:r>
            <a:r>
              <a:rPr lang="pt-PT" sz="2400" dirty="0">
                <a:solidFill>
                  <a:srgbClr val="FFFFFF"/>
                </a:solidFill>
              </a:rPr>
              <a:t>. </a:t>
            </a:r>
            <a:r>
              <a:rPr lang="pt-PT" sz="2400" dirty="0" err="1">
                <a:solidFill>
                  <a:srgbClr val="FFFFFF"/>
                </a:solidFill>
              </a:rPr>
              <a:t>You</a:t>
            </a:r>
            <a:r>
              <a:rPr lang="pt-PT" sz="2400" dirty="0">
                <a:solidFill>
                  <a:srgbClr val="FFFFFF"/>
                </a:solidFill>
              </a:rPr>
              <a:t> can </a:t>
            </a:r>
            <a:r>
              <a:rPr lang="pt-PT" sz="2400" dirty="0" err="1">
                <a:solidFill>
                  <a:srgbClr val="FFFFFF"/>
                </a:solidFill>
              </a:rPr>
              <a:t>get</a:t>
            </a:r>
            <a:r>
              <a:rPr lang="pt-PT" sz="2400" dirty="0">
                <a:solidFill>
                  <a:srgbClr val="FFFFFF"/>
                </a:solidFill>
              </a:rPr>
              <a:t> </a:t>
            </a:r>
            <a:r>
              <a:rPr lang="pt-PT" sz="2400" dirty="0" err="1">
                <a:solidFill>
                  <a:srgbClr val="FFFFFF"/>
                </a:solidFill>
              </a:rPr>
              <a:t>the</a:t>
            </a:r>
            <a:r>
              <a:rPr lang="pt-PT" sz="2400" dirty="0">
                <a:solidFill>
                  <a:srgbClr val="FFFFFF"/>
                </a:solidFill>
              </a:rPr>
              <a:t> 5</a:t>
            </a:r>
            <a:r>
              <a:rPr lang="pt-PT" sz="2400" baseline="30000" dirty="0">
                <a:solidFill>
                  <a:srgbClr val="FFFFFF"/>
                </a:solidFill>
              </a:rPr>
              <a:t>th</a:t>
            </a:r>
            <a:r>
              <a:rPr lang="pt-PT" sz="2400" dirty="0">
                <a:solidFill>
                  <a:srgbClr val="FFFFFF"/>
                </a:solidFill>
              </a:rPr>
              <a:t> </a:t>
            </a:r>
            <a:r>
              <a:rPr lang="pt-PT" sz="2400" dirty="0" err="1">
                <a:solidFill>
                  <a:srgbClr val="FFFFFF"/>
                </a:solidFill>
              </a:rPr>
              <a:t>element</a:t>
            </a:r>
            <a:r>
              <a:rPr lang="pt-PT" sz="2400" dirty="0">
                <a:solidFill>
                  <a:srgbClr val="FFFFFF"/>
                </a:solidFill>
              </a:rPr>
              <a:t> </a:t>
            </a:r>
            <a:r>
              <a:rPr lang="pt-PT" sz="2400" dirty="0" err="1">
                <a:solidFill>
                  <a:srgbClr val="FFFFFF"/>
                </a:solidFill>
              </a:rPr>
              <a:t>from</a:t>
            </a:r>
            <a:r>
              <a:rPr lang="pt-PT" sz="2400" dirty="0">
                <a:solidFill>
                  <a:srgbClr val="FFFFFF"/>
                </a:solidFill>
              </a:rPr>
              <a:t> </a:t>
            </a:r>
            <a:r>
              <a:rPr lang="pt-PT" sz="2400" dirty="0" err="1">
                <a:solidFill>
                  <a:srgbClr val="FFFFFF"/>
                </a:solidFill>
              </a:rPr>
              <a:t>the</a:t>
            </a:r>
            <a:r>
              <a:rPr lang="pt-PT" sz="2400" dirty="0">
                <a:solidFill>
                  <a:srgbClr val="FFFFFF"/>
                </a:solidFill>
              </a:rPr>
              <a:t> </a:t>
            </a:r>
            <a:r>
              <a:rPr lang="pt-PT" sz="2400" dirty="0" err="1">
                <a:solidFill>
                  <a:srgbClr val="FFFFFF"/>
                </a:solidFill>
              </a:rPr>
              <a:t>test</a:t>
            </a:r>
            <a:r>
              <a:rPr lang="pt-PT" sz="2400" dirty="0">
                <a:solidFill>
                  <a:srgbClr val="FFFFFF"/>
                </a:solidFill>
              </a:rPr>
              <a:t> </a:t>
            </a:r>
            <a:r>
              <a:rPr lang="pt-PT" sz="2400" dirty="0" err="1">
                <a:solidFill>
                  <a:srgbClr val="FFFFFF"/>
                </a:solidFill>
              </a:rPr>
              <a:t>list</a:t>
            </a:r>
            <a:r>
              <a:rPr lang="pt-PT" sz="2400" dirty="0">
                <a:solidFill>
                  <a:srgbClr val="FFFFFF"/>
                </a:solidFill>
              </a:rPr>
              <a:t> </a:t>
            </a:r>
            <a:r>
              <a:rPr lang="pt-PT" sz="2400" dirty="0" err="1">
                <a:solidFill>
                  <a:srgbClr val="FFFFFF"/>
                </a:solidFill>
              </a:rPr>
              <a:t>using</a:t>
            </a:r>
            <a:r>
              <a:rPr lang="pt-PT" sz="2400" dirty="0">
                <a:solidFill>
                  <a:srgbClr val="FFFFFF"/>
                </a:solidFill>
              </a:rPr>
              <a:t>:</a:t>
            </a:r>
            <a:endParaRPr sz="24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8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24" name="Google Shape;824;p158"/>
          <p:cNvSpPr txBox="1">
            <a:spLocks noGrp="1"/>
          </p:cNvSpPr>
          <p:nvPr>
            <p:ph type="body" idx="1"/>
          </p:nvPr>
        </p:nvSpPr>
        <p:spPr>
          <a:xfrm>
            <a:off x="311700" y="1882200"/>
            <a:ext cx="8520600" cy="315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 err="1"/>
              <a:t>test</a:t>
            </a:r>
            <a:r>
              <a:rPr lang="pt-PT" sz="3600" dirty="0"/>
              <a:t>[5]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 err="1"/>
              <a:t>test</a:t>
            </a:r>
            <a:r>
              <a:rPr lang="pt-PT" sz="3600" dirty="0"/>
              <a:t>[4]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 err="1"/>
              <a:t>test</a:t>
            </a:r>
            <a:r>
              <a:rPr lang="pt-PT" sz="3600" dirty="0"/>
              <a:t>['5']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 err="1"/>
              <a:t>test</a:t>
            </a:r>
            <a:r>
              <a:rPr lang="pt-PT" sz="3600" dirty="0"/>
              <a:t>['4']</a:t>
            </a:r>
            <a:endParaRPr sz="3600" dirty="0"/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" name="Google Shape;829;p15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128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2400">
                <a:solidFill>
                  <a:srgbClr val="FFFFFF"/>
                </a:solidFill>
              </a:rPr>
              <a:t>What is the output of the following program?</a:t>
            </a:r>
            <a:endParaRPr sz="240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AutoNum type="arabicPeriod"/>
            </a:pPr>
            <a:r>
              <a:rPr lang="pt-PT" sz="2400">
                <a:solidFill>
                  <a:srgbClr val="FFFFFF"/>
                </a:solidFill>
              </a:rPr>
              <a:t>language = ['P', 'y', 't', 'h', 'o', 'n']</a:t>
            </a:r>
            <a:endParaRPr sz="240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AutoNum type="arabicPeriod"/>
            </a:pPr>
            <a:r>
              <a:rPr lang="pt-PT" sz="2400">
                <a:solidFill>
                  <a:srgbClr val="FFFFFF"/>
                </a:solidFill>
              </a:rPr>
              <a:t>print(language[:-4])</a:t>
            </a: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0" name="Google Shape;830;p159"/>
          <p:cNvSpPr txBox="1">
            <a:spLocks noGrp="1"/>
          </p:cNvSpPr>
          <p:nvPr>
            <p:ph type="body" idx="1"/>
          </p:nvPr>
        </p:nvSpPr>
        <p:spPr>
          <a:xfrm>
            <a:off x="311700" y="2349400"/>
            <a:ext cx="8520600" cy="268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'</a:t>
            </a:r>
            <a:r>
              <a:rPr lang="pt-PT" sz="3600" dirty="0" err="1"/>
              <a:t>Py</a:t>
            </a:r>
            <a:r>
              <a:rPr lang="pt-PT" sz="3600" dirty="0"/>
              <a:t>'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['P', 'y']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['P', 'y', 't', 'h', 'o']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[-4]</a:t>
            </a:r>
            <a:endParaRPr sz="3600" dirty="0"/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5" name="Google Shape;835;p16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128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pt-PT" sz="2400">
                <a:solidFill>
                  <a:srgbClr val="FFFFFF"/>
                </a:solidFill>
              </a:rPr>
              <a:t>Suppose a tuple test contains 5 elements. How can you set the 3</a:t>
            </a:r>
            <a:r>
              <a:rPr lang="pt-PT" sz="2400" baseline="30000">
                <a:solidFill>
                  <a:srgbClr val="FFFFFF"/>
                </a:solidFill>
              </a:rPr>
              <a:t>rd</a:t>
            </a:r>
            <a:r>
              <a:rPr lang="pt-PT" sz="2400">
                <a:solidFill>
                  <a:srgbClr val="FFFFFF"/>
                </a:solidFill>
              </a:rPr>
              <a:t> element of the tuple to ‘Python’?</a:t>
            </a: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6" name="Google Shape;836;p160"/>
          <p:cNvSpPr txBox="1">
            <a:spLocks noGrp="1"/>
          </p:cNvSpPr>
          <p:nvPr>
            <p:ph type="body" idx="1"/>
          </p:nvPr>
        </p:nvSpPr>
        <p:spPr>
          <a:xfrm>
            <a:off x="311700" y="1882200"/>
            <a:ext cx="8520600" cy="315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742950" lvl="0" indent="-742950" algn="l" rtl="0">
              <a:spcBef>
                <a:spcPts val="120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 err="1"/>
              <a:t>test</a:t>
            </a:r>
            <a:r>
              <a:rPr lang="pt-PT" sz="3600" dirty="0"/>
              <a:t>[2] = '</a:t>
            </a:r>
            <a:r>
              <a:rPr lang="pt-PT" sz="3600" dirty="0" err="1"/>
              <a:t>Python</a:t>
            </a:r>
            <a:r>
              <a:rPr lang="pt-PT" sz="3600" dirty="0"/>
              <a:t>'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 err="1"/>
              <a:t>test</a:t>
            </a:r>
            <a:r>
              <a:rPr lang="pt-PT" sz="3600" dirty="0"/>
              <a:t>(2) = '</a:t>
            </a:r>
            <a:r>
              <a:rPr lang="pt-PT" sz="3600" dirty="0" err="1"/>
              <a:t>Python</a:t>
            </a:r>
            <a:r>
              <a:rPr lang="pt-PT" sz="3600" dirty="0"/>
              <a:t>'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 err="1"/>
              <a:t>test</a:t>
            </a:r>
            <a:r>
              <a:rPr lang="pt-PT" sz="3600" dirty="0"/>
              <a:t>[3] = '</a:t>
            </a:r>
            <a:r>
              <a:rPr lang="pt-PT" sz="3600" dirty="0" err="1"/>
              <a:t>Python</a:t>
            </a:r>
            <a:r>
              <a:rPr lang="pt-PT" sz="3600" dirty="0"/>
              <a:t>'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 err="1"/>
              <a:t>Elements</a:t>
            </a:r>
            <a:r>
              <a:rPr lang="pt-PT" sz="3600" dirty="0"/>
              <a:t> </a:t>
            </a:r>
            <a:r>
              <a:rPr lang="pt-PT" sz="3600" dirty="0" err="1"/>
              <a:t>of</a:t>
            </a:r>
            <a:r>
              <a:rPr lang="pt-PT" sz="3600" dirty="0"/>
              <a:t> </a:t>
            </a:r>
            <a:r>
              <a:rPr lang="pt-PT" sz="3600" dirty="0" err="1"/>
              <a:t>tuple</a:t>
            </a:r>
            <a:r>
              <a:rPr lang="pt-PT" sz="3600" dirty="0"/>
              <a:t> </a:t>
            </a:r>
            <a:r>
              <a:rPr lang="pt-PT" sz="3600" dirty="0" err="1"/>
              <a:t>cannot</a:t>
            </a:r>
            <a:r>
              <a:rPr lang="pt-PT" sz="3600" dirty="0"/>
              <a:t> </a:t>
            </a:r>
            <a:r>
              <a:rPr lang="pt-PT" sz="3600" dirty="0" err="1"/>
              <a:t>be</a:t>
            </a:r>
            <a:r>
              <a:rPr lang="pt-PT" sz="3600" dirty="0"/>
              <a:t> </a:t>
            </a:r>
            <a:r>
              <a:rPr lang="pt-PT" sz="3600" dirty="0" err="1"/>
              <a:t>changed</a:t>
            </a:r>
            <a:endParaRPr sz="3600" dirty="0"/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1" name="Google Shape;841;p16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128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2400">
                <a:solidFill>
                  <a:srgbClr val="FFFFFF"/>
                </a:solidFill>
              </a:rPr>
              <a:t>What is the output of the following program?</a:t>
            </a:r>
            <a:endParaRPr sz="240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AutoNum type="arabicPeriod"/>
            </a:pPr>
            <a:r>
              <a:rPr lang="pt-PT" sz="2400">
                <a:solidFill>
                  <a:srgbClr val="FFFFFF"/>
                </a:solidFill>
              </a:rPr>
              <a:t>print((1, 2) + (3, 4))</a:t>
            </a: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2" name="Google Shape;842;p161"/>
          <p:cNvSpPr txBox="1">
            <a:spLocks noGrp="1"/>
          </p:cNvSpPr>
          <p:nvPr>
            <p:ph type="body" idx="1"/>
          </p:nvPr>
        </p:nvSpPr>
        <p:spPr>
          <a:xfrm>
            <a:off x="311700" y="1882200"/>
            <a:ext cx="8520600" cy="315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(4, 6)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(1, 2, 3, 4)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((1, 2), (3, 4))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Error!</a:t>
            </a:r>
            <a:endParaRPr sz="3600" dirty="0"/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p16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128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2400">
                <a:solidFill>
                  <a:srgbClr val="FFFFFF"/>
                </a:solidFill>
              </a:rPr>
              <a:t>What is the output of the following program?</a:t>
            </a:r>
            <a:endParaRPr sz="240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AutoNum type="arabicPeriod"/>
            </a:pPr>
            <a:r>
              <a:rPr lang="pt-PT" sz="2400">
                <a:solidFill>
                  <a:srgbClr val="FFFFFF"/>
                </a:solidFill>
              </a:rPr>
              <a:t>names = "{1}, {2} and {0}".format('John', 'Bill', 'Sean')</a:t>
            </a:r>
            <a:endParaRPr sz="240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AutoNum type="arabicPeriod"/>
            </a:pPr>
            <a:r>
              <a:rPr lang="pt-PT" sz="2400">
                <a:solidFill>
                  <a:srgbClr val="FFFFFF"/>
                </a:solidFill>
              </a:rPr>
              <a:t>print(names)</a:t>
            </a:r>
            <a:endParaRPr sz="2400">
              <a:solidFill>
                <a:srgbClr val="FFFFFF"/>
              </a:solidFill>
            </a:endParaRPr>
          </a:p>
          <a:p>
            <a:pPr marL="45720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8" name="Google Shape;848;p162"/>
          <p:cNvSpPr txBox="1">
            <a:spLocks noGrp="1"/>
          </p:cNvSpPr>
          <p:nvPr>
            <p:ph type="body" idx="1"/>
          </p:nvPr>
        </p:nvSpPr>
        <p:spPr>
          <a:xfrm>
            <a:off x="311700" y="2327150"/>
            <a:ext cx="8520600" cy="270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John, Bill </a:t>
            </a:r>
            <a:r>
              <a:rPr lang="pt-PT" sz="3600" dirty="0" err="1"/>
              <a:t>and</a:t>
            </a:r>
            <a:r>
              <a:rPr lang="pt-PT" sz="3600" dirty="0"/>
              <a:t> Sean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Bill, Sean </a:t>
            </a:r>
            <a:r>
              <a:rPr lang="pt-PT" sz="3600" dirty="0" err="1"/>
              <a:t>and</a:t>
            </a:r>
            <a:r>
              <a:rPr lang="pt-PT" sz="3600" dirty="0"/>
              <a:t> John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John, Bill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Bill, Sean</a:t>
            </a:r>
            <a:endParaRPr sz="3600" dirty="0"/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Google Shape;853;p16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114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pt-PT" sz="2400">
                <a:solidFill>
                  <a:srgbClr val="FFFFFF"/>
                </a:solidFill>
              </a:rPr>
              <a:t>Which of the following statement is true?</a:t>
            </a: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4" name="Google Shape;854;p163"/>
          <p:cNvSpPr txBox="1">
            <a:spLocks noGrp="1"/>
          </p:cNvSpPr>
          <p:nvPr>
            <p:ph type="body" idx="1"/>
          </p:nvPr>
        </p:nvSpPr>
        <p:spPr>
          <a:xfrm>
            <a:off x="311700" y="1592825"/>
            <a:ext cx="8520600" cy="344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57200" algn="l" rtl="0">
              <a:spcBef>
                <a:spcPts val="0"/>
              </a:spcBef>
              <a:spcAft>
                <a:spcPts val="0"/>
              </a:spcAft>
              <a:buSzPts val="3600"/>
              <a:buChar char="●"/>
            </a:pPr>
            <a:r>
              <a:rPr lang="pt-PT" sz="3600"/>
              <a:t>A set is an unordered collection of items.</a:t>
            </a:r>
            <a:endParaRPr sz="3600"/>
          </a:p>
          <a:p>
            <a:pPr marL="457200" lvl="0" indent="-457200" algn="l" rtl="0">
              <a:spcBef>
                <a:spcPts val="0"/>
              </a:spcBef>
              <a:spcAft>
                <a:spcPts val="0"/>
              </a:spcAft>
              <a:buSzPts val="3600"/>
              <a:buChar char="●"/>
            </a:pPr>
            <a:r>
              <a:rPr lang="pt-PT" sz="3600"/>
              <a:t>Elements of set are unique.</a:t>
            </a:r>
            <a:endParaRPr sz="3600"/>
          </a:p>
          <a:p>
            <a:pPr marL="457200" lvl="0" indent="-457200" algn="l" rtl="0">
              <a:spcBef>
                <a:spcPts val="0"/>
              </a:spcBef>
              <a:spcAft>
                <a:spcPts val="0"/>
              </a:spcAft>
              <a:buSzPts val="3600"/>
              <a:buChar char="●"/>
            </a:pPr>
            <a:r>
              <a:rPr lang="pt-PT" sz="3600"/>
              <a:t>You can change elements of set unlike tuple.</a:t>
            </a:r>
            <a:endParaRPr sz="3600"/>
          </a:p>
          <a:p>
            <a:pPr marL="457200" lvl="0" indent="-457200" algn="l" rtl="0">
              <a:spcBef>
                <a:spcPts val="0"/>
              </a:spcBef>
              <a:spcAft>
                <a:spcPts val="0"/>
              </a:spcAft>
              <a:buSzPts val="3600"/>
              <a:buChar char="●"/>
            </a:pPr>
            <a:r>
              <a:rPr lang="pt-PT" sz="3600"/>
              <a:t>All of the above.</a:t>
            </a:r>
            <a:endParaRPr sz="3600"/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9" name="Google Shape;859;p16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177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2400">
                <a:solidFill>
                  <a:srgbClr val="FFFFFF"/>
                </a:solidFill>
              </a:rPr>
              <a:t>What is the output of the following program?</a:t>
            </a:r>
            <a:endParaRPr sz="240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AutoNum type="arabicPeriod"/>
            </a:pPr>
            <a:r>
              <a:rPr lang="pt-PT" sz="2400">
                <a:solidFill>
                  <a:srgbClr val="FFFFFF"/>
                </a:solidFill>
              </a:rPr>
              <a:t>n = [x*x for x in range(4)]</a:t>
            </a:r>
            <a:endParaRPr sz="240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AutoNum type="arabicPeriod"/>
            </a:pPr>
            <a:r>
              <a:rPr lang="pt-PT" sz="2400">
                <a:solidFill>
                  <a:srgbClr val="FFFFFF"/>
                </a:solidFill>
              </a:rPr>
              <a:t>print(n)</a:t>
            </a: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0" name="Google Shape;860;p164"/>
          <p:cNvSpPr txBox="1">
            <a:spLocks noGrp="1"/>
          </p:cNvSpPr>
          <p:nvPr>
            <p:ph type="body" idx="1"/>
          </p:nvPr>
        </p:nvSpPr>
        <p:spPr>
          <a:xfrm>
            <a:off x="311700" y="2215925"/>
            <a:ext cx="8520600" cy="282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[0, 1, 2, 3]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[0, 1, 4, 9]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[1, 4, 9, 16]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[1, 2, 3, 4]</a:t>
            </a:r>
            <a:endParaRPr sz="3600" dirty="0"/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Google Shape;865;p16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174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2400" dirty="0" err="1">
                <a:solidFill>
                  <a:srgbClr val="FFFFFF"/>
                </a:solidFill>
              </a:rPr>
              <a:t>How</a:t>
            </a:r>
            <a:r>
              <a:rPr lang="pt-PT" sz="2400" dirty="0">
                <a:solidFill>
                  <a:srgbClr val="FFFFFF"/>
                </a:solidFill>
              </a:rPr>
              <a:t> can </a:t>
            </a:r>
            <a:r>
              <a:rPr lang="pt-PT" sz="2400" dirty="0" err="1">
                <a:solidFill>
                  <a:srgbClr val="FFFFFF"/>
                </a:solidFill>
              </a:rPr>
              <a:t>you</a:t>
            </a:r>
            <a:r>
              <a:rPr lang="pt-PT" sz="2400" dirty="0">
                <a:solidFill>
                  <a:srgbClr val="FFFFFF"/>
                </a:solidFill>
              </a:rPr>
              <a:t> </a:t>
            </a:r>
            <a:r>
              <a:rPr lang="pt-PT" sz="2400" dirty="0" err="1">
                <a:solidFill>
                  <a:srgbClr val="FFFFFF"/>
                </a:solidFill>
              </a:rPr>
              <a:t>change</a:t>
            </a:r>
            <a:endParaRPr sz="2400" dirty="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AutoNum type="arabicPeriod"/>
            </a:pPr>
            <a:r>
              <a:rPr lang="pt-PT" sz="2400" dirty="0">
                <a:solidFill>
                  <a:srgbClr val="FFFFFF"/>
                </a:solidFill>
              </a:rPr>
              <a:t>num = {‘</a:t>
            </a:r>
            <a:r>
              <a:rPr lang="pt-PT" sz="2400" dirty="0" err="1">
                <a:solidFill>
                  <a:srgbClr val="FFFFFF"/>
                </a:solidFill>
              </a:rPr>
              <a:t>one</a:t>
            </a:r>
            <a:r>
              <a:rPr lang="pt-PT" sz="2400" dirty="0">
                <a:solidFill>
                  <a:srgbClr val="FFFFFF"/>
                </a:solidFill>
              </a:rPr>
              <a:t>’: 1, ‘</a:t>
            </a:r>
            <a:r>
              <a:rPr lang="pt-PT" sz="2400" dirty="0" err="1">
                <a:solidFill>
                  <a:srgbClr val="FFFFFF"/>
                </a:solidFill>
              </a:rPr>
              <a:t>two</a:t>
            </a:r>
            <a:r>
              <a:rPr lang="pt-PT" sz="2400" dirty="0">
                <a:solidFill>
                  <a:srgbClr val="FFFFFF"/>
                </a:solidFill>
              </a:rPr>
              <a:t>’: 3} to</a:t>
            </a:r>
            <a:endParaRPr sz="2400" dirty="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AutoNum type="arabicPeriod"/>
            </a:pPr>
            <a:r>
              <a:rPr lang="pt-PT" sz="2400" dirty="0">
                <a:solidFill>
                  <a:srgbClr val="FFFFFF"/>
                </a:solidFill>
              </a:rPr>
              <a:t>num = {‘</a:t>
            </a:r>
            <a:r>
              <a:rPr lang="pt-PT" sz="2400" dirty="0" err="1">
                <a:solidFill>
                  <a:srgbClr val="FFFFFF"/>
                </a:solidFill>
              </a:rPr>
              <a:t>one</a:t>
            </a:r>
            <a:r>
              <a:rPr lang="pt-PT" sz="2400" dirty="0">
                <a:solidFill>
                  <a:srgbClr val="FFFFFF"/>
                </a:solidFill>
              </a:rPr>
              <a:t>’: 1, ‘</a:t>
            </a:r>
            <a:r>
              <a:rPr lang="pt-PT" sz="2400" dirty="0" err="1">
                <a:solidFill>
                  <a:srgbClr val="FFFFFF"/>
                </a:solidFill>
              </a:rPr>
              <a:t>two</a:t>
            </a:r>
            <a:r>
              <a:rPr lang="pt-PT" sz="2400" dirty="0">
                <a:solidFill>
                  <a:srgbClr val="FFFFFF"/>
                </a:solidFill>
              </a:rPr>
              <a:t>’: 2}</a:t>
            </a:r>
            <a:endParaRPr sz="24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8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66" name="Google Shape;866;p165"/>
          <p:cNvSpPr txBox="1">
            <a:spLocks noGrp="1"/>
          </p:cNvSpPr>
          <p:nvPr>
            <p:ph type="body" idx="1"/>
          </p:nvPr>
        </p:nvSpPr>
        <p:spPr>
          <a:xfrm>
            <a:off x="311700" y="2349400"/>
            <a:ext cx="8520600" cy="264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num[2] = '</a:t>
            </a:r>
            <a:r>
              <a:rPr lang="pt-PT" sz="3600" dirty="0" err="1"/>
              <a:t>two</a:t>
            </a:r>
            <a:r>
              <a:rPr lang="pt-PT" sz="3600" dirty="0"/>
              <a:t>'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num[1] = '</a:t>
            </a:r>
            <a:r>
              <a:rPr lang="pt-PT" sz="3600" dirty="0" err="1"/>
              <a:t>two</a:t>
            </a:r>
            <a:r>
              <a:rPr lang="pt-PT" sz="3600" dirty="0"/>
              <a:t>'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num['</a:t>
            </a:r>
            <a:r>
              <a:rPr lang="pt-PT" sz="3600" dirty="0" err="1"/>
              <a:t>two</a:t>
            </a:r>
            <a:r>
              <a:rPr lang="pt-PT" sz="3600" dirty="0"/>
              <a:t>'] = 2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num['</a:t>
            </a:r>
            <a:r>
              <a:rPr lang="pt-PT" sz="3600" dirty="0" err="1"/>
              <a:t>two</a:t>
            </a:r>
            <a:r>
              <a:rPr lang="pt-PT" sz="3600" dirty="0"/>
              <a:t>'] = '2'</a:t>
            </a:r>
            <a:endParaRPr sz="3600" dirty="0"/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1" name="Google Shape;871;p166"/>
          <p:cNvSpPr txBox="1">
            <a:spLocks noGrp="1"/>
          </p:cNvSpPr>
          <p:nvPr>
            <p:ph type="title"/>
          </p:nvPr>
        </p:nvSpPr>
        <p:spPr>
          <a:xfrm>
            <a:off x="311700" y="217714"/>
            <a:ext cx="8520600" cy="235401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2400" dirty="0" err="1">
                <a:solidFill>
                  <a:srgbClr val="FFFFFF"/>
                </a:solidFill>
              </a:rPr>
              <a:t>What</a:t>
            </a:r>
            <a:r>
              <a:rPr lang="pt-PT" sz="2400" dirty="0">
                <a:solidFill>
                  <a:srgbClr val="FFFFFF"/>
                </a:solidFill>
              </a:rPr>
              <a:t> </a:t>
            </a:r>
            <a:r>
              <a:rPr lang="pt-PT" sz="2400" dirty="0" err="1">
                <a:solidFill>
                  <a:srgbClr val="FFFFFF"/>
                </a:solidFill>
              </a:rPr>
              <a:t>is</a:t>
            </a:r>
            <a:r>
              <a:rPr lang="pt-PT" sz="2400" dirty="0">
                <a:solidFill>
                  <a:srgbClr val="FFFFFF"/>
                </a:solidFill>
              </a:rPr>
              <a:t> </a:t>
            </a:r>
            <a:r>
              <a:rPr lang="pt-PT" sz="2400" dirty="0" err="1">
                <a:solidFill>
                  <a:srgbClr val="FFFFFF"/>
                </a:solidFill>
              </a:rPr>
              <a:t>the</a:t>
            </a:r>
            <a:r>
              <a:rPr lang="pt-PT" sz="2400" dirty="0">
                <a:solidFill>
                  <a:srgbClr val="FFFFFF"/>
                </a:solidFill>
              </a:rPr>
              <a:t> output </a:t>
            </a:r>
            <a:r>
              <a:rPr lang="pt-PT" sz="2400" dirty="0" err="1">
                <a:solidFill>
                  <a:srgbClr val="FFFFFF"/>
                </a:solidFill>
              </a:rPr>
              <a:t>of</a:t>
            </a:r>
            <a:r>
              <a:rPr lang="pt-PT" sz="2400" dirty="0">
                <a:solidFill>
                  <a:srgbClr val="FFFFFF"/>
                </a:solidFill>
              </a:rPr>
              <a:t> </a:t>
            </a:r>
            <a:r>
              <a:rPr lang="pt-PT" sz="2400" dirty="0" err="1">
                <a:solidFill>
                  <a:srgbClr val="FFFFFF"/>
                </a:solidFill>
              </a:rPr>
              <a:t>the</a:t>
            </a:r>
            <a:r>
              <a:rPr lang="pt-PT" sz="2400" dirty="0">
                <a:solidFill>
                  <a:srgbClr val="FFFFFF"/>
                </a:solidFill>
              </a:rPr>
              <a:t> </a:t>
            </a:r>
            <a:r>
              <a:rPr lang="pt-PT" sz="2400" dirty="0" err="1">
                <a:solidFill>
                  <a:srgbClr val="FFFFFF"/>
                </a:solidFill>
              </a:rPr>
              <a:t>following</a:t>
            </a:r>
            <a:r>
              <a:rPr lang="pt-PT" sz="2400" dirty="0">
                <a:solidFill>
                  <a:srgbClr val="FFFFFF"/>
                </a:solidFill>
              </a:rPr>
              <a:t> </a:t>
            </a:r>
            <a:r>
              <a:rPr lang="pt-PT" sz="2400" dirty="0" err="1">
                <a:solidFill>
                  <a:srgbClr val="FFFFFF"/>
                </a:solidFill>
              </a:rPr>
              <a:t>program</a:t>
            </a:r>
            <a:r>
              <a:rPr lang="pt-PT" sz="2400" dirty="0">
                <a:solidFill>
                  <a:srgbClr val="FFFFFF"/>
                </a:solidFill>
              </a:rPr>
              <a:t>?</a:t>
            </a:r>
            <a:endParaRPr sz="2400" dirty="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AutoNum type="arabicPeriod"/>
            </a:pPr>
            <a:r>
              <a:rPr lang="pt-PT" sz="2400" dirty="0" err="1">
                <a:solidFill>
                  <a:srgbClr val="FFFFFF"/>
                </a:solidFill>
              </a:rPr>
              <a:t>squares</a:t>
            </a:r>
            <a:r>
              <a:rPr lang="pt-PT" sz="2400" dirty="0">
                <a:solidFill>
                  <a:srgbClr val="FFFFFF"/>
                </a:solidFill>
              </a:rPr>
              <a:t> = {1:1, 2:4, 3:9, 4:16, 5:25} </a:t>
            </a:r>
            <a:endParaRPr sz="2400" dirty="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AutoNum type="arabicPeriod"/>
            </a:pPr>
            <a:r>
              <a:rPr lang="pt-PT" sz="2400" dirty="0">
                <a:solidFill>
                  <a:srgbClr val="FFFFFF"/>
                </a:solidFill>
              </a:rPr>
              <a:t>print(</a:t>
            </a:r>
            <a:r>
              <a:rPr lang="pt-PT" sz="2400" dirty="0" err="1">
                <a:solidFill>
                  <a:srgbClr val="FFFFFF"/>
                </a:solidFill>
              </a:rPr>
              <a:t>squares.pop</a:t>
            </a:r>
            <a:r>
              <a:rPr lang="pt-PT" sz="2400" dirty="0">
                <a:solidFill>
                  <a:srgbClr val="FFFFFF"/>
                </a:solidFill>
              </a:rPr>
              <a:t>(4)) </a:t>
            </a:r>
            <a:endParaRPr sz="2400" dirty="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AutoNum type="arabicPeriod"/>
            </a:pPr>
            <a:r>
              <a:rPr lang="pt-PT" sz="2400" dirty="0">
                <a:solidFill>
                  <a:srgbClr val="FFFFFF"/>
                </a:solidFill>
              </a:rPr>
              <a:t>print(</a:t>
            </a:r>
            <a:r>
              <a:rPr lang="pt-PT" sz="2400" dirty="0" err="1">
                <a:solidFill>
                  <a:srgbClr val="FFFFFF"/>
                </a:solidFill>
              </a:rPr>
              <a:t>squares</a:t>
            </a:r>
            <a:r>
              <a:rPr lang="pt-PT" sz="2400" dirty="0">
                <a:solidFill>
                  <a:srgbClr val="FFFFFF"/>
                </a:solidFill>
              </a:rPr>
              <a:t>)</a:t>
            </a:r>
            <a:endParaRPr sz="24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8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72" name="Google Shape;872;p166"/>
          <p:cNvSpPr txBox="1">
            <a:spLocks noGrp="1"/>
          </p:cNvSpPr>
          <p:nvPr>
            <p:ph type="body" idx="1"/>
          </p:nvPr>
        </p:nvSpPr>
        <p:spPr>
          <a:xfrm>
            <a:off x="311700" y="2394857"/>
            <a:ext cx="8520600" cy="259786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16  {1: 1, 2: 4, 3: 9, 5: 25}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16 {1: 1, 2: 4, 3: 9, 4:16, 5: 25}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4 {1: 1, 2: 4, 3: 9, 5: 25}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4 {1: 1, 2: 4, 3: 9, 4:16, 5: 25}</a:t>
            </a:r>
            <a:endParaRPr sz="3600" dirty="0"/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p16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177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2400">
                <a:solidFill>
                  <a:srgbClr val="FFFFFF"/>
                </a:solidFill>
              </a:rPr>
              <a:t>What is the output of the following code?</a:t>
            </a:r>
            <a:endParaRPr sz="240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AutoNum type="arabicPeriod"/>
            </a:pPr>
            <a:r>
              <a:rPr lang="pt-PT" sz="2400">
                <a:solidFill>
                  <a:srgbClr val="FFFFFF"/>
                </a:solidFill>
              </a:rPr>
              <a:t>if None:</a:t>
            </a:r>
            <a:endParaRPr sz="240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AutoNum type="arabicPeriod"/>
            </a:pPr>
            <a:r>
              <a:rPr lang="pt-PT" sz="2400">
                <a:solidFill>
                  <a:srgbClr val="FFFFFF"/>
                </a:solidFill>
              </a:rPr>
              <a:t>   print(“Hello”)</a:t>
            </a: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8" name="Google Shape;878;p167"/>
          <p:cNvSpPr txBox="1">
            <a:spLocks noGrp="1"/>
          </p:cNvSpPr>
          <p:nvPr>
            <p:ph type="body" idx="1"/>
          </p:nvPr>
        </p:nvSpPr>
        <p:spPr>
          <a:xfrm>
            <a:off x="311700" y="2215925"/>
            <a:ext cx="8520600" cy="242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742950" lvl="0" indent="-742950" algn="l" rtl="0">
              <a:spcBef>
                <a:spcPts val="120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False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 err="1"/>
              <a:t>Hello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 err="1"/>
              <a:t>Nothing</a:t>
            </a:r>
            <a:r>
              <a:rPr lang="pt-PT" sz="3600" dirty="0"/>
              <a:t> </a:t>
            </a:r>
            <a:r>
              <a:rPr lang="pt-PT" sz="3600" dirty="0" err="1"/>
              <a:t>will</a:t>
            </a:r>
            <a:r>
              <a:rPr lang="pt-PT" sz="3600" dirty="0"/>
              <a:t> </a:t>
            </a:r>
            <a:r>
              <a:rPr lang="pt-PT" sz="3600" dirty="0" err="1"/>
              <a:t>be</a:t>
            </a:r>
            <a:r>
              <a:rPr lang="pt-PT" sz="3600" dirty="0"/>
              <a:t> </a:t>
            </a:r>
            <a:r>
              <a:rPr lang="pt-PT" sz="3600" dirty="0" err="1"/>
              <a:t>printed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 err="1"/>
              <a:t>Syntax</a:t>
            </a:r>
            <a:r>
              <a:rPr lang="pt-PT" sz="3600" dirty="0"/>
              <a:t> error</a:t>
            </a:r>
            <a:endParaRPr sz="3600" dirty="0"/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6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177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pt-PT" sz="2400">
                <a:solidFill>
                  <a:srgbClr val="FFFFFF"/>
                </a:solidFill>
              </a:rPr>
              <a:t>The </a:t>
            </a:r>
            <a:r>
              <a:rPr lang="pt-PT" sz="2400" b="1">
                <a:solidFill>
                  <a:srgbClr val="FFFFFF"/>
                </a:solidFill>
              </a:rPr>
              <a:t>if...elif...else</a:t>
            </a:r>
            <a:r>
              <a:rPr lang="pt-PT" sz="2400">
                <a:solidFill>
                  <a:srgbClr val="FFFFFF"/>
                </a:solidFill>
              </a:rPr>
              <a:t> executes only one block of code among several blocks.</a:t>
            </a: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4" name="Google Shape;884;p168"/>
          <p:cNvSpPr txBox="1">
            <a:spLocks noGrp="1"/>
          </p:cNvSpPr>
          <p:nvPr>
            <p:ph type="body" idx="1"/>
          </p:nvPr>
        </p:nvSpPr>
        <p:spPr>
          <a:xfrm>
            <a:off x="311700" y="1904450"/>
            <a:ext cx="8520600" cy="289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742950" lvl="0" indent="-742950" algn="l" rtl="0">
              <a:spcBef>
                <a:spcPts val="120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 err="1"/>
              <a:t>True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False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 err="1"/>
              <a:t>It</a:t>
            </a:r>
            <a:r>
              <a:rPr lang="pt-PT" sz="3600" dirty="0"/>
              <a:t> </a:t>
            </a:r>
            <a:r>
              <a:rPr lang="pt-PT" sz="3600" dirty="0" err="1"/>
              <a:t>depends</a:t>
            </a:r>
            <a:r>
              <a:rPr lang="pt-PT" sz="3600" dirty="0"/>
              <a:t> </a:t>
            </a:r>
            <a:r>
              <a:rPr lang="pt-PT" sz="3600" dirty="0" err="1"/>
              <a:t>on</a:t>
            </a:r>
            <a:r>
              <a:rPr lang="pt-PT" sz="3600" dirty="0"/>
              <a:t> </a:t>
            </a:r>
            <a:r>
              <a:rPr lang="pt-PT" sz="3600" dirty="0" err="1"/>
              <a:t>expression</a:t>
            </a:r>
            <a:r>
              <a:rPr lang="pt-PT" sz="3600" dirty="0"/>
              <a:t> </a:t>
            </a:r>
            <a:r>
              <a:rPr lang="pt-PT" sz="3600" dirty="0" err="1"/>
              <a:t>used</a:t>
            </a:r>
            <a:r>
              <a:rPr lang="pt-PT" sz="3600" dirty="0"/>
              <a:t>.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 err="1"/>
              <a:t>There</a:t>
            </a:r>
            <a:r>
              <a:rPr lang="pt-PT" sz="3600" dirty="0"/>
              <a:t> </a:t>
            </a:r>
            <a:r>
              <a:rPr lang="pt-PT" sz="3600" dirty="0" err="1"/>
              <a:t>is</a:t>
            </a:r>
            <a:r>
              <a:rPr lang="pt-PT" sz="3600" dirty="0"/>
              <a:t> no </a:t>
            </a:r>
            <a:r>
              <a:rPr lang="pt-PT" sz="3600" b="1" dirty="0" err="1"/>
              <a:t>elif</a:t>
            </a:r>
            <a:r>
              <a:rPr lang="pt-PT" sz="3600" dirty="0"/>
              <a:t> </a:t>
            </a:r>
            <a:r>
              <a:rPr lang="pt-PT" sz="3600" dirty="0" err="1"/>
              <a:t>statement</a:t>
            </a:r>
            <a:r>
              <a:rPr lang="pt-PT" sz="3600" dirty="0"/>
              <a:t> in </a:t>
            </a:r>
            <a:r>
              <a:rPr lang="pt-PT" sz="3600" dirty="0" err="1"/>
              <a:t>Python</a:t>
            </a:r>
            <a:r>
              <a:rPr lang="pt-PT" sz="3600" dirty="0"/>
              <a:t>.</a:t>
            </a:r>
            <a:endParaRPr sz="3600" dirty="0"/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6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177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2400" dirty="0" err="1">
                <a:solidFill>
                  <a:srgbClr val="FFFFFF"/>
                </a:solidFill>
              </a:rPr>
              <a:t>What</a:t>
            </a:r>
            <a:r>
              <a:rPr lang="pt-PT" sz="2400" dirty="0">
                <a:solidFill>
                  <a:srgbClr val="FFFFFF"/>
                </a:solidFill>
              </a:rPr>
              <a:t> </a:t>
            </a:r>
            <a:r>
              <a:rPr lang="pt-PT" sz="2400" dirty="0" err="1">
                <a:solidFill>
                  <a:srgbClr val="FFFFFF"/>
                </a:solidFill>
              </a:rPr>
              <a:t>is</a:t>
            </a:r>
            <a:r>
              <a:rPr lang="pt-PT" sz="2400" dirty="0">
                <a:solidFill>
                  <a:srgbClr val="FFFFFF"/>
                </a:solidFill>
              </a:rPr>
              <a:t> </a:t>
            </a:r>
            <a:r>
              <a:rPr lang="pt-PT" sz="2400" dirty="0" err="1">
                <a:solidFill>
                  <a:srgbClr val="FFFFFF"/>
                </a:solidFill>
              </a:rPr>
              <a:t>the</a:t>
            </a:r>
            <a:r>
              <a:rPr lang="pt-PT" sz="2400" dirty="0">
                <a:solidFill>
                  <a:srgbClr val="FFFFFF"/>
                </a:solidFill>
              </a:rPr>
              <a:t> output </a:t>
            </a:r>
            <a:r>
              <a:rPr lang="pt-PT" sz="2400" dirty="0" err="1">
                <a:solidFill>
                  <a:srgbClr val="FFFFFF"/>
                </a:solidFill>
              </a:rPr>
              <a:t>of</a:t>
            </a:r>
            <a:r>
              <a:rPr lang="pt-PT" sz="2400" dirty="0">
                <a:solidFill>
                  <a:srgbClr val="FFFFFF"/>
                </a:solidFill>
              </a:rPr>
              <a:t> </a:t>
            </a:r>
            <a:r>
              <a:rPr lang="pt-PT" sz="2400" dirty="0" err="1">
                <a:solidFill>
                  <a:srgbClr val="FFFFFF"/>
                </a:solidFill>
              </a:rPr>
              <a:t>the</a:t>
            </a:r>
            <a:r>
              <a:rPr lang="pt-PT" sz="2400" dirty="0">
                <a:solidFill>
                  <a:srgbClr val="FFFFFF"/>
                </a:solidFill>
              </a:rPr>
              <a:t> </a:t>
            </a:r>
            <a:r>
              <a:rPr lang="pt-PT" sz="2400" dirty="0" err="1">
                <a:solidFill>
                  <a:srgbClr val="FFFFFF"/>
                </a:solidFill>
              </a:rPr>
              <a:t>following</a:t>
            </a:r>
            <a:r>
              <a:rPr lang="pt-PT" sz="2400" dirty="0">
                <a:solidFill>
                  <a:srgbClr val="FFFFFF"/>
                </a:solidFill>
              </a:rPr>
              <a:t> </a:t>
            </a:r>
            <a:r>
              <a:rPr lang="pt-PT" sz="2400" dirty="0" err="1">
                <a:solidFill>
                  <a:srgbClr val="FFFFFF"/>
                </a:solidFill>
              </a:rPr>
              <a:t>code</a:t>
            </a:r>
            <a:r>
              <a:rPr lang="pt-PT" sz="2400" dirty="0">
                <a:solidFill>
                  <a:srgbClr val="FFFFFF"/>
                </a:solidFill>
              </a:rPr>
              <a:t>?</a:t>
            </a:r>
            <a:endParaRPr sz="2400" dirty="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AutoNum type="arabicPeriod"/>
            </a:pPr>
            <a:r>
              <a:rPr lang="pt-PT" sz="2400" dirty="0">
                <a:solidFill>
                  <a:srgbClr val="FFFFFF"/>
                </a:solidFill>
              </a:rPr>
              <a:t>for i in [1, 0]:</a:t>
            </a:r>
            <a:endParaRPr sz="2400" dirty="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AutoNum type="arabicPeriod"/>
            </a:pPr>
            <a:r>
              <a:rPr lang="pt-PT" sz="2400" dirty="0">
                <a:solidFill>
                  <a:srgbClr val="FFFFFF"/>
                </a:solidFill>
              </a:rPr>
              <a:t> print(i+1)</a:t>
            </a:r>
            <a:endParaRPr sz="24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8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90" name="Google Shape;890;p169"/>
          <p:cNvSpPr txBox="1">
            <a:spLocks noGrp="1"/>
          </p:cNvSpPr>
          <p:nvPr>
            <p:ph type="body" idx="1"/>
          </p:nvPr>
        </p:nvSpPr>
        <p:spPr>
          <a:xfrm>
            <a:off x="311700" y="1904450"/>
            <a:ext cx="8520600" cy="289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742950" lvl="0" indent="-742950" algn="l" rtl="0">
              <a:spcBef>
                <a:spcPts val="120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2 1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[2, 1]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2 0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[2, 0]</a:t>
            </a:r>
            <a:endParaRPr sz="3600" dirty="0"/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7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110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pt-PT" sz="2400">
                <a:solidFill>
                  <a:srgbClr val="FFFFFF"/>
                </a:solidFill>
              </a:rPr>
              <a:t>In Python, for and while loop can have optional else statement?</a:t>
            </a: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6" name="Google Shape;896;p170"/>
          <p:cNvSpPr txBox="1">
            <a:spLocks noGrp="1"/>
          </p:cNvSpPr>
          <p:nvPr>
            <p:ph type="body" idx="1"/>
          </p:nvPr>
        </p:nvSpPr>
        <p:spPr>
          <a:xfrm>
            <a:off x="311700" y="1548425"/>
            <a:ext cx="8520600" cy="324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52450" lvl="0" indent="-514350" algn="l" rtl="0">
              <a:spcBef>
                <a:spcPts val="1200"/>
              </a:spcBef>
              <a:spcAft>
                <a:spcPts val="0"/>
              </a:spcAft>
              <a:buSzPts val="3000"/>
              <a:buFont typeface="+mj-lt"/>
              <a:buAutoNum type="arabicPeriod"/>
            </a:pPr>
            <a:r>
              <a:rPr lang="pt-PT" sz="3000" dirty="0" err="1"/>
              <a:t>Only</a:t>
            </a:r>
            <a:r>
              <a:rPr lang="pt-PT" sz="3000" dirty="0"/>
              <a:t> for </a:t>
            </a:r>
            <a:r>
              <a:rPr lang="pt-PT" sz="3000" dirty="0" err="1"/>
              <a:t>loop</a:t>
            </a:r>
            <a:r>
              <a:rPr lang="pt-PT" sz="3000" dirty="0"/>
              <a:t> can </a:t>
            </a:r>
            <a:r>
              <a:rPr lang="pt-PT" sz="3000" dirty="0" err="1"/>
              <a:t>have</a:t>
            </a:r>
            <a:r>
              <a:rPr lang="pt-PT" sz="3000" dirty="0"/>
              <a:t> </a:t>
            </a:r>
            <a:r>
              <a:rPr lang="pt-PT" sz="3000" dirty="0" err="1"/>
              <a:t>optional</a:t>
            </a:r>
            <a:r>
              <a:rPr lang="pt-PT" sz="3000" dirty="0"/>
              <a:t> </a:t>
            </a:r>
            <a:r>
              <a:rPr lang="pt-PT" sz="3000" dirty="0" err="1"/>
              <a:t>else</a:t>
            </a:r>
            <a:r>
              <a:rPr lang="pt-PT" sz="3000" dirty="0"/>
              <a:t> </a:t>
            </a:r>
            <a:r>
              <a:rPr lang="pt-PT" sz="3000" dirty="0" err="1"/>
              <a:t>statement</a:t>
            </a:r>
            <a:endParaRPr sz="3000" dirty="0"/>
          </a:p>
          <a:p>
            <a:pPr marL="552450" lvl="0" indent="-514350" algn="l" rtl="0">
              <a:spcBef>
                <a:spcPts val="0"/>
              </a:spcBef>
              <a:spcAft>
                <a:spcPts val="0"/>
              </a:spcAft>
              <a:buSzPts val="3000"/>
              <a:buFont typeface="+mj-lt"/>
              <a:buAutoNum type="arabicPeriod"/>
            </a:pPr>
            <a:r>
              <a:rPr lang="pt-PT" sz="3000" dirty="0" err="1"/>
              <a:t>Only</a:t>
            </a:r>
            <a:r>
              <a:rPr lang="pt-PT" sz="3000" dirty="0"/>
              <a:t> </a:t>
            </a:r>
            <a:r>
              <a:rPr lang="pt-PT" sz="3000" dirty="0" err="1"/>
              <a:t>while</a:t>
            </a:r>
            <a:r>
              <a:rPr lang="pt-PT" sz="3000" dirty="0"/>
              <a:t> </a:t>
            </a:r>
            <a:r>
              <a:rPr lang="pt-PT" sz="3000" dirty="0" err="1"/>
              <a:t>loop</a:t>
            </a:r>
            <a:r>
              <a:rPr lang="pt-PT" sz="3000" dirty="0"/>
              <a:t> can </a:t>
            </a:r>
            <a:r>
              <a:rPr lang="pt-PT" sz="3000" dirty="0" err="1"/>
              <a:t>have</a:t>
            </a:r>
            <a:r>
              <a:rPr lang="pt-PT" sz="3000" dirty="0"/>
              <a:t> </a:t>
            </a:r>
            <a:r>
              <a:rPr lang="pt-PT" sz="3000" dirty="0" err="1"/>
              <a:t>optional</a:t>
            </a:r>
            <a:r>
              <a:rPr lang="pt-PT" sz="3000" dirty="0"/>
              <a:t> </a:t>
            </a:r>
            <a:r>
              <a:rPr lang="pt-PT" sz="3000" dirty="0" err="1"/>
              <a:t>else</a:t>
            </a:r>
            <a:r>
              <a:rPr lang="pt-PT" sz="3000" dirty="0"/>
              <a:t> </a:t>
            </a:r>
            <a:r>
              <a:rPr lang="pt-PT" sz="3000" dirty="0" err="1"/>
              <a:t>statement</a:t>
            </a:r>
            <a:endParaRPr sz="3000" dirty="0"/>
          </a:p>
          <a:p>
            <a:pPr marL="552450" lvl="0" indent="-514350" algn="l" rtl="0">
              <a:spcBef>
                <a:spcPts val="0"/>
              </a:spcBef>
              <a:spcAft>
                <a:spcPts val="0"/>
              </a:spcAft>
              <a:buSzPts val="3000"/>
              <a:buFont typeface="+mj-lt"/>
              <a:buAutoNum type="arabicPeriod"/>
            </a:pPr>
            <a:r>
              <a:rPr lang="pt-PT" sz="3000" dirty="0"/>
              <a:t>Both </a:t>
            </a:r>
            <a:r>
              <a:rPr lang="pt-PT" sz="3000" dirty="0" err="1"/>
              <a:t>loops</a:t>
            </a:r>
            <a:r>
              <a:rPr lang="pt-PT" sz="3000" dirty="0"/>
              <a:t> can </a:t>
            </a:r>
            <a:r>
              <a:rPr lang="pt-PT" sz="3000" dirty="0" err="1"/>
              <a:t>have</a:t>
            </a:r>
            <a:r>
              <a:rPr lang="pt-PT" sz="3000" dirty="0"/>
              <a:t> </a:t>
            </a:r>
            <a:r>
              <a:rPr lang="pt-PT" sz="3000" dirty="0" err="1"/>
              <a:t>optional</a:t>
            </a:r>
            <a:r>
              <a:rPr lang="pt-PT" sz="3000" dirty="0"/>
              <a:t> </a:t>
            </a:r>
            <a:r>
              <a:rPr lang="pt-PT" sz="3000" dirty="0" err="1"/>
              <a:t>else</a:t>
            </a:r>
            <a:r>
              <a:rPr lang="pt-PT" sz="3000" dirty="0"/>
              <a:t> </a:t>
            </a:r>
            <a:r>
              <a:rPr lang="pt-PT" sz="3000" dirty="0" err="1"/>
              <a:t>statement</a:t>
            </a:r>
            <a:endParaRPr sz="3000" dirty="0"/>
          </a:p>
          <a:p>
            <a:pPr marL="552450" lvl="0" indent="-514350" algn="l" rtl="0">
              <a:spcBef>
                <a:spcPts val="0"/>
              </a:spcBef>
              <a:spcAft>
                <a:spcPts val="0"/>
              </a:spcAft>
              <a:buSzPts val="3000"/>
              <a:buFont typeface="+mj-lt"/>
              <a:buAutoNum type="arabicPeriod"/>
            </a:pPr>
            <a:r>
              <a:rPr lang="pt-PT" sz="3000" dirty="0" err="1"/>
              <a:t>Loops</a:t>
            </a:r>
            <a:r>
              <a:rPr lang="pt-PT" sz="3000" dirty="0"/>
              <a:t> </a:t>
            </a:r>
            <a:r>
              <a:rPr lang="pt-PT" sz="3000" dirty="0" err="1"/>
              <a:t>cannot</a:t>
            </a:r>
            <a:r>
              <a:rPr lang="pt-PT" sz="3000" dirty="0"/>
              <a:t> </a:t>
            </a:r>
            <a:r>
              <a:rPr lang="pt-PT" sz="3000" dirty="0" err="1"/>
              <a:t>have</a:t>
            </a:r>
            <a:r>
              <a:rPr lang="pt-PT" sz="3000" dirty="0"/>
              <a:t> </a:t>
            </a:r>
            <a:r>
              <a:rPr lang="pt-PT" sz="3000" dirty="0" err="1"/>
              <a:t>else</a:t>
            </a:r>
            <a:r>
              <a:rPr lang="pt-PT" sz="3000" dirty="0"/>
              <a:t> </a:t>
            </a:r>
            <a:r>
              <a:rPr lang="pt-PT" sz="3000" dirty="0" err="1"/>
              <a:t>statement</a:t>
            </a:r>
            <a:r>
              <a:rPr lang="pt-PT" sz="3000" dirty="0"/>
              <a:t> in </a:t>
            </a:r>
            <a:r>
              <a:rPr lang="pt-PT" sz="3000" dirty="0" err="1"/>
              <a:t>Python</a:t>
            </a:r>
            <a:endParaRPr sz="3000" dirty="0"/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7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348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2400">
                <a:solidFill>
                  <a:srgbClr val="FFFFFF"/>
                </a:solidFill>
              </a:rPr>
              <a:t>What is the output of the following code?</a:t>
            </a:r>
            <a:endParaRPr sz="240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AutoNum type="arabicPeriod"/>
            </a:pPr>
            <a:r>
              <a:rPr lang="pt-PT" sz="2400">
                <a:solidFill>
                  <a:srgbClr val="FFFFFF"/>
                </a:solidFill>
              </a:rPr>
              <a:t>i = sum = 0</a:t>
            </a:r>
            <a:endParaRPr sz="240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AutoNum type="arabicPeriod"/>
            </a:pPr>
            <a:r>
              <a:rPr lang="pt-PT" sz="2400">
                <a:solidFill>
                  <a:srgbClr val="FFFFFF"/>
                </a:solidFill>
              </a:rPr>
              <a:t>while i &lt;= 4:</a:t>
            </a:r>
            <a:endParaRPr sz="240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AutoNum type="arabicPeriod"/>
            </a:pPr>
            <a:r>
              <a:rPr lang="pt-PT" sz="2400">
                <a:solidFill>
                  <a:srgbClr val="FFFFFF"/>
                </a:solidFill>
              </a:rPr>
              <a:t>   sum += i</a:t>
            </a:r>
            <a:endParaRPr sz="240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AutoNum type="arabicPeriod"/>
            </a:pPr>
            <a:r>
              <a:rPr lang="pt-PT" sz="2400">
                <a:solidFill>
                  <a:srgbClr val="FFFFFF"/>
                </a:solidFill>
              </a:rPr>
              <a:t>   i = i+1</a:t>
            </a:r>
            <a:endParaRPr sz="240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AutoNum type="arabicPeriod"/>
            </a:pPr>
            <a:r>
              <a:rPr lang="pt-PT" sz="2400">
                <a:solidFill>
                  <a:srgbClr val="FFFFFF"/>
                </a:solidFill>
              </a:rPr>
              <a:t>print(sum)</a:t>
            </a: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2" name="Google Shape;902;p171"/>
          <p:cNvSpPr txBox="1">
            <a:spLocks noGrp="1"/>
          </p:cNvSpPr>
          <p:nvPr>
            <p:ph type="body" idx="1"/>
          </p:nvPr>
        </p:nvSpPr>
        <p:spPr>
          <a:xfrm>
            <a:off x="3882571" y="1815450"/>
            <a:ext cx="4949629" cy="315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742950" lvl="0" indent="-742950" algn="l" rtl="0">
              <a:spcBef>
                <a:spcPts val="120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0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10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4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 err="1"/>
              <a:t>None</a:t>
            </a:r>
            <a:r>
              <a:rPr lang="pt-PT" sz="3600" dirty="0"/>
              <a:t> </a:t>
            </a:r>
            <a:r>
              <a:rPr lang="pt-PT" sz="3600" dirty="0" err="1"/>
              <a:t>of</a:t>
            </a:r>
            <a:r>
              <a:rPr lang="pt-PT" sz="3600" dirty="0"/>
              <a:t> </a:t>
            </a:r>
            <a:r>
              <a:rPr lang="pt-PT" sz="3600" dirty="0" err="1"/>
              <a:t>the</a:t>
            </a:r>
            <a:r>
              <a:rPr lang="pt-PT" sz="3600" dirty="0"/>
              <a:t> </a:t>
            </a:r>
            <a:r>
              <a:rPr lang="pt-PT" sz="3600" dirty="0" err="1"/>
              <a:t>above</a:t>
            </a:r>
            <a:endParaRPr sz="3600" dirty="0"/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7" name="Google Shape;907;p17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172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2400">
                <a:solidFill>
                  <a:srgbClr val="FFFFFF"/>
                </a:solidFill>
              </a:rPr>
              <a:t>What is the output of the following code?</a:t>
            </a:r>
            <a:endParaRPr sz="240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AutoNum type="arabicPeriod"/>
            </a:pPr>
            <a:r>
              <a:rPr lang="pt-PT" sz="2400">
                <a:solidFill>
                  <a:srgbClr val="FFFFFF"/>
                </a:solidFill>
              </a:rPr>
              <a:t>while 4 == 4:</a:t>
            </a:r>
            <a:endParaRPr sz="240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AutoNum type="arabicPeriod"/>
            </a:pPr>
            <a:r>
              <a:rPr lang="pt-PT" sz="2400">
                <a:solidFill>
                  <a:srgbClr val="FFFFFF"/>
                </a:solidFill>
              </a:rPr>
              <a:t>   print('4')</a:t>
            </a: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8" name="Google Shape;908;p172"/>
          <p:cNvSpPr txBox="1">
            <a:spLocks noGrp="1"/>
          </p:cNvSpPr>
          <p:nvPr>
            <p:ph type="body" idx="1"/>
          </p:nvPr>
        </p:nvSpPr>
        <p:spPr>
          <a:xfrm>
            <a:off x="311700" y="2171525"/>
            <a:ext cx="8520600" cy="262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52450" lvl="0" indent="-514350" algn="l" rtl="0">
              <a:spcBef>
                <a:spcPts val="1200"/>
              </a:spcBef>
              <a:spcAft>
                <a:spcPts val="0"/>
              </a:spcAft>
              <a:buSzPts val="3000"/>
              <a:buFont typeface="+mj-lt"/>
              <a:buAutoNum type="arabicPeriod"/>
            </a:pPr>
            <a:r>
              <a:rPr lang="pt-PT" sz="3000" b="1" dirty="0"/>
              <a:t>4</a:t>
            </a:r>
            <a:r>
              <a:rPr lang="pt-PT" sz="3000" dirty="0"/>
              <a:t> </a:t>
            </a:r>
            <a:r>
              <a:rPr lang="pt-PT" sz="3000" dirty="0" err="1"/>
              <a:t>is</a:t>
            </a:r>
            <a:r>
              <a:rPr lang="pt-PT" sz="3000" dirty="0"/>
              <a:t> </a:t>
            </a:r>
            <a:r>
              <a:rPr lang="pt-PT" sz="3000" dirty="0" err="1"/>
              <a:t>printed</a:t>
            </a:r>
            <a:r>
              <a:rPr lang="pt-PT" sz="3000" dirty="0"/>
              <a:t> </a:t>
            </a:r>
            <a:r>
              <a:rPr lang="pt-PT" sz="3000" dirty="0" err="1"/>
              <a:t>once</a:t>
            </a:r>
            <a:endParaRPr sz="3000" dirty="0"/>
          </a:p>
          <a:p>
            <a:pPr marL="552450" lvl="0" indent="-514350" algn="l" rtl="0">
              <a:spcBef>
                <a:spcPts val="0"/>
              </a:spcBef>
              <a:spcAft>
                <a:spcPts val="0"/>
              </a:spcAft>
              <a:buSzPts val="3000"/>
              <a:buFont typeface="+mj-lt"/>
              <a:buAutoNum type="arabicPeriod"/>
            </a:pPr>
            <a:r>
              <a:rPr lang="pt-PT" sz="3000" b="1" dirty="0"/>
              <a:t>4</a:t>
            </a:r>
            <a:r>
              <a:rPr lang="pt-PT" sz="3000" dirty="0"/>
              <a:t> </a:t>
            </a:r>
            <a:r>
              <a:rPr lang="pt-PT" sz="3000" dirty="0" err="1"/>
              <a:t>is</a:t>
            </a:r>
            <a:r>
              <a:rPr lang="pt-PT" sz="3000" dirty="0"/>
              <a:t> </a:t>
            </a:r>
            <a:r>
              <a:rPr lang="pt-PT" sz="3000" dirty="0" err="1"/>
              <a:t>printed</a:t>
            </a:r>
            <a:r>
              <a:rPr lang="pt-PT" sz="3000" dirty="0"/>
              <a:t> </a:t>
            </a:r>
            <a:r>
              <a:rPr lang="pt-PT" sz="3000" dirty="0" err="1"/>
              <a:t>four</a:t>
            </a:r>
            <a:r>
              <a:rPr lang="pt-PT" sz="3000" dirty="0"/>
              <a:t> times</a:t>
            </a:r>
            <a:endParaRPr sz="3000" dirty="0"/>
          </a:p>
          <a:p>
            <a:pPr marL="552450" lvl="0" indent="-514350" algn="l" rtl="0">
              <a:spcBef>
                <a:spcPts val="0"/>
              </a:spcBef>
              <a:spcAft>
                <a:spcPts val="0"/>
              </a:spcAft>
              <a:buSzPts val="3000"/>
              <a:buFont typeface="+mj-lt"/>
              <a:buAutoNum type="arabicPeriod"/>
            </a:pPr>
            <a:r>
              <a:rPr lang="pt-PT" sz="3000" b="1" dirty="0"/>
              <a:t>4</a:t>
            </a:r>
            <a:r>
              <a:rPr lang="pt-PT" sz="3000" dirty="0"/>
              <a:t> </a:t>
            </a:r>
            <a:r>
              <a:rPr lang="pt-PT" sz="3000" dirty="0" err="1"/>
              <a:t>is</a:t>
            </a:r>
            <a:r>
              <a:rPr lang="pt-PT" sz="3000" dirty="0"/>
              <a:t> </a:t>
            </a:r>
            <a:r>
              <a:rPr lang="pt-PT" sz="3000" dirty="0" err="1"/>
              <a:t>printed</a:t>
            </a:r>
            <a:r>
              <a:rPr lang="pt-PT" sz="3000" dirty="0"/>
              <a:t> </a:t>
            </a:r>
            <a:r>
              <a:rPr lang="pt-PT" sz="3000" dirty="0" err="1"/>
              <a:t>infinitely</a:t>
            </a:r>
            <a:r>
              <a:rPr lang="pt-PT" sz="3000" dirty="0"/>
              <a:t> </a:t>
            </a:r>
            <a:r>
              <a:rPr lang="pt-PT" sz="3000" dirty="0" err="1"/>
              <a:t>until</a:t>
            </a:r>
            <a:r>
              <a:rPr lang="pt-PT" sz="3000" dirty="0"/>
              <a:t> </a:t>
            </a:r>
            <a:r>
              <a:rPr lang="pt-PT" sz="3000" dirty="0" err="1"/>
              <a:t>program</a:t>
            </a:r>
            <a:r>
              <a:rPr lang="pt-PT" sz="3000" dirty="0"/>
              <a:t> </a:t>
            </a:r>
            <a:r>
              <a:rPr lang="pt-PT" sz="3000" dirty="0" err="1"/>
              <a:t>closes</a:t>
            </a:r>
            <a:endParaRPr sz="3000" dirty="0"/>
          </a:p>
          <a:p>
            <a:pPr marL="552450" lvl="0" indent="-514350" algn="l" rtl="0">
              <a:spcBef>
                <a:spcPts val="0"/>
              </a:spcBef>
              <a:spcAft>
                <a:spcPts val="0"/>
              </a:spcAft>
              <a:buSzPts val="3000"/>
              <a:buFont typeface="+mj-lt"/>
              <a:buAutoNum type="arabicPeriod"/>
            </a:pPr>
            <a:r>
              <a:rPr lang="pt-PT" sz="3000" dirty="0" err="1"/>
              <a:t>Syntax</a:t>
            </a:r>
            <a:r>
              <a:rPr lang="pt-PT" sz="3000" dirty="0"/>
              <a:t> error</a:t>
            </a:r>
            <a:endParaRPr sz="3000" dirty="0"/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7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134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pt-PT" sz="2400">
                <a:solidFill>
                  <a:srgbClr val="FFFFFF"/>
                </a:solidFill>
              </a:rPr>
              <a:t>Is it better to use for loop instead of while if you are iterating through a sequence (like: list)?</a:t>
            </a: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4" name="Google Shape;914;p173"/>
          <p:cNvSpPr txBox="1">
            <a:spLocks noGrp="1"/>
          </p:cNvSpPr>
          <p:nvPr>
            <p:ph type="body" idx="1"/>
          </p:nvPr>
        </p:nvSpPr>
        <p:spPr>
          <a:xfrm>
            <a:off x="311700" y="1793225"/>
            <a:ext cx="8520600" cy="335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52450" lvl="0" indent="-514350" algn="l" rtl="0">
              <a:spcBef>
                <a:spcPts val="1200"/>
              </a:spcBef>
              <a:spcAft>
                <a:spcPts val="0"/>
              </a:spcAft>
              <a:buSzPts val="3000"/>
              <a:buFont typeface="+mj-lt"/>
              <a:buAutoNum type="arabicPeriod"/>
            </a:pPr>
            <a:r>
              <a:rPr lang="pt-PT" sz="3000" dirty="0"/>
              <a:t>No, </a:t>
            </a:r>
            <a:r>
              <a:rPr lang="pt-PT" sz="3000" dirty="0" err="1"/>
              <a:t>it’s</a:t>
            </a:r>
            <a:r>
              <a:rPr lang="pt-PT" sz="3000" dirty="0"/>
              <a:t> </a:t>
            </a:r>
            <a:r>
              <a:rPr lang="pt-PT" sz="3000" dirty="0" err="1"/>
              <a:t>better</a:t>
            </a:r>
            <a:r>
              <a:rPr lang="pt-PT" sz="3000" dirty="0"/>
              <a:t> to use </a:t>
            </a:r>
            <a:r>
              <a:rPr lang="pt-PT" sz="3000" dirty="0" err="1"/>
              <a:t>while</a:t>
            </a:r>
            <a:r>
              <a:rPr lang="pt-PT" sz="3000" dirty="0"/>
              <a:t> </a:t>
            </a:r>
            <a:r>
              <a:rPr lang="pt-PT" sz="3000" dirty="0" err="1"/>
              <a:t>loop</a:t>
            </a:r>
            <a:r>
              <a:rPr lang="pt-PT" sz="3000" dirty="0"/>
              <a:t>.</a:t>
            </a:r>
            <a:endParaRPr sz="3000" dirty="0"/>
          </a:p>
          <a:p>
            <a:pPr marL="552450" lvl="0" indent="-514350" algn="l" rtl="0">
              <a:spcBef>
                <a:spcPts val="0"/>
              </a:spcBef>
              <a:spcAft>
                <a:spcPts val="0"/>
              </a:spcAft>
              <a:buSzPts val="3000"/>
              <a:buFont typeface="+mj-lt"/>
              <a:buAutoNum type="arabicPeriod"/>
            </a:pPr>
            <a:r>
              <a:rPr lang="pt-PT" sz="3000" dirty="0" err="1"/>
              <a:t>Yes</a:t>
            </a:r>
            <a:r>
              <a:rPr lang="pt-PT" sz="3000" dirty="0"/>
              <a:t>, for </a:t>
            </a:r>
            <a:r>
              <a:rPr lang="pt-PT" sz="3000" dirty="0" err="1"/>
              <a:t>loop</a:t>
            </a:r>
            <a:r>
              <a:rPr lang="pt-PT" sz="3000" dirty="0"/>
              <a:t> </a:t>
            </a:r>
            <a:r>
              <a:rPr lang="pt-PT" sz="3000" dirty="0" err="1"/>
              <a:t>is</a:t>
            </a:r>
            <a:r>
              <a:rPr lang="pt-PT" sz="3000" dirty="0"/>
              <a:t> more </a:t>
            </a:r>
            <a:r>
              <a:rPr lang="pt-PT" sz="3000" dirty="0" err="1"/>
              <a:t>pythonic</a:t>
            </a:r>
            <a:r>
              <a:rPr lang="pt-PT" sz="3000" dirty="0"/>
              <a:t> </a:t>
            </a:r>
            <a:r>
              <a:rPr lang="pt-PT" sz="3000" dirty="0" err="1"/>
              <a:t>choice</a:t>
            </a:r>
            <a:r>
              <a:rPr lang="pt-PT" sz="3000" dirty="0"/>
              <a:t>.</a:t>
            </a:r>
            <a:endParaRPr sz="3000" dirty="0"/>
          </a:p>
          <a:p>
            <a:pPr marL="552450" lvl="0" indent="-514350" algn="l" rtl="0">
              <a:spcBef>
                <a:spcPts val="0"/>
              </a:spcBef>
              <a:spcAft>
                <a:spcPts val="0"/>
              </a:spcAft>
              <a:buSzPts val="3000"/>
              <a:buFont typeface="+mj-lt"/>
              <a:buAutoNum type="arabicPeriod"/>
            </a:pPr>
            <a:r>
              <a:rPr lang="pt-PT" sz="3000" dirty="0"/>
              <a:t>No, </a:t>
            </a:r>
            <a:r>
              <a:rPr lang="pt-PT" sz="3000" dirty="0" err="1"/>
              <a:t>you</a:t>
            </a:r>
            <a:r>
              <a:rPr lang="pt-PT" sz="3000" dirty="0"/>
              <a:t> </a:t>
            </a:r>
            <a:r>
              <a:rPr lang="pt-PT" sz="3000" dirty="0" err="1"/>
              <a:t>cannot</a:t>
            </a:r>
            <a:r>
              <a:rPr lang="pt-PT" sz="3000" dirty="0"/>
              <a:t> </a:t>
            </a:r>
            <a:r>
              <a:rPr lang="pt-PT" sz="3000" dirty="0" err="1"/>
              <a:t>iterate</a:t>
            </a:r>
            <a:r>
              <a:rPr lang="pt-PT" sz="3000" dirty="0"/>
              <a:t> </a:t>
            </a:r>
            <a:r>
              <a:rPr lang="pt-PT" sz="3000" dirty="0" err="1"/>
              <a:t>through</a:t>
            </a:r>
            <a:r>
              <a:rPr lang="pt-PT" sz="3000" dirty="0"/>
              <a:t> a </a:t>
            </a:r>
            <a:r>
              <a:rPr lang="pt-PT" sz="3000" dirty="0" err="1"/>
              <a:t>sequence</a:t>
            </a:r>
            <a:r>
              <a:rPr lang="pt-PT" sz="3000" dirty="0"/>
              <a:t> </a:t>
            </a:r>
            <a:r>
              <a:rPr lang="pt-PT" sz="3000" dirty="0" err="1"/>
              <a:t>using</a:t>
            </a:r>
            <a:r>
              <a:rPr lang="pt-PT" sz="3000" dirty="0"/>
              <a:t> </a:t>
            </a:r>
            <a:r>
              <a:rPr lang="pt-PT" sz="3000" dirty="0" err="1"/>
              <a:t>while</a:t>
            </a:r>
            <a:r>
              <a:rPr lang="pt-PT" sz="3000" dirty="0"/>
              <a:t> </a:t>
            </a:r>
            <a:r>
              <a:rPr lang="pt-PT" sz="3000" dirty="0" err="1"/>
              <a:t>loop</a:t>
            </a:r>
            <a:r>
              <a:rPr lang="pt-PT" sz="3000" dirty="0"/>
              <a:t>.</a:t>
            </a:r>
            <a:endParaRPr sz="3000" dirty="0"/>
          </a:p>
          <a:p>
            <a:pPr marL="552450" lvl="0" indent="-514350" algn="l" rtl="0">
              <a:spcBef>
                <a:spcPts val="0"/>
              </a:spcBef>
              <a:spcAft>
                <a:spcPts val="0"/>
              </a:spcAft>
              <a:buSzPts val="3000"/>
              <a:buFont typeface="+mj-lt"/>
              <a:buAutoNum type="arabicPeriod"/>
            </a:pPr>
            <a:r>
              <a:rPr lang="pt-PT" sz="3000" dirty="0"/>
              <a:t>No, </a:t>
            </a:r>
            <a:r>
              <a:rPr lang="pt-PT" sz="3000" dirty="0" err="1"/>
              <a:t>you</a:t>
            </a:r>
            <a:r>
              <a:rPr lang="pt-PT" sz="3000" dirty="0"/>
              <a:t> </a:t>
            </a:r>
            <a:r>
              <a:rPr lang="pt-PT" sz="3000" dirty="0" err="1"/>
              <a:t>cannot</a:t>
            </a:r>
            <a:r>
              <a:rPr lang="pt-PT" sz="3000" dirty="0"/>
              <a:t> </a:t>
            </a:r>
            <a:r>
              <a:rPr lang="pt-PT" sz="3000" dirty="0" err="1"/>
              <a:t>iterate</a:t>
            </a:r>
            <a:r>
              <a:rPr lang="pt-PT" sz="3000" dirty="0"/>
              <a:t> </a:t>
            </a:r>
            <a:r>
              <a:rPr lang="pt-PT" sz="3000" dirty="0" err="1"/>
              <a:t>through</a:t>
            </a:r>
            <a:r>
              <a:rPr lang="pt-PT" sz="3000" dirty="0"/>
              <a:t> a </a:t>
            </a:r>
            <a:r>
              <a:rPr lang="pt-PT" sz="3000" dirty="0" err="1"/>
              <a:t>sequence</a:t>
            </a:r>
            <a:r>
              <a:rPr lang="pt-PT" sz="3000" dirty="0"/>
              <a:t> </a:t>
            </a:r>
            <a:r>
              <a:rPr lang="pt-PT" sz="3000" dirty="0" err="1"/>
              <a:t>using</a:t>
            </a:r>
            <a:r>
              <a:rPr lang="pt-PT" sz="3000" dirty="0"/>
              <a:t> </a:t>
            </a:r>
            <a:r>
              <a:rPr lang="pt-PT" sz="3000" dirty="0" err="1"/>
              <a:t>loops</a:t>
            </a:r>
            <a:r>
              <a:rPr lang="pt-PT" sz="3000" dirty="0"/>
              <a:t>.</a:t>
            </a:r>
            <a:endParaRPr sz="3000" dirty="0"/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7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134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pt-PT" sz="2400">
                <a:solidFill>
                  <a:srgbClr val="FFFFFF"/>
                </a:solidFill>
              </a:rPr>
              <a:t>Which of the following statement is true?</a:t>
            </a: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0" name="Google Shape;920;p174"/>
          <p:cNvSpPr txBox="1">
            <a:spLocks noGrp="1"/>
          </p:cNvSpPr>
          <p:nvPr>
            <p:ph type="body" idx="1"/>
          </p:nvPr>
        </p:nvSpPr>
        <p:spPr>
          <a:xfrm>
            <a:off x="311700" y="1548475"/>
            <a:ext cx="8520600" cy="359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33400" lvl="0" indent="-457200" algn="l" rtl="0">
              <a:spcBef>
                <a:spcPts val="120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 err="1"/>
              <a:t>The</a:t>
            </a:r>
            <a:r>
              <a:rPr lang="pt-PT" sz="2400" dirty="0"/>
              <a:t> break </a:t>
            </a:r>
            <a:r>
              <a:rPr lang="pt-PT" sz="2400" dirty="0" err="1"/>
              <a:t>statement</a:t>
            </a:r>
            <a:r>
              <a:rPr lang="pt-PT" sz="2400" dirty="0"/>
              <a:t> </a:t>
            </a:r>
            <a:r>
              <a:rPr lang="pt-PT" sz="2400" dirty="0" err="1"/>
              <a:t>terminates</a:t>
            </a:r>
            <a:r>
              <a:rPr lang="pt-PT" sz="2400" dirty="0"/>
              <a:t> </a:t>
            </a:r>
            <a:r>
              <a:rPr lang="pt-PT" sz="2400" dirty="0" err="1"/>
              <a:t>the</a:t>
            </a:r>
            <a:r>
              <a:rPr lang="pt-PT" sz="2400" dirty="0"/>
              <a:t> </a:t>
            </a:r>
            <a:r>
              <a:rPr lang="pt-PT" sz="2400" dirty="0" err="1"/>
              <a:t>loop</a:t>
            </a:r>
            <a:r>
              <a:rPr lang="pt-PT" sz="2400" dirty="0"/>
              <a:t> </a:t>
            </a:r>
            <a:r>
              <a:rPr lang="pt-PT" sz="2400" dirty="0" err="1"/>
              <a:t>containing</a:t>
            </a:r>
            <a:r>
              <a:rPr lang="pt-PT" sz="2400" dirty="0"/>
              <a:t> </a:t>
            </a:r>
            <a:r>
              <a:rPr lang="pt-PT" sz="2400" dirty="0" err="1"/>
              <a:t>it</a:t>
            </a:r>
            <a:r>
              <a:rPr lang="pt-PT" sz="2400" dirty="0"/>
              <a:t>.</a:t>
            </a:r>
            <a:endParaRPr sz="2400" dirty="0"/>
          </a:p>
          <a:p>
            <a:pPr marL="533400" lvl="0" indent="-457200" algn="l" rtl="0">
              <a:spcBef>
                <a:spcPts val="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 err="1"/>
              <a:t>The</a:t>
            </a:r>
            <a:r>
              <a:rPr lang="pt-PT" sz="2400" dirty="0"/>
              <a:t> continue </a:t>
            </a:r>
            <a:r>
              <a:rPr lang="pt-PT" sz="2400" dirty="0" err="1"/>
              <a:t>statement</a:t>
            </a:r>
            <a:r>
              <a:rPr lang="pt-PT" sz="2400" dirty="0"/>
              <a:t> </a:t>
            </a:r>
            <a:r>
              <a:rPr lang="pt-PT" sz="2400" dirty="0" err="1"/>
              <a:t>is</a:t>
            </a:r>
            <a:r>
              <a:rPr lang="pt-PT" sz="2400" dirty="0"/>
              <a:t> </a:t>
            </a:r>
            <a:r>
              <a:rPr lang="pt-PT" sz="2400" dirty="0" err="1"/>
              <a:t>used</a:t>
            </a:r>
            <a:r>
              <a:rPr lang="pt-PT" sz="2400" dirty="0"/>
              <a:t> to </a:t>
            </a:r>
            <a:r>
              <a:rPr lang="pt-PT" sz="2400" dirty="0" err="1"/>
              <a:t>skip</a:t>
            </a:r>
            <a:r>
              <a:rPr lang="pt-PT" sz="2400" dirty="0"/>
              <a:t> </a:t>
            </a:r>
            <a:r>
              <a:rPr lang="pt-PT" sz="2400" dirty="0" err="1"/>
              <a:t>the</a:t>
            </a:r>
            <a:r>
              <a:rPr lang="pt-PT" sz="2400" dirty="0"/>
              <a:t> </a:t>
            </a:r>
            <a:r>
              <a:rPr lang="pt-PT" sz="2400" dirty="0" err="1"/>
              <a:t>rest</a:t>
            </a:r>
            <a:r>
              <a:rPr lang="pt-PT" sz="2400" dirty="0"/>
              <a:t> </a:t>
            </a:r>
            <a:r>
              <a:rPr lang="pt-PT" sz="2400" dirty="0" err="1"/>
              <a:t>of</a:t>
            </a:r>
            <a:r>
              <a:rPr lang="pt-PT" sz="2400" dirty="0"/>
              <a:t> </a:t>
            </a:r>
            <a:r>
              <a:rPr lang="pt-PT" sz="2400" dirty="0" err="1"/>
              <a:t>the</a:t>
            </a:r>
            <a:r>
              <a:rPr lang="pt-PT" sz="2400" dirty="0"/>
              <a:t> </a:t>
            </a:r>
            <a:r>
              <a:rPr lang="pt-PT" sz="2400" dirty="0" err="1"/>
              <a:t>code</a:t>
            </a:r>
            <a:r>
              <a:rPr lang="pt-PT" sz="2400" dirty="0"/>
              <a:t> </a:t>
            </a:r>
            <a:r>
              <a:rPr lang="pt-PT" sz="2400" dirty="0" err="1"/>
              <a:t>inside</a:t>
            </a:r>
            <a:r>
              <a:rPr lang="pt-PT" sz="2400" dirty="0"/>
              <a:t> </a:t>
            </a:r>
            <a:r>
              <a:rPr lang="pt-PT" sz="2400" dirty="0" err="1"/>
              <a:t>the</a:t>
            </a:r>
            <a:r>
              <a:rPr lang="pt-PT" sz="2400" dirty="0"/>
              <a:t> </a:t>
            </a:r>
            <a:r>
              <a:rPr lang="pt-PT" sz="2400" dirty="0" err="1"/>
              <a:t>loop</a:t>
            </a:r>
            <a:r>
              <a:rPr lang="pt-PT" sz="2400" dirty="0"/>
              <a:t>.</a:t>
            </a:r>
            <a:endParaRPr sz="2400" dirty="0"/>
          </a:p>
          <a:p>
            <a:pPr marL="533400" lvl="0" indent="-457200" algn="l" rtl="0">
              <a:spcBef>
                <a:spcPts val="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 err="1"/>
              <a:t>The</a:t>
            </a:r>
            <a:r>
              <a:rPr lang="pt-PT" sz="2400" dirty="0"/>
              <a:t> break </a:t>
            </a:r>
            <a:r>
              <a:rPr lang="pt-PT" sz="2400" dirty="0" err="1"/>
              <a:t>and</a:t>
            </a:r>
            <a:r>
              <a:rPr lang="pt-PT" sz="2400" dirty="0"/>
              <a:t> continue </a:t>
            </a:r>
            <a:r>
              <a:rPr lang="pt-PT" sz="2400" dirty="0" err="1"/>
              <a:t>statements</a:t>
            </a:r>
            <a:r>
              <a:rPr lang="pt-PT" sz="2400" dirty="0"/>
              <a:t> are </a:t>
            </a:r>
            <a:r>
              <a:rPr lang="pt-PT" sz="2400" dirty="0" err="1"/>
              <a:t>almost</a:t>
            </a:r>
            <a:r>
              <a:rPr lang="pt-PT" sz="2400" dirty="0"/>
              <a:t> </a:t>
            </a:r>
            <a:r>
              <a:rPr lang="pt-PT" sz="2400" dirty="0" err="1"/>
              <a:t>always</a:t>
            </a:r>
            <a:r>
              <a:rPr lang="pt-PT" sz="2400" dirty="0"/>
              <a:t> </a:t>
            </a:r>
            <a:r>
              <a:rPr lang="pt-PT" sz="2400" dirty="0" err="1"/>
              <a:t>used</a:t>
            </a:r>
            <a:r>
              <a:rPr lang="pt-PT" sz="2400" dirty="0"/>
              <a:t> </a:t>
            </a:r>
            <a:r>
              <a:rPr lang="pt-PT" sz="2400" dirty="0" err="1"/>
              <a:t>with</a:t>
            </a:r>
            <a:r>
              <a:rPr lang="pt-PT" sz="2400" dirty="0"/>
              <a:t> </a:t>
            </a:r>
            <a:r>
              <a:rPr lang="pt-PT" sz="2400" dirty="0" err="1"/>
              <a:t>if</a:t>
            </a:r>
            <a:r>
              <a:rPr lang="pt-PT" sz="2400" dirty="0"/>
              <a:t>, </a:t>
            </a:r>
            <a:r>
              <a:rPr lang="pt-PT" sz="2400" dirty="0" err="1"/>
              <a:t>if</a:t>
            </a:r>
            <a:r>
              <a:rPr lang="pt-PT" sz="2400" dirty="0"/>
              <a:t>...</a:t>
            </a:r>
            <a:r>
              <a:rPr lang="pt-PT" sz="2400" dirty="0" err="1"/>
              <a:t>else</a:t>
            </a:r>
            <a:r>
              <a:rPr lang="pt-PT" sz="2400" dirty="0"/>
              <a:t> </a:t>
            </a:r>
            <a:r>
              <a:rPr lang="pt-PT" sz="2400" dirty="0" err="1"/>
              <a:t>and</a:t>
            </a:r>
            <a:r>
              <a:rPr lang="pt-PT" sz="2400" dirty="0"/>
              <a:t> </a:t>
            </a:r>
            <a:r>
              <a:rPr lang="pt-PT" sz="2400" dirty="0" err="1"/>
              <a:t>if</a:t>
            </a:r>
            <a:r>
              <a:rPr lang="pt-PT" sz="2400" dirty="0"/>
              <a:t>...</a:t>
            </a:r>
            <a:r>
              <a:rPr lang="pt-PT" sz="2400" dirty="0" err="1"/>
              <a:t>elif</a:t>
            </a:r>
            <a:r>
              <a:rPr lang="pt-PT" sz="2400" dirty="0"/>
              <a:t>...</a:t>
            </a:r>
            <a:r>
              <a:rPr lang="pt-PT" sz="2400" dirty="0" err="1"/>
              <a:t>else</a:t>
            </a:r>
            <a:r>
              <a:rPr lang="pt-PT" sz="2400" dirty="0"/>
              <a:t> </a:t>
            </a:r>
            <a:r>
              <a:rPr lang="pt-PT" sz="2400" dirty="0" err="1"/>
              <a:t>statements</a:t>
            </a:r>
            <a:r>
              <a:rPr lang="pt-PT" sz="2400" dirty="0"/>
              <a:t>.</a:t>
            </a:r>
            <a:endParaRPr sz="2400" dirty="0"/>
          </a:p>
          <a:p>
            <a:pPr marL="533400" lvl="0" indent="-457200" algn="l" rtl="0">
              <a:spcBef>
                <a:spcPts val="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 err="1"/>
              <a:t>All</a:t>
            </a:r>
            <a:r>
              <a:rPr lang="pt-PT" sz="2400" dirty="0"/>
              <a:t> </a:t>
            </a:r>
            <a:r>
              <a:rPr lang="pt-PT" sz="2400" dirty="0" err="1"/>
              <a:t>of</a:t>
            </a:r>
            <a:r>
              <a:rPr lang="pt-PT" sz="2400" dirty="0"/>
              <a:t> </a:t>
            </a:r>
            <a:r>
              <a:rPr lang="pt-PT" sz="2400" dirty="0" err="1"/>
              <a:t>the</a:t>
            </a:r>
            <a:r>
              <a:rPr lang="pt-PT" sz="2400" dirty="0"/>
              <a:t> </a:t>
            </a:r>
            <a:r>
              <a:rPr lang="pt-PT" sz="2400" dirty="0" err="1"/>
              <a:t>above</a:t>
            </a:r>
            <a:r>
              <a:rPr lang="pt-PT" sz="2400" dirty="0"/>
              <a:t>.</a:t>
            </a:r>
            <a:endParaRPr sz="3000" dirty="0"/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7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348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2400">
                <a:solidFill>
                  <a:srgbClr val="FFFFFF"/>
                </a:solidFill>
              </a:rPr>
              <a:t>What is the output of the following code?</a:t>
            </a:r>
            <a:endParaRPr sz="240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AutoNum type="arabicPeriod"/>
            </a:pPr>
            <a:r>
              <a:rPr lang="pt-PT" sz="2400">
                <a:solidFill>
                  <a:srgbClr val="FFFFFF"/>
                </a:solidFill>
              </a:rPr>
              <a:t>for char in 'PYTHON STRING':</a:t>
            </a:r>
            <a:endParaRPr sz="240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AutoNum type="arabicPeriod"/>
            </a:pPr>
            <a:r>
              <a:rPr lang="pt-PT" sz="2400">
                <a:solidFill>
                  <a:srgbClr val="FFFFFF"/>
                </a:solidFill>
              </a:rPr>
              <a:t> if char == ' ':</a:t>
            </a:r>
            <a:endParaRPr sz="240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AutoNum type="arabicPeriod"/>
            </a:pPr>
            <a:r>
              <a:rPr lang="pt-PT" sz="2400">
                <a:solidFill>
                  <a:srgbClr val="FFFFFF"/>
                </a:solidFill>
              </a:rPr>
              <a:t>     break</a:t>
            </a:r>
            <a:endParaRPr sz="240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AutoNum type="arabicPeriod"/>
            </a:pPr>
            <a:endParaRPr sz="240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AutoNum type="arabicPeriod"/>
            </a:pPr>
            <a:r>
              <a:rPr lang="pt-PT" sz="2400">
                <a:solidFill>
                  <a:srgbClr val="FFFFFF"/>
                </a:solidFill>
              </a:rPr>
              <a:t> print(char, end='')</a:t>
            </a:r>
            <a:endParaRPr sz="240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AutoNum type="arabicPeriod"/>
            </a:pPr>
            <a:endParaRPr sz="240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AutoNum type="arabicPeriod"/>
            </a:pPr>
            <a:r>
              <a:rPr lang="pt-PT" sz="2400">
                <a:solidFill>
                  <a:srgbClr val="FFFFFF"/>
                </a:solidFill>
              </a:rPr>
              <a:t> if char == 'O':</a:t>
            </a:r>
            <a:endParaRPr sz="240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AutoNum type="arabicPeriod"/>
            </a:pPr>
            <a:r>
              <a:rPr lang="pt-PT" sz="2400">
                <a:solidFill>
                  <a:srgbClr val="FFFFFF"/>
                </a:solidFill>
              </a:rPr>
              <a:t>     continue</a:t>
            </a: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6" name="Google Shape;926;p175"/>
          <p:cNvSpPr txBox="1">
            <a:spLocks noGrp="1"/>
          </p:cNvSpPr>
          <p:nvPr>
            <p:ph type="body" idx="1"/>
          </p:nvPr>
        </p:nvSpPr>
        <p:spPr>
          <a:xfrm>
            <a:off x="3926114" y="1815450"/>
            <a:ext cx="4906086" cy="315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742950" lvl="0" indent="-742950" algn="l" rtl="0">
              <a:spcBef>
                <a:spcPts val="120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PYTHON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PYTHONSTRING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PYTHN</a:t>
            </a:r>
            <a:endParaRPr sz="3600" dirty="0"/>
          </a:p>
          <a:p>
            <a:pPr marL="742950" lvl="0" indent="-742950" algn="l" rtl="0">
              <a:spcBef>
                <a:spcPts val="0"/>
              </a:spcBef>
              <a:spcAft>
                <a:spcPts val="0"/>
              </a:spcAft>
              <a:buSzPts val="3600"/>
              <a:buFont typeface="+mj-lt"/>
              <a:buAutoNum type="arabicPeriod"/>
            </a:pPr>
            <a:r>
              <a:rPr lang="pt-PT" sz="3600" dirty="0"/>
              <a:t>STRING</a:t>
            </a:r>
            <a:endParaRPr sz="3600" dirty="0"/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" name="Google Shape;931;p17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134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pt-PT" sz="2400">
                <a:solidFill>
                  <a:srgbClr val="FFFFFF"/>
                </a:solidFill>
              </a:rPr>
              <a:t>Which of the following statement is true about the pass statement?</a:t>
            </a: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2" name="Google Shape;932;p176"/>
          <p:cNvSpPr txBox="1">
            <a:spLocks noGrp="1"/>
          </p:cNvSpPr>
          <p:nvPr>
            <p:ph type="body" idx="1"/>
          </p:nvPr>
        </p:nvSpPr>
        <p:spPr>
          <a:xfrm>
            <a:off x="311700" y="1548475"/>
            <a:ext cx="8520600" cy="359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33400" lvl="0" indent="-457200" algn="l" rtl="0">
              <a:spcBef>
                <a:spcPts val="120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 err="1"/>
              <a:t>The</a:t>
            </a:r>
            <a:r>
              <a:rPr lang="pt-PT" sz="2400" dirty="0"/>
              <a:t> </a:t>
            </a:r>
            <a:r>
              <a:rPr lang="pt-PT" sz="2400" dirty="0" err="1"/>
              <a:t>Python</a:t>
            </a:r>
            <a:r>
              <a:rPr lang="pt-PT" sz="2400" dirty="0"/>
              <a:t> </a:t>
            </a:r>
            <a:r>
              <a:rPr lang="pt-PT" sz="2400" dirty="0" err="1"/>
              <a:t>interpreter</a:t>
            </a:r>
            <a:r>
              <a:rPr lang="pt-PT" sz="2400" dirty="0"/>
              <a:t> ignores </a:t>
            </a:r>
            <a:r>
              <a:rPr lang="pt-PT" sz="2400" dirty="0" err="1"/>
              <a:t>the</a:t>
            </a:r>
            <a:r>
              <a:rPr lang="pt-PT" sz="2400" dirty="0"/>
              <a:t> </a:t>
            </a:r>
            <a:r>
              <a:rPr lang="pt-PT" sz="2400" dirty="0" err="1"/>
              <a:t>pass</a:t>
            </a:r>
            <a:r>
              <a:rPr lang="pt-PT" sz="2400" dirty="0"/>
              <a:t> </a:t>
            </a:r>
            <a:r>
              <a:rPr lang="pt-PT" sz="2400" dirty="0" err="1"/>
              <a:t>statement</a:t>
            </a:r>
            <a:r>
              <a:rPr lang="pt-PT" sz="2400" dirty="0"/>
              <a:t> </a:t>
            </a:r>
            <a:r>
              <a:rPr lang="pt-PT" sz="2400" dirty="0" err="1"/>
              <a:t>like</a:t>
            </a:r>
            <a:r>
              <a:rPr lang="pt-PT" sz="2400" dirty="0"/>
              <a:t> </a:t>
            </a:r>
            <a:r>
              <a:rPr lang="pt-PT" sz="2400" dirty="0" err="1"/>
              <a:t>comments</a:t>
            </a:r>
            <a:r>
              <a:rPr lang="pt-PT" sz="2400" dirty="0"/>
              <a:t>.</a:t>
            </a:r>
            <a:endParaRPr sz="2400" dirty="0"/>
          </a:p>
          <a:p>
            <a:pPr marL="533400" lvl="0" indent="-457200" algn="l" rtl="0">
              <a:spcBef>
                <a:spcPts val="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 err="1"/>
              <a:t>The</a:t>
            </a:r>
            <a:r>
              <a:rPr lang="pt-PT" sz="2400" dirty="0"/>
              <a:t> </a:t>
            </a:r>
            <a:r>
              <a:rPr lang="pt-PT" sz="2400" dirty="0" err="1"/>
              <a:t>pass</a:t>
            </a:r>
            <a:r>
              <a:rPr lang="pt-PT" sz="2400" dirty="0"/>
              <a:t> </a:t>
            </a:r>
            <a:r>
              <a:rPr lang="pt-PT" sz="2400" dirty="0" err="1"/>
              <a:t>statement</a:t>
            </a:r>
            <a:r>
              <a:rPr lang="pt-PT" sz="2400" dirty="0"/>
              <a:t> </a:t>
            </a:r>
            <a:r>
              <a:rPr lang="pt-PT" sz="2400" dirty="0" err="1"/>
              <a:t>terminates</a:t>
            </a:r>
            <a:r>
              <a:rPr lang="pt-PT" sz="2400" dirty="0"/>
              <a:t> </a:t>
            </a:r>
            <a:r>
              <a:rPr lang="pt-PT" sz="2400" dirty="0" err="1"/>
              <a:t>the</a:t>
            </a:r>
            <a:r>
              <a:rPr lang="pt-PT" sz="2400" dirty="0"/>
              <a:t> </a:t>
            </a:r>
            <a:r>
              <a:rPr lang="pt-PT" sz="2400" dirty="0" err="1"/>
              <a:t>loop</a:t>
            </a:r>
            <a:r>
              <a:rPr lang="pt-PT" sz="2400" dirty="0"/>
              <a:t> </a:t>
            </a:r>
            <a:r>
              <a:rPr lang="pt-PT" sz="2400" dirty="0" err="1"/>
              <a:t>containing</a:t>
            </a:r>
            <a:r>
              <a:rPr lang="pt-PT" sz="2400" dirty="0"/>
              <a:t> </a:t>
            </a:r>
            <a:r>
              <a:rPr lang="pt-PT" sz="2400" dirty="0" err="1"/>
              <a:t>it</a:t>
            </a:r>
            <a:r>
              <a:rPr lang="pt-PT" sz="2400" dirty="0"/>
              <a:t>.</a:t>
            </a:r>
            <a:endParaRPr sz="2400" dirty="0"/>
          </a:p>
          <a:p>
            <a:pPr marL="533400" lvl="0" indent="-457200" algn="l" rtl="0">
              <a:spcBef>
                <a:spcPts val="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 err="1"/>
              <a:t>It</a:t>
            </a:r>
            <a:r>
              <a:rPr lang="pt-PT" sz="2400" dirty="0"/>
              <a:t> </a:t>
            </a:r>
            <a:r>
              <a:rPr lang="pt-PT" sz="2400" dirty="0" err="1"/>
              <a:t>is</a:t>
            </a:r>
            <a:r>
              <a:rPr lang="pt-PT" sz="2400" dirty="0"/>
              <a:t> </a:t>
            </a:r>
            <a:r>
              <a:rPr lang="pt-PT" sz="2400" dirty="0" err="1"/>
              <a:t>used</a:t>
            </a:r>
            <a:r>
              <a:rPr lang="pt-PT" sz="2400" dirty="0"/>
              <a:t> as a </a:t>
            </a:r>
            <a:r>
              <a:rPr lang="pt-PT" sz="2400" dirty="0" err="1"/>
              <a:t>placeholder</a:t>
            </a:r>
            <a:r>
              <a:rPr lang="pt-PT" sz="2400" dirty="0"/>
              <a:t> for future </a:t>
            </a:r>
            <a:r>
              <a:rPr lang="pt-PT" sz="2400" dirty="0" err="1"/>
              <a:t>implementation</a:t>
            </a:r>
            <a:r>
              <a:rPr lang="pt-PT" sz="2400" dirty="0"/>
              <a:t> </a:t>
            </a:r>
            <a:r>
              <a:rPr lang="pt-PT" sz="2400" dirty="0" err="1"/>
              <a:t>of</a:t>
            </a:r>
            <a:r>
              <a:rPr lang="pt-PT" sz="2400" dirty="0"/>
              <a:t> </a:t>
            </a:r>
            <a:r>
              <a:rPr lang="pt-PT" sz="2400" dirty="0" err="1"/>
              <a:t>functions</a:t>
            </a:r>
            <a:r>
              <a:rPr lang="pt-PT" sz="2400" dirty="0"/>
              <a:t>, </a:t>
            </a:r>
            <a:r>
              <a:rPr lang="pt-PT" sz="2400" dirty="0" err="1"/>
              <a:t>loops</a:t>
            </a:r>
            <a:r>
              <a:rPr lang="pt-PT" sz="2400" dirty="0"/>
              <a:t> </a:t>
            </a:r>
            <a:r>
              <a:rPr lang="pt-PT" sz="2400" dirty="0" err="1"/>
              <a:t>etc</a:t>
            </a:r>
            <a:endParaRPr sz="2400" dirty="0"/>
          </a:p>
          <a:p>
            <a:pPr marL="533400" lvl="0" indent="-457200" algn="l" rtl="0">
              <a:spcBef>
                <a:spcPts val="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 err="1"/>
              <a:t>All</a:t>
            </a:r>
            <a:r>
              <a:rPr lang="pt-PT" sz="2400" dirty="0"/>
              <a:t> </a:t>
            </a:r>
            <a:r>
              <a:rPr lang="pt-PT" sz="2400" dirty="0" err="1"/>
              <a:t>of</a:t>
            </a:r>
            <a:r>
              <a:rPr lang="pt-PT" sz="2400" dirty="0"/>
              <a:t> </a:t>
            </a:r>
            <a:r>
              <a:rPr lang="pt-PT" sz="2400" dirty="0" err="1"/>
              <a:t>the</a:t>
            </a:r>
            <a:r>
              <a:rPr lang="pt-PT" sz="2400" dirty="0"/>
              <a:t> </a:t>
            </a:r>
            <a:r>
              <a:rPr lang="pt-PT" sz="2400" dirty="0" err="1"/>
              <a:t>above</a:t>
            </a:r>
            <a:r>
              <a:rPr lang="pt-PT" sz="2400" dirty="0"/>
              <a:t>.</a:t>
            </a:r>
            <a:endParaRPr sz="2400" dirty="0"/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7" name="Google Shape;937;p17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2488" y="1390650"/>
            <a:ext cx="7439025" cy="2362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2" name="Google Shape;942;p1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33463" y="1390650"/>
            <a:ext cx="7077075" cy="2362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7" name="Google Shape;947;p17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482663"/>
            <a:ext cx="8839198" cy="21781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2" name="Google Shape;952;p18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24025" y="1400175"/>
            <a:ext cx="5695950" cy="2343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7" name="Google Shape;957;p18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71650" y="1447800"/>
            <a:ext cx="5600700" cy="2247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" name="Google Shape;962;p18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134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pt-PT" sz="3000">
                <a:solidFill>
                  <a:srgbClr val="FFFFFF"/>
                </a:solidFill>
              </a:rPr>
              <a:t>Opening a file in </a:t>
            </a:r>
            <a:r>
              <a:rPr lang="pt-PT" sz="3000" b="1">
                <a:solidFill>
                  <a:srgbClr val="FFFFFF"/>
                </a:solidFill>
              </a:rPr>
              <a:t>‘a’</a:t>
            </a:r>
            <a:r>
              <a:rPr lang="pt-PT" sz="3000">
                <a:solidFill>
                  <a:srgbClr val="FFFFFF"/>
                </a:solidFill>
              </a:rPr>
              <a:t> mode</a:t>
            </a:r>
            <a:endParaRPr sz="30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3" name="Google Shape;963;p182"/>
          <p:cNvSpPr txBox="1">
            <a:spLocks noGrp="1"/>
          </p:cNvSpPr>
          <p:nvPr>
            <p:ph type="body" idx="1"/>
          </p:nvPr>
        </p:nvSpPr>
        <p:spPr>
          <a:xfrm>
            <a:off x="311700" y="1548475"/>
            <a:ext cx="8520600" cy="244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33400" lvl="0" indent="-457200" algn="l" rtl="0">
              <a:spcBef>
                <a:spcPts val="120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/>
              <a:t>opens a file for </a:t>
            </a:r>
            <a:r>
              <a:rPr lang="pt-PT" sz="2400" dirty="0" err="1"/>
              <a:t>reading</a:t>
            </a:r>
            <a:endParaRPr sz="2400" dirty="0"/>
          </a:p>
          <a:p>
            <a:pPr marL="533400" lvl="0" indent="-457200" algn="l" rtl="0">
              <a:spcBef>
                <a:spcPts val="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/>
              <a:t>opens a file for </a:t>
            </a:r>
            <a:r>
              <a:rPr lang="pt-PT" sz="2400" dirty="0" err="1"/>
              <a:t>writing</a:t>
            </a:r>
            <a:endParaRPr sz="2400" dirty="0"/>
          </a:p>
          <a:p>
            <a:pPr marL="533400" lvl="0" indent="-457200" algn="l" rtl="0">
              <a:spcBef>
                <a:spcPts val="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/>
              <a:t>opens a file for </a:t>
            </a:r>
            <a:r>
              <a:rPr lang="pt-PT" sz="2400" dirty="0" err="1"/>
              <a:t>appending</a:t>
            </a:r>
            <a:r>
              <a:rPr lang="pt-PT" sz="2400" dirty="0"/>
              <a:t> </a:t>
            </a:r>
            <a:r>
              <a:rPr lang="pt-PT" sz="2400" dirty="0" err="1"/>
              <a:t>at</a:t>
            </a:r>
            <a:r>
              <a:rPr lang="pt-PT" sz="2400" dirty="0"/>
              <a:t> </a:t>
            </a:r>
            <a:r>
              <a:rPr lang="pt-PT" sz="2400" dirty="0" err="1"/>
              <a:t>the</a:t>
            </a:r>
            <a:r>
              <a:rPr lang="pt-PT" sz="2400" dirty="0"/>
              <a:t> </a:t>
            </a:r>
            <a:r>
              <a:rPr lang="pt-PT" sz="2400" dirty="0" err="1"/>
              <a:t>end</a:t>
            </a:r>
            <a:r>
              <a:rPr lang="pt-PT" sz="2400" dirty="0"/>
              <a:t> </a:t>
            </a:r>
            <a:r>
              <a:rPr lang="pt-PT" sz="2400" dirty="0" err="1"/>
              <a:t>of</a:t>
            </a:r>
            <a:r>
              <a:rPr lang="pt-PT" sz="2400" dirty="0"/>
              <a:t> </a:t>
            </a:r>
            <a:r>
              <a:rPr lang="pt-PT" sz="2400" dirty="0" err="1"/>
              <a:t>the</a:t>
            </a:r>
            <a:r>
              <a:rPr lang="pt-PT" sz="2400" dirty="0"/>
              <a:t> file</a:t>
            </a:r>
            <a:endParaRPr sz="2400" dirty="0"/>
          </a:p>
          <a:p>
            <a:pPr marL="533400" lvl="0" indent="-457200" algn="l" rtl="0">
              <a:spcBef>
                <a:spcPts val="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/>
              <a:t>opens a file for exclusive </a:t>
            </a:r>
            <a:r>
              <a:rPr lang="pt-PT" sz="2400" dirty="0" err="1"/>
              <a:t>creation</a:t>
            </a:r>
            <a:endParaRPr sz="2400" dirty="0"/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8" name="Google Shape;968;p18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134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3000">
                <a:solidFill>
                  <a:srgbClr val="FFFFFF"/>
                </a:solidFill>
              </a:rPr>
              <a:t>What does the following code do?</a:t>
            </a:r>
            <a:endParaRPr sz="300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AutoNum type="arabicPeriod"/>
            </a:pPr>
            <a:r>
              <a:rPr lang="pt-PT" sz="3000">
                <a:solidFill>
                  <a:srgbClr val="FFFFFF"/>
                </a:solidFill>
              </a:rPr>
              <a:t>f = open("test.txt")</a:t>
            </a:r>
            <a:endParaRPr sz="30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30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9" name="Google Shape;969;p183"/>
          <p:cNvSpPr txBox="1">
            <a:spLocks noGrp="1"/>
          </p:cNvSpPr>
          <p:nvPr>
            <p:ph type="body" idx="1"/>
          </p:nvPr>
        </p:nvSpPr>
        <p:spPr>
          <a:xfrm>
            <a:off x="311700" y="1974450"/>
            <a:ext cx="8520600" cy="279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33400" lvl="0" indent="-457200" algn="l" rtl="0">
              <a:spcBef>
                <a:spcPts val="120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/>
              <a:t>Opens test.txt file for </a:t>
            </a:r>
            <a:r>
              <a:rPr lang="pt-PT" sz="2400" dirty="0" err="1"/>
              <a:t>both</a:t>
            </a:r>
            <a:r>
              <a:rPr lang="pt-PT" sz="2400" dirty="0"/>
              <a:t> </a:t>
            </a:r>
            <a:r>
              <a:rPr lang="pt-PT" sz="2400" dirty="0" err="1"/>
              <a:t>reading</a:t>
            </a:r>
            <a:r>
              <a:rPr lang="pt-PT" sz="2400" dirty="0"/>
              <a:t> </a:t>
            </a:r>
            <a:r>
              <a:rPr lang="pt-PT" sz="2400" dirty="0" err="1"/>
              <a:t>and</a:t>
            </a:r>
            <a:r>
              <a:rPr lang="pt-PT" sz="2400" dirty="0"/>
              <a:t> </a:t>
            </a:r>
            <a:r>
              <a:rPr lang="pt-PT" sz="2400" dirty="0" err="1"/>
              <a:t>writing</a:t>
            </a:r>
            <a:endParaRPr sz="2400" dirty="0"/>
          </a:p>
          <a:p>
            <a:pPr marL="533400" lvl="0" indent="-457200" algn="l" rtl="0">
              <a:spcBef>
                <a:spcPts val="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/>
              <a:t>Opens test.txt file for </a:t>
            </a:r>
            <a:r>
              <a:rPr lang="pt-PT" sz="2400" dirty="0" err="1"/>
              <a:t>reading</a:t>
            </a:r>
            <a:r>
              <a:rPr lang="pt-PT" sz="2400" dirty="0"/>
              <a:t> </a:t>
            </a:r>
            <a:r>
              <a:rPr lang="pt-PT" sz="2400" dirty="0" err="1"/>
              <a:t>only</a:t>
            </a:r>
            <a:endParaRPr sz="2400" dirty="0"/>
          </a:p>
          <a:p>
            <a:pPr marL="533400" lvl="0" indent="-457200" algn="l" rtl="0">
              <a:spcBef>
                <a:spcPts val="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/>
              <a:t>Opens test.txt file for </a:t>
            </a:r>
            <a:r>
              <a:rPr lang="pt-PT" sz="2400" dirty="0" err="1"/>
              <a:t>writing</a:t>
            </a:r>
            <a:r>
              <a:rPr lang="pt-PT" sz="2400" dirty="0"/>
              <a:t> </a:t>
            </a:r>
            <a:r>
              <a:rPr lang="pt-PT" sz="2400" dirty="0" err="1"/>
              <a:t>only</a:t>
            </a:r>
            <a:endParaRPr sz="2400" dirty="0"/>
          </a:p>
          <a:p>
            <a:pPr marL="533400" lvl="0" indent="-457200" algn="l" rtl="0">
              <a:spcBef>
                <a:spcPts val="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/>
              <a:t>Opens test.txt file in </a:t>
            </a:r>
            <a:r>
              <a:rPr lang="pt-PT" sz="2400" dirty="0" err="1"/>
              <a:t>god</a:t>
            </a:r>
            <a:r>
              <a:rPr lang="pt-PT" sz="2400" dirty="0"/>
              <a:t> </a:t>
            </a:r>
            <a:r>
              <a:rPr lang="pt-PT" sz="2400" dirty="0" err="1"/>
              <a:t>mode</a:t>
            </a:r>
            <a:endParaRPr sz="2400" dirty="0"/>
          </a:p>
        </p:txBody>
      </p:sp>
      <p:pic>
        <p:nvPicPr>
          <p:cNvPr id="970" name="Google Shape;970;p183" descr="Selected" title="Selected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135217" cy="140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5" name="Google Shape;975;p18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86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</a:pPr>
            <a:r>
              <a:rPr lang="pt-PT" sz="1800" dirty="0" err="1">
                <a:solidFill>
                  <a:srgbClr val="FFFFFF"/>
                </a:solidFill>
              </a:rPr>
              <a:t>Which</a:t>
            </a:r>
            <a:r>
              <a:rPr lang="pt-PT" sz="1800" dirty="0">
                <a:solidFill>
                  <a:srgbClr val="FFFFFF"/>
                </a:solidFill>
              </a:rPr>
              <a:t> </a:t>
            </a:r>
            <a:r>
              <a:rPr lang="pt-PT" sz="1800" dirty="0" err="1">
                <a:solidFill>
                  <a:srgbClr val="FFFFFF"/>
                </a:solidFill>
              </a:rPr>
              <a:t>of</a:t>
            </a:r>
            <a:r>
              <a:rPr lang="pt-PT" sz="1800" dirty="0">
                <a:solidFill>
                  <a:srgbClr val="FFFFFF"/>
                </a:solidFill>
              </a:rPr>
              <a:t> </a:t>
            </a:r>
            <a:r>
              <a:rPr lang="pt-PT" sz="1800" dirty="0" err="1">
                <a:solidFill>
                  <a:srgbClr val="FFFFFF"/>
                </a:solidFill>
              </a:rPr>
              <a:t>the</a:t>
            </a:r>
            <a:r>
              <a:rPr lang="pt-PT" sz="1800" dirty="0">
                <a:solidFill>
                  <a:srgbClr val="FFFFFF"/>
                </a:solidFill>
              </a:rPr>
              <a:t> </a:t>
            </a:r>
            <a:r>
              <a:rPr lang="pt-PT" sz="1800" dirty="0" err="1">
                <a:solidFill>
                  <a:srgbClr val="FFFFFF"/>
                </a:solidFill>
              </a:rPr>
              <a:t>following</a:t>
            </a:r>
            <a:r>
              <a:rPr lang="pt-PT" sz="1800" dirty="0">
                <a:solidFill>
                  <a:srgbClr val="FFFFFF"/>
                </a:solidFill>
              </a:rPr>
              <a:t> </a:t>
            </a:r>
            <a:r>
              <a:rPr lang="pt-PT" sz="1800" dirty="0" err="1">
                <a:solidFill>
                  <a:srgbClr val="FFFFFF"/>
                </a:solidFill>
              </a:rPr>
              <a:t>codes</a:t>
            </a:r>
            <a:r>
              <a:rPr lang="pt-PT" sz="1800" dirty="0">
                <a:solidFill>
                  <a:srgbClr val="FFFFFF"/>
                </a:solidFill>
              </a:rPr>
              <a:t> </a:t>
            </a:r>
            <a:r>
              <a:rPr lang="pt-PT" sz="1800" dirty="0" err="1">
                <a:solidFill>
                  <a:srgbClr val="FFFFFF"/>
                </a:solidFill>
              </a:rPr>
              <a:t>closes</a:t>
            </a:r>
            <a:r>
              <a:rPr lang="pt-PT" sz="1800" dirty="0">
                <a:solidFill>
                  <a:srgbClr val="FFFFFF"/>
                </a:solidFill>
              </a:rPr>
              <a:t> file </a:t>
            </a:r>
            <a:r>
              <a:rPr lang="pt-PT" sz="1800" dirty="0" err="1">
                <a:solidFill>
                  <a:srgbClr val="FFFFFF"/>
                </a:solidFill>
              </a:rPr>
              <a:t>automatically</a:t>
            </a:r>
            <a:r>
              <a:rPr lang="pt-PT" sz="1800" dirty="0">
                <a:solidFill>
                  <a:srgbClr val="FFFFFF"/>
                </a:solidFill>
              </a:rPr>
              <a:t> </a:t>
            </a:r>
            <a:r>
              <a:rPr lang="pt-PT" sz="1800" dirty="0" err="1">
                <a:solidFill>
                  <a:srgbClr val="FFFFFF"/>
                </a:solidFill>
              </a:rPr>
              <a:t>if</a:t>
            </a:r>
            <a:r>
              <a:rPr lang="pt-PT" sz="1800" dirty="0">
                <a:solidFill>
                  <a:srgbClr val="FFFFFF"/>
                </a:solidFill>
              </a:rPr>
              <a:t> </a:t>
            </a:r>
            <a:r>
              <a:rPr lang="pt-PT" sz="1800" dirty="0" err="1">
                <a:solidFill>
                  <a:srgbClr val="FFFFFF"/>
                </a:solidFill>
              </a:rPr>
              <a:t>exception</a:t>
            </a:r>
            <a:r>
              <a:rPr lang="pt-PT" sz="1800" dirty="0">
                <a:solidFill>
                  <a:srgbClr val="FFFFFF"/>
                </a:solidFill>
              </a:rPr>
              <a:t> </a:t>
            </a:r>
            <a:r>
              <a:rPr lang="pt-PT" sz="1800" dirty="0" err="1">
                <a:solidFill>
                  <a:srgbClr val="FFFFFF"/>
                </a:solidFill>
              </a:rPr>
              <a:t>occurs</a:t>
            </a:r>
            <a:r>
              <a:rPr lang="pt-PT" sz="1800" dirty="0">
                <a:solidFill>
                  <a:srgbClr val="FFFFFF"/>
                </a:solidFill>
              </a:rPr>
              <a:t>?</a:t>
            </a:r>
            <a:endParaRPr sz="18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30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8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76" name="Google Shape;976;p184"/>
          <p:cNvSpPr txBox="1">
            <a:spLocks noGrp="1"/>
          </p:cNvSpPr>
          <p:nvPr>
            <p:ph type="body" idx="1"/>
          </p:nvPr>
        </p:nvSpPr>
        <p:spPr>
          <a:xfrm>
            <a:off x="311700" y="1104575"/>
            <a:ext cx="8520600" cy="366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SzPts val="1400"/>
              <a:buChar char="●"/>
            </a:pPr>
            <a:r>
              <a:rPr lang="pt-PT" sz="1400" dirty="0" err="1"/>
              <a:t>with</a:t>
            </a:r>
            <a:r>
              <a:rPr lang="pt-PT" sz="1400" dirty="0"/>
              <a:t> open("test.txt", </a:t>
            </a:r>
            <a:r>
              <a:rPr lang="pt-PT" sz="1400" dirty="0" err="1"/>
              <a:t>encoding</a:t>
            </a:r>
            <a:r>
              <a:rPr lang="pt-PT" sz="1400" dirty="0"/>
              <a:t> = 'utf-8') as f:</a:t>
            </a:r>
            <a:endParaRPr sz="1400" dirty="0"/>
          </a:p>
          <a:p>
            <a:pPr marL="457200" lvl="0" indent="45720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pt-PT" sz="1400" dirty="0"/>
              <a:t># </a:t>
            </a:r>
            <a:r>
              <a:rPr lang="pt-PT" sz="1400" dirty="0" err="1"/>
              <a:t>perform</a:t>
            </a:r>
            <a:r>
              <a:rPr lang="pt-PT" sz="1400" dirty="0"/>
              <a:t> file </a:t>
            </a:r>
            <a:r>
              <a:rPr lang="pt-PT" sz="1400" dirty="0" err="1"/>
              <a:t>operation</a:t>
            </a:r>
            <a:endParaRPr sz="1400" dirty="0"/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SzPts val="1400"/>
              <a:buChar char="●"/>
            </a:pPr>
            <a:r>
              <a:rPr lang="pt-PT" sz="1400" dirty="0" err="1"/>
              <a:t>try</a:t>
            </a:r>
            <a:r>
              <a:rPr lang="pt-PT" sz="1400" dirty="0"/>
              <a:t>:</a:t>
            </a:r>
            <a:endParaRPr sz="1400" dirty="0"/>
          </a:p>
          <a:p>
            <a:pPr marL="457200" lvl="0" indent="45720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pt-PT" sz="1400" dirty="0"/>
              <a:t>f = open("test.</a:t>
            </a:r>
            <a:r>
              <a:rPr lang="pt-PT" sz="1400" dirty="0" err="1"/>
              <a:t>txt</a:t>
            </a:r>
            <a:r>
              <a:rPr lang="pt-PT" sz="1400" dirty="0"/>
              <a:t>",</a:t>
            </a:r>
            <a:r>
              <a:rPr lang="pt-PT" sz="1400" dirty="0" err="1"/>
              <a:t>encoding</a:t>
            </a:r>
            <a:r>
              <a:rPr lang="pt-PT" sz="1400" dirty="0"/>
              <a:t> = 'utf-8')</a:t>
            </a:r>
            <a:endParaRPr sz="1400" dirty="0"/>
          </a:p>
          <a:p>
            <a:pPr marL="457200" lvl="0" indent="45720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pt-PT" sz="1400" dirty="0"/>
              <a:t># </a:t>
            </a:r>
            <a:r>
              <a:rPr lang="pt-PT" sz="1400" dirty="0" err="1"/>
              <a:t>perform</a:t>
            </a:r>
            <a:r>
              <a:rPr lang="pt-PT" sz="1400" dirty="0"/>
              <a:t> file </a:t>
            </a:r>
            <a:r>
              <a:rPr lang="pt-PT" sz="1400" dirty="0" err="1"/>
              <a:t>operations</a:t>
            </a:r>
            <a:endParaRPr sz="1400" dirty="0"/>
          </a:p>
          <a:p>
            <a:pPr marL="0" lvl="0" indent="45720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pt-PT" sz="1400" dirty="0" err="1"/>
              <a:t>finally</a:t>
            </a:r>
            <a:r>
              <a:rPr lang="pt-PT" sz="1400" dirty="0"/>
              <a:t>:</a:t>
            </a:r>
            <a:endParaRPr sz="1400" dirty="0"/>
          </a:p>
          <a:p>
            <a:pPr marL="457200" lvl="0" indent="45720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pt-PT" sz="1400" dirty="0" err="1"/>
              <a:t>f.close</a:t>
            </a:r>
            <a:r>
              <a:rPr lang="pt-PT" sz="1400" dirty="0"/>
              <a:t>()</a:t>
            </a:r>
            <a:endParaRPr sz="1400" dirty="0"/>
          </a:p>
          <a:p>
            <a:pPr marL="457200" lvl="0" indent="-317500" algn="l" rtl="0">
              <a:spcBef>
                <a:spcPts val="1000"/>
              </a:spcBef>
              <a:spcAft>
                <a:spcPts val="0"/>
              </a:spcAft>
              <a:buSzPts val="1400"/>
              <a:buChar char="●"/>
            </a:pPr>
            <a:r>
              <a:rPr lang="pt-PT" sz="1400" dirty="0" err="1"/>
              <a:t>None</a:t>
            </a:r>
            <a:r>
              <a:rPr lang="pt-PT" sz="1400" dirty="0"/>
              <a:t> </a:t>
            </a:r>
            <a:r>
              <a:rPr lang="pt-PT" sz="1400" dirty="0" err="1"/>
              <a:t>of</a:t>
            </a:r>
            <a:r>
              <a:rPr lang="pt-PT" sz="1400" dirty="0"/>
              <a:t> </a:t>
            </a:r>
            <a:r>
              <a:rPr lang="pt-PT" sz="1400" dirty="0" err="1"/>
              <a:t>the</a:t>
            </a:r>
            <a:r>
              <a:rPr lang="pt-PT" sz="1400" dirty="0"/>
              <a:t> </a:t>
            </a:r>
            <a:r>
              <a:rPr lang="pt-PT" sz="1400" dirty="0" err="1"/>
              <a:t>above</a:t>
            </a:r>
            <a:endParaRPr sz="1400"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pt-PT" sz="1400" dirty="0"/>
              <a:t>Both </a:t>
            </a:r>
            <a:r>
              <a:rPr lang="pt-PT" sz="1400" dirty="0" err="1"/>
              <a:t>of</a:t>
            </a:r>
            <a:r>
              <a:rPr lang="pt-PT" sz="1400" dirty="0"/>
              <a:t> </a:t>
            </a:r>
            <a:r>
              <a:rPr lang="pt-PT" sz="1400" dirty="0" err="1"/>
              <a:t>the</a:t>
            </a:r>
            <a:r>
              <a:rPr lang="pt-PT" sz="1400" dirty="0"/>
              <a:t> </a:t>
            </a:r>
            <a:r>
              <a:rPr lang="pt-PT" sz="1400" dirty="0" err="1"/>
              <a:t>above</a:t>
            </a:r>
            <a:endParaRPr sz="1400" dirty="0"/>
          </a:p>
        </p:txBody>
      </p:sp>
      <p:pic>
        <p:nvPicPr>
          <p:cNvPr id="977" name="Google Shape;977;p184" descr="Selected" title="Selected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135217" cy="140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2" name="Google Shape;982;p18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20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1800">
                <a:solidFill>
                  <a:srgbClr val="FFFFFF"/>
                </a:solidFill>
              </a:rPr>
              <a:t>For the following code,</a:t>
            </a:r>
            <a:endParaRPr sz="1800">
              <a:solidFill>
                <a:srgbClr val="FFFFFF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800"/>
              <a:buAutoNum type="arabicPeriod"/>
            </a:pPr>
            <a:r>
              <a:rPr lang="pt-PT" sz="1800">
                <a:solidFill>
                  <a:srgbClr val="FFFFFF"/>
                </a:solidFill>
              </a:rPr>
              <a:t>f = open('test.txt', 'r', encoding = 'utf-8')</a:t>
            </a:r>
            <a:endParaRPr sz="1800">
              <a:solidFill>
                <a:srgbClr val="FFFFFF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AutoNum type="arabicPeriod"/>
            </a:pPr>
            <a:r>
              <a:rPr lang="pt-PT" sz="1800">
                <a:solidFill>
                  <a:srgbClr val="FFFFFF"/>
                </a:solidFill>
              </a:rPr>
              <a:t>f.read()</a:t>
            </a: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1800">
                <a:solidFill>
                  <a:srgbClr val="FFFFFF"/>
                </a:solidFill>
              </a:rPr>
              <a:t>Which of the following statement is true?</a:t>
            </a: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30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3" name="Google Shape;983;p185"/>
          <p:cNvSpPr txBox="1">
            <a:spLocks noGrp="1"/>
          </p:cNvSpPr>
          <p:nvPr>
            <p:ph type="body" idx="1"/>
          </p:nvPr>
        </p:nvSpPr>
        <p:spPr>
          <a:xfrm>
            <a:off x="311700" y="2459825"/>
            <a:ext cx="8520600" cy="23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33400" lvl="0" indent="-457200" algn="l" rtl="0">
              <a:spcBef>
                <a:spcPts val="120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 err="1"/>
              <a:t>This</a:t>
            </a:r>
            <a:r>
              <a:rPr lang="pt-PT" sz="2400" dirty="0"/>
              <a:t> </a:t>
            </a:r>
            <a:r>
              <a:rPr lang="pt-PT" sz="2400" dirty="0" err="1"/>
              <a:t>program</a:t>
            </a:r>
            <a:r>
              <a:rPr lang="pt-PT" sz="2400" dirty="0"/>
              <a:t> </a:t>
            </a:r>
            <a:r>
              <a:rPr lang="pt-PT" sz="2400" dirty="0" err="1"/>
              <a:t>reads</a:t>
            </a:r>
            <a:r>
              <a:rPr lang="pt-PT" sz="2400" dirty="0"/>
              <a:t> </a:t>
            </a:r>
            <a:r>
              <a:rPr lang="pt-PT" sz="2400" dirty="0" err="1"/>
              <a:t>the</a:t>
            </a:r>
            <a:r>
              <a:rPr lang="pt-PT" sz="2400" dirty="0"/>
              <a:t> </a:t>
            </a:r>
            <a:r>
              <a:rPr lang="pt-PT" sz="2400" dirty="0" err="1"/>
              <a:t>content</a:t>
            </a:r>
            <a:r>
              <a:rPr lang="pt-PT" sz="2400" dirty="0"/>
              <a:t> </a:t>
            </a:r>
            <a:r>
              <a:rPr lang="pt-PT" sz="2400" dirty="0" err="1"/>
              <a:t>of</a:t>
            </a:r>
            <a:r>
              <a:rPr lang="pt-PT" sz="2400" dirty="0"/>
              <a:t> test.txt file.</a:t>
            </a:r>
            <a:endParaRPr sz="2400" dirty="0"/>
          </a:p>
          <a:p>
            <a:pPr marL="533400" lvl="0" indent="-457200" algn="l" rtl="0">
              <a:spcBef>
                <a:spcPts val="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 err="1"/>
              <a:t>If</a:t>
            </a:r>
            <a:r>
              <a:rPr lang="pt-PT" sz="2400" dirty="0"/>
              <a:t> test.txt </a:t>
            </a:r>
            <a:r>
              <a:rPr lang="pt-PT" sz="2400" dirty="0" err="1"/>
              <a:t>contains</a:t>
            </a:r>
            <a:r>
              <a:rPr lang="pt-PT" sz="2400" dirty="0"/>
              <a:t> </a:t>
            </a:r>
            <a:r>
              <a:rPr lang="pt-PT" sz="2400" dirty="0" err="1"/>
              <a:t>newline</a:t>
            </a:r>
            <a:r>
              <a:rPr lang="pt-PT" sz="2400" dirty="0"/>
              <a:t>, </a:t>
            </a:r>
            <a:r>
              <a:rPr lang="pt-PT" sz="2400" dirty="0" err="1"/>
              <a:t>read</a:t>
            </a:r>
            <a:r>
              <a:rPr lang="pt-PT" sz="2400" dirty="0"/>
              <a:t>() </a:t>
            </a:r>
            <a:r>
              <a:rPr lang="pt-PT" sz="2400" dirty="0" err="1"/>
              <a:t>will</a:t>
            </a:r>
            <a:r>
              <a:rPr lang="pt-PT" sz="2400" dirty="0"/>
              <a:t> </a:t>
            </a:r>
            <a:r>
              <a:rPr lang="pt-PT" sz="2400" dirty="0" err="1"/>
              <a:t>return</a:t>
            </a:r>
            <a:r>
              <a:rPr lang="pt-PT" sz="2400" dirty="0"/>
              <a:t> </a:t>
            </a:r>
            <a:r>
              <a:rPr lang="pt-PT" sz="2400" dirty="0" err="1"/>
              <a:t>newline</a:t>
            </a:r>
            <a:r>
              <a:rPr lang="pt-PT" sz="2400" dirty="0"/>
              <a:t> as ‘\n’.</a:t>
            </a:r>
            <a:endParaRPr sz="2400" dirty="0"/>
          </a:p>
          <a:p>
            <a:pPr marL="533400" lvl="0" indent="-457200" algn="l" rtl="0">
              <a:spcBef>
                <a:spcPts val="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 err="1"/>
              <a:t>You</a:t>
            </a:r>
            <a:r>
              <a:rPr lang="pt-PT" sz="2400" dirty="0"/>
              <a:t> can </a:t>
            </a:r>
            <a:r>
              <a:rPr lang="pt-PT" sz="2400" dirty="0" err="1"/>
              <a:t>pass</a:t>
            </a:r>
            <a:r>
              <a:rPr lang="pt-PT" sz="2400" dirty="0"/>
              <a:t> </a:t>
            </a:r>
            <a:r>
              <a:rPr lang="pt-PT" sz="2400" dirty="0" err="1"/>
              <a:t>an</a:t>
            </a:r>
            <a:r>
              <a:rPr lang="pt-PT" sz="2400" dirty="0"/>
              <a:t> </a:t>
            </a:r>
            <a:r>
              <a:rPr lang="pt-PT" sz="2400" dirty="0" err="1"/>
              <a:t>integer</a:t>
            </a:r>
            <a:r>
              <a:rPr lang="pt-PT" sz="2400" dirty="0"/>
              <a:t> to </a:t>
            </a:r>
            <a:r>
              <a:rPr lang="pt-PT" sz="2400" dirty="0" err="1"/>
              <a:t>the</a:t>
            </a:r>
            <a:r>
              <a:rPr lang="pt-PT" sz="2400" dirty="0"/>
              <a:t> </a:t>
            </a:r>
            <a:r>
              <a:rPr lang="pt-PT" sz="2400" dirty="0" err="1"/>
              <a:t>read</a:t>
            </a:r>
            <a:r>
              <a:rPr lang="pt-PT" sz="2400" dirty="0"/>
              <a:t>() </a:t>
            </a:r>
            <a:r>
              <a:rPr lang="pt-PT" sz="2400" dirty="0" err="1"/>
              <a:t>method</a:t>
            </a:r>
            <a:r>
              <a:rPr lang="pt-PT" sz="2400" dirty="0"/>
              <a:t>.</a:t>
            </a:r>
            <a:endParaRPr sz="2400" dirty="0"/>
          </a:p>
          <a:p>
            <a:pPr marL="533400" lvl="0" indent="-457200" algn="l" rtl="0">
              <a:spcBef>
                <a:spcPts val="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 err="1"/>
              <a:t>All</a:t>
            </a:r>
            <a:r>
              <a:rPr lang="pt-PT" sz="2400" dirty="0"/>
              <a:t> </a:t>
            </a:r>
            <a:r>
              <a:rPr lang="pt-PT" sz="2400" dirty="0" err="1"/>
              <a:t>of</a:t>
            </a:r>
            <a:r>
              <a:rPr lang="pt-PT" sz="2400" dirty="0"/>
              <a:t> </a:t>
            </a:r>
            <a:r>
              <a:rPr lang="pt-PT" sz="2400" dirty="0" err="1"/>
              <a:t>the</a:t>
            </a:r>
            <a:r>
              <a:rPr lang="pt-PT" sz="2400" dirty="0"/>
              <a:t> </a:t>
            </a:r>
            <a:r>
              <a:rPr lang="pt-PT" sz="2400" dirty="0" err="1"/>
              <a:t>above</a:t>
            </a:r>
            <a:r>
              <a:rPr lang="pt-PT" sz="2400" dirty="0"/>
              <a:t>.</a:t>
            </a:r>
            <a:endParaRPr sz="2400" dirty="0"/>
          </a:p>
        </p:txBody>
      </p:sp>
      <p:pic>
        <p:nvPicPr>
          <p:cNvPr id="984" name="Google Shape;984;p185" descr="Selected" title="Selected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135217" cy="140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p18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134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3000">
                <a:solidFill>
                  <a:srgbClr val="FFFFFF"/>
                </a:solidFill>
              </a:rPr>
              <a:t>What does the following code do?</a:t>
            </a:r>
            <a:endParaRPr sz="300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AutoNum type="arabicPeriod"/>
            </a:pPr>
            <a:r>
              <a:rPr lang="pt-PT" sz="3000">
                <a:solidFill>
                  <a:srgbClr val="FFFFFF"/>
                </a:solidFill>
              </a:rPr>
              <a:t>os.listdir()</a:t>
            </a:r>
            <a:endParaRPr sz="30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30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0" name="Google Shape;990;p186"/>
          <p:cNvSpPr txBox="1">
            <a:spLocks noGrp="1"/>
          </p:cNvSpPr>
          <p:nvPr>
            <p:ph type="body" idx="1"/>
          </p:nvPr>
        </p:nvSpPr>
        <p:spPr>
          <a:xfrm>
            <a:off x="311700" y="1974450"/>
            <a:ext cx="8520600" cy="279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33400" lvl="0" indent="-457200" algn="l" rtl="0">
              <a:spcBef>
                <a:spcPts val="120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/>
              <a:t>Prints </a:t>
            </a:r>
            <a:r>
              <a:rPr lang="pt-PT" sz="2400" dirty="0" err="1"/>
              <a:t>the</a:t>
            </a:r>
            <a:r>
              <a:rPr lang="pt-PT" sz="2400" dirty="0"/>
              <a:t> </a:t>
            </a:r>
            <a:r>
              <a:rPr lang="pt-PT" sz="2400" dirty="0" err="1"/>
              <a:t>current</a:t>
            </a:r>
            <a:r>
              <a:rPr lang="pt-PT" sz="2400" dirty="0"/>
              <a:t> </a:t>
            </a:r>
            <a:r>
              <a:rPr lang="pt-PT" sz="2400" dirty="0" err="1"/>
              <a:t>working</a:t>
            </a:r>
            <a:r>
              <a:rPr lang="pt-PT" sz="2400" dirty="0"/>
              <a:t> </a:t>
            </a:r>
            <a:r>
              <a:rPr lang="pt-PT" sz="2400" dirty="0" err="1"/>
              <a:t>directory</a:t>
            </a:r>
            <a:r>
              <a:rPr lang="pt-PT" sz="2400" dirty="0"/>
              <a:t>.</a:t>
            </a:r>
            <a:endParaRPr sz="2400" dirty="0"/>
          </a:p>
          <a:p>
            <a:pPr marL="533400" lvl="0" indent="-457200" algn="l" rtl="0">
              <a:spcBef>
                <a:spcPts val="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/>
              <a:t>Prints </a:t>
            </a:r>
            <a:r>
              <a:rPr lang="pt-PT" sz="2400" dirty="0" err="1"/>
              <a:t>all</a:t>
            </a:r>
            <a:r>
              <a:rPr lang="pt-PT" sz="2400" dirty="0"/>
              <a:t> </a:t>
            </a:r>
            <a:r>
              <a:rPr lang="pt-PT" sz="2400" dirty="0" err="1"/>
              <a:t>directories</a:t>
            </a:r>
            <a:r>
              <a:rPr lang="pt-PT" sz="2400" dirty="0"/>
              <a:t> (</a:t>
            </a:r>
            <a:r>
              <a:rPr lang="pt-PT" sz="2400" dirty="0" err="1"/>
              <a:t>not</a:t>
            </a:r>
            <a:r>
              <a:rPr lang="pt-PT" sz="2400" dirty="0"/>
              <a:t> files) </a:t>
            </a:r>
            <a:r>
              <a:rPr lang="pt-PT" sz="2400" dirty="0" err="1"/>
              <a:t>inside</a:t>
            </a:r>
            <a:r>
              <a:rPr lang="pt-PT" sz="2400" dirty="0"/>
              <a:t> </a:t>
            </a:r>
            <a:r>
              <a:rPr lang="pt-PT" sz="2400" dirty="0" err="1"/>
              <a:t>the</a:t>
            </a:r>
            <a:r>
              <a:rPr lang="pt-PT" sz="2400" dirty="0"/>
              <a:t> </a:t>
            </a:r>
            <a:r>
              <a:rPr lang="pt-PT" sz="2400" dirty="0" err="1"/>
              <a:t>given</a:t>
            </a:r>
            <a:r>
              <a:rPr lang="pt-PT" sz="2400" dirty="0"/>
              <a:t> </a:t>
            </a:r>
            <a:r>
              <a:rPr lang="pt-PT" sz="2400" dirty="0" err="1"/>
              <a:t>directory</a:t>
            </a:r>
            <a:r>
              <a:rPr lang="pt-PT" sz="2400" dirty="0"/>
              <a:t>.</a:t>
            </a:r>
            <a:endParaRPr sz="2400" dirty="0"/>
          </a:p>
          <a:p>
            <a:pPr marL="533400" lvl="0" indent="-457200" algn="l" rtl="0">
              <a:spcBef>
                <a:spcPts val="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/>
              <a:t>Prints </a:t>
            </a:r>
            <a:r>
              <a:rPr lang="pt-PT" sz="2400" dirty="0" err="1"/>
              <a:t>all</a:t>
            </a:r>
            <a:r>
              <a:rPr lang="pt-PT" sz="2400" dirty="0"/>
              <a:t> </a:t>
            </a:r>
            <a:r>
              <a:rPr lang="pt-PT" sz="2400" dirty="0" err="1"/>
              <a:t>directories</a:t>
            </a:r>
            <a:r>
              <a:rPr lang="pt-PT" sz="2400" dirty="0"/>
              <a:t> </a:t>
            </a:r>
            <a:r>
              <a:rPr lang="pt-PT" sz="2400" dirty="0" err="1"/>
              <a:t>and</a:t>
            </a:r>
            <a:r>
              <a:rPr lang="pt-PT" sz="2400" dirty="0"/>
              <a:t> files </a:t>
            </a:r>
            <a:r>
              <a:rPr lang="pt-PT" sz="2400" dirty="0" err="1"/>
              <a:t>inside</a:t>
            </a:r>
            <a:r>
              <a:rPr lang="pt-PT" sz="2400" dirty="0"/>
              <a:t> </a:t>
            </a:r>
            <a:r>
              <a:rPr lang="pt-PT" sz="2400" dirty="0" err="1"/>
              <a:t>the</a:t>
            </a:r>
            <a:r>
              <a:rPr lang="pt-PT" sz="2400" dirty="0"/>
              <a:t> </a:t>
            </a:r>
            <a:r>
              <a:rPr lang="pt-PT" sz="2400" dirty="0" err="1"/>
              <a:t>given</a:t>
            </a:r>
            <a:r>
              <a:rPr lang="pt-PT" sz="2400" dirty="0"/>
              <a:t> </a:t>
            </a:r>
            <a:r>
              <a:rPr lang="pt-PT" sz="2400" dirty="0" err="1"/>
              <a:t>directory</a:t>
            </a:r>
            <a:r>
              <a:rPr lang="pt-PT" sz="2400" dirty="0"/>
              <a:t>.</a:t>
            </a:r>
            <a:endParaRPr sz="2400" dirty="0"/>
          </a:p>
          <a:p>
            <a:pPr marL="533400" lvl="0" indent="-457200" algn="l" rtl="0">
              <a:spcBef>
                <a:spcPts val="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 err="1"/>
              <a:t>Makes</a:t>
            </a:r>
            <a:r>
              <a:rPr lang="pt-PT" sz="2400" dirty="0"/>
              <a:t> a </a:t>
            </a:r>
            <a:r>
              <a:rPr lang="pt-PT" sz="2400" dirty="0" err="1"/>
              <a:t>new</a:t>
            </a:r>
            <a:r>
              <a:rPr lang="pt-PT" sz="2400" dirty="0"/>
              <a:t> </a:t>
            </a:r>
            <a:r>
              <a:rPr lang="pt-PT" sz="2400" dirty="0" err="1"/>
              <a:t>directory</a:t>
            </a:r>
            <a:r>
              <a:rPr lang="pt-PT" sz="2400" dirty="0"/>
              <a:t>.</a:t>
            </a:r>
            <a:endParaRPr sz="2400" dirty="0"/>
          </a:p>
        </p:txBody>
      </p:sp>
      <p:pic>
        <p:nvPicPr>
          <p:cNvPr id="991" name="Google Shape;991;p186" descr="Selected" title="Selected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135217" cy="140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p18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134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00"/>
              <a:buAutoNum type="arabicPeriod"/>
            </a:pPr>
            <a:r>
              <a:rPr lang="pt-PT" sz="3000">
                <a:solidFill>
                  <a:srgbClr val="FFFFFF"/>
                </a:solidFill>
              </a:rPr>
              <a:t>Which of the following is correct?</a:t>
            </a:r>
            <a:endParaRPr sz="30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30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7" name="Google Shape;997;p187"/>
          <p:cNvSpPr txBox="1">
            <a:spLocks noGrp="1"/>
          </p:cNvSpPr>
          <p:nvPr>
            <p:ph type="body" idx="1"/>
          </p:nvPr>
        </p:nvSpPr>
        <p:spPr>
          <a:xfrm>
            <a:off x="311700" y="1974450"/>
            <a:ext cx="8520600" cy="279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33400" lvl="0" indent="-457200" algn="l" rtl="0">
              <a:spcBef>
                <a:spcPts val="120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 err="1"/>
              <a:t>An</a:t>
            </a:r>
            <a:r>
              <a:rPr lang="pt-PT" sz="2400" dirty="0"/>
              <a:t> </a:t>
            </a:r>
            <a:r>
              <a:rPr lang="pt-PT" sz="2400" dirty="0" err="1"/>
              <a:t>exception</a:t>
            </a:r>
            <a:r>
              <a:rPr lang="pt-PT" sz="2400" dirty="0"/>
              <a:t> </a:t>
            </a:r>
            <a:r>
              <a:rPr lang="pt-PT" sz="2400" dirty="0" err="1"/>
              <a:t>is</a:t>
            </a:r>
            <a:r>
              <a:rPr lang="pt-PT" sz="2400" dirty="0"/>
              <a:t> </a:t>
            </a:r>
            <a:r>
              <a:rPr lang="pt-PT" sz="2400" dirty="0" err="1"/>
              <a:t>an</a:t>
            </a:r>
            <a:r>
              <a:rPr lang="pt-PT" sz="2400" dirty="0"/>
              <a:t> error </a:t>
            </a:r>
            <a:r>
              <a:rPr lang="pt-PT" sz="2400" dirty="0" err="1"/>
              <a:t>that</a:t>
            </a:r>
            <a:r>
              <a:rPr lang="pt-PT" sz="2400" dirty="0"/>
              <a:t> </a:t>
            </a:r>
            <a:r>
              <a:rPr lang="pt-PT" sz="2400" dirty="0" err="1"/>
              <a:t>occurs</a:t>
            </a:r>
            <a:r>
              <a:rPr lang="pt-PT" sz="2400" dirty="0"/>
              <a:t> </a:t>
            </a:r>
            <a:r>
              <a:rPr lang="pt-PT" sz="2400" dirty="0" err="1"/>
              <a:t>at</a:t>
            </a:r>
            <a:r>
              <a:rPr lang="pt-PT" sz="2400" dirty="0"/>
              <a:t> </a:t>
            </a:r>
            <a:r>
              <a:rPr lang="pt-PT" sz="2400" dirty="0" err="1"/>
              <a:t>the</a:t>
            </a:r>
            <a:r>
              <a:rPr lang="pt-PT" sz="2400" dirty="0"/>
              <a:t> </a:t>
            </a:r>
            <a:r>
              <a:rPr lang="pt-PT" sz="2400" dirty="0" err="1"/>
              <a:t>runtime</a:t>
            </a:r>
            <a:r>
              <a:rPr lang="pt-PT" sz="2400" dirty="0"/>
              <a:t>.</a:t>
            </a:r>
            <a:endParaRPr sz="2400" dirty="0"/>
          </a:p>
          <a:p>
            <a:pPr marL="533400" lvl="0" indent="-457200" algn="l" rtl="0">
              <a:spcBef>
                <a:spcPts val="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/>
              <a:t>A </a:t>
            </a:r>
            <a:r>
              <a:rPr lang="pt-PT" sz="2400" dirty="0" err="1"/>
              <a:t>syntax</a:t>
            </a:r>
            <a:r>
              <a:rPr lang="pt-PT" sz="2400" dirty="0"/>
              <a:t> error </a:t>
            </a:r>
            <a:r>
              <a:rPr lang="pt-PT" sz="2400" dirty="0" err="1"/>
              <a:t>is</a:t>
            </a:r>
            <a:r>
              <a:rPr lang="pt-PT" sz="2400" dirty="0"/>
              <a:t> </a:t>
            </a:r>
            <a:r>
              <a:rPr lang="pt-PT" sz="2400" dirty="0" err="1"/>
              <a:t>also</a:t>
            </a:r>
            <a:r>
              <a:rPr lang="pt-PT" sz="2400" dirty="0"/>
              <a:t> </a:t>
            </a:r>
            <a:r>
              <a:rPr lang="pt-PT" sz="2400" dirty="0" err="1"/>
              <a:t>an</a:t>
            </a:r>
            <a:r>
              <a:rPr lang="pt-PT" sz="2400" dirty="0"/>
              <a:t> </a:t>
            </a:r>
            <a:r>
              <a:rPr lang="pt-PT" sz="2400" dirty="0" err="1"/>
              <a:t>exception</a:t>
            </a:r>
            <a:r>
              <a:rPr lang="pt-PT" sz="2400" dirty="0"/>
              <a:t>.</a:t>
            </a:r>
            <a:endParaRPr sz="2400" dirty="0"/>
          </a:p>
          <a:p>
            <a:pPr marL="533400" lvl="0" indent="-457200" algn="l" rtl="0">
              <a:spcBef>
                <a:spcPts val="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 err="1"/>
              <a:t>An</a:t>
            </a:r>
            <a:r>
              <a:rPr lang="pt-PT" sz="2400" dirty="0"/>
              <a:t> </a:t>
            </a:r>
            <a:r>
              <a:rPr lang="pt-PT" sz="2400" dirty="0" err="1"/>
              <a:t>exception</a:t>
            </a:r>
            <a:r>
              <a:rPr lang="pt-PT" sz="2400" dirty="0"/>
              <a:t> </a:t>
            </a:r>
            <a:r>
              <a:rPr lang="pt-PT" sz="2400" dirty="0" err="1"/>
              <a:t>is</a:t>
            </a:r>
            <a:r>
              <a:rPr lang="pt-PT" sz="2400" dirty="0"/>
              <a:t> </a:t>
            </a:r>
            <a:r>
              <a:rPr lang="pt-PT" sz="2400" dirty="0" err="1"/>
              <a:t>used</a:t>
            </a:r>
            <a:r>
              <a:rPr lang="pt-PT" sz="2400" dirty="0"/>
              <a:t> to </a:t>
            </a:r>
            <a:r>
              <a:rPr lang="pt-PT" sz="2400" dirty="0" err="1"/>
              <a:t>exclude</a:t>
            </a:r>
            <a:r>
              <a:rPr lang="pt-PT" sz="2400" dirty="0"/>
              <a:t> a </a:t>
            </a:r>
            <a:r>
              <a:rPr lang="pt-PT" sz="2400" dirty="0" err="1"/>
              <a:t>block</a:t>
            </a:r>
            <a:r>
              <a:rPr lang="pt-PT" sz="2400" dirty="0"/>
              <a:t> </a:t>
            </a:r>
            <a:r>
              <a:rPr lang="pt-PT" sz="2400" dirty="0" err="1"/>
              <a:t>of</a:t>
            </a:r>
            <a:r>
              <a:rPr lang="pt-PT" sz="2400" dirty="0"/>
              <a:t> </a:t>
            </a:r>
            <a:r>
              <a:rPr lang="pt-PT" sz="2400" dirty="0" err="1"/>
              <a:t>code</a:t>
            </a:r>
            <a:r>
              <a:rPr lang="pt-PT" sz="2400" dirty="0"/>
              <a:t> in </a:t>
            </a:r>
            <a:r>
              <a:rPr lang="pt-PT" sz="2400" dirty="0" err="1"/>
              <a:t>Python</a:t>
            </a:r>
            <a:r>
              <a:rPr lang="pt-PT" sz="2400" dirty="0"/>
              <a:t>.</a:t>
            </a:r>
            <a:endParaRPr sz="2400" dirty="0"/>
          </a:p>
          <a:p>
            <a:pPr marL="533400" lvl="0" indent="-457200" algn="l" rtl="0">
              <a:spcBef>
                <a:spcPts val="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 err="1"/>
              <a:t>All</a:t>
            </a:r>
            <a:r>
              <a:rPr lang="pt-PT" sz="2400" dirty="0"/>
              <a:t> </a:t>
            </a:r>
            <a:r>
              <a:rPr lang="pt-PT" sz="2400" dirty="0" err="1"/>
              <a:t>of</a:t>
            </a:r>
            <a:r>
              <a:rPr lang="pt-PT" sz="2400" dirty="0"/>
              <a:t> </a:t>
            </a:r>
            <a:r>
              <a:rPr lang="pt-PT" sz="2400" dirty="0" err="1"/>
              <a:t>the</a:t>
            </a:r>
            <a:r>
              <a:rPr lang="pt-PT" sz="2400" dirty="0"/>
              <a:t> </a:t>
            </a:r>
            <a:r>
              <a:rPr lang="pt-PT" sz="2400" dirty="0" err="1"/>
              <a:t>above</a:t>
            </a:r>
            <a:r>
              <a:rPr lang="pt-PT" sz="2400" dirty="0"/>
              <a:t>.</a:t>
            </a:r>
            <a:endParaRPr sz="2400" dirty="0"/>
          </a:p>
        </p:txBody>
      </p:sp>
      <p:pic>
        <p:nvPicPr>
          <p:cNvPr id="998" name="Google Shape;998;p187" descr="Selected" title="Selected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135217" cy="140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" name="Google Shape;1003;p18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134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00"/>
              <a:buAutoNum type="arabicPeriod"/>
            </a:pPr>
            <a:r>
              <a:rPr lang="pt-PT" sz="3000">
                <a:solidFill>
                  <a:srgbClr val="FFFFFF"/>
                </a:solidFill>
              </a:rPr>
              <a:t>What will happen if you try to open a file that doesn’t exist, without mode specified?</a:t>
            </a:r>
            <a:endParaRPr sz="30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30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4" name="Google Shape;1004;p188"/>
          <p:cNvSpPr txBox="1">
            <a:spLocks noGrp="1"/>
          </p:cNvSpPr>
          <p:nvPr>
            <p:ph type="body" idx="1"/>
          </p:nvPr>
        </p:nvSpPr>
        <p:spPr>
          <a:xfrm>
            <a:off x="311700" y="1974450"/>
            <a:ext cx="8520600" cy="279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33400" lvl="0" indent="-457200" algn="l" rtl="0">
              <a:spcBef>
                <a:spcPts val="120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/>
              <a:t>A </a:t>
            </a:r>
            <a:r>
              <a:rPr lang="pt-PT" sz="2400" dirty="0" err="1"/>
              <a:t>new</a:t>
            </a:r>
            <a:r>
              <a:rPr lang="pt-PT" sz="2400" dirty="0"/>
              <a:t> file </a:t>
            </a:r>
            <a:r>
              <a:rPr lang="pt-PT" sz="2400" dirty="0" err="1"/>
              <a:t>is</a:t>
            </a:r>
            <a:r>
              <a:rPr lang="pt-PT" sz="2400" dirty="0"/>
              <a:t> </a:t>
            </a:r>
            <a:r>
              <a:rPr lang="pt-PT" sz="2400" dirty="0" err="1"/>
              <a:t>created</a:t>
            </a:r>
            <a:r>
              <a:rPr lang="pt-PT" sz="2400" dirty="0"/>
              <a:t>.</a:t>
            </a:r>
            <a:endParaRPr sz="2400" dirty="0"/>
          </a:p>
          <a:p>
            <a:pPr marL="533400" lvl="0" indent="-457200" algn="l" rtl="0">
              <a:spcBef>
                <a:spcPts val="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 err="1"/>
              <a:t>Nothing</a:t>
            </a:r>
            <a:r>
              <a:rPr lang="pt-PT" sz="2400" dirty="0"/>
              <a:t> </a:t>
            </a:r>
            <a:r>
              <a:rPr lang="pt-PT" sz="2400" dirty="0" err="1"/>
              <a:t>will</a:t>
            </a:r>
            <a:r>
              <a:rPr lang="pt-PT" sz="2400" dirty="0"/>
              <a:t> </a:t>
            </a:r>
            <a:r>
              <a:rPr lang="pt-PT" sz="2400" dirty="0" err="1"/>
              <a:t>happen</a:t>
            </a:r>
            <a:r>
              <a:rPr lang="pt-PT" sz="2400" dirty="0"/>
              <a:t>.</a:t>
            </a:r>
            <a:endParaRPr sz="2400" dirty="0"/>
          </a:p>
          <a:p>
            <a:pPr marL="533400" lvl="0" indent="-457200" algn="l" rtl="0">
              <a:spcBef>
                <a:spcPts val="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 err="1"/>
              <a:t>An</a:t>
            </a:r>
            <a:r>
              <a:rPr lang="pt-PT" sz="2400" dirty="0"/>
              <a:t> </a:t>
            </a:r>
            <a:r>
              <a:rPr lang="pt-PT" sz="2400" dirty="0" err="1"/>
              <a:t>exception</a:t>
            </a:r>
            <a:r>
              <a:rPr lang="pt-PT" sz="2400" dirty="0"/>
              <a:t> </a:t>
            </a:r>
            <a:r>
              <a:rPr lang="pt-PT" sz="2400" dirty="0" err="1"/>
              <a:t>is</a:t>
            </a:r>
            <a:r>
              <a:rPr lang="pt-PT" sz="2400" dirty="0"/>
              <a:t> </a:t>
            </a:r>
            <a:r>
              <a:rPr lang="pt-PT" sz="2400" dirty="0" err="1"/>
              <a:t>raised</a:t>
            </a:r>
            <a:r>
              <a:rPr lang="pt-PT" sz="2400" dirty="0"/>
              <a:t>.</a:t>
            </a:r>
            <a:endParaRPr sz="2400" dirty="0"/>
          </a:p>
          <a:p>
            <a:pPr marL="533400" lvl="0" indent="-457200" algn="l" rtl="0">
              <a:spcBef>
                <a:spcPts val="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 err="1"/>
              <a:t>None</a:t>
            </a:r>
            <a:r>
              <a:rPr lang="pt-PT" sz="2400" dirty="0"/>
              <a:t> </a:t>
            </a:r>
            <a:r>
              <a:rPr lang="pt-PT" sz="2400" dirty="0" err="1"/>
              <a:t>of</a:t>
            </a:r>
            <a:r>
              <a:rPr lang="pt-PT" sz="2400" dirty="0"/>
              <a:t> </a:t>
            </a:r>
            <a:r>
              <a:rPr lang="pt-PT" sz="2400" dirty="0" err="1"/>
              <a:t>the</a:t>
            </a:r>
            <a:r>
              <a:rPr lang="pt-PT" sz="2400" dirty="0"/>
              <a:t> </a:t>
            </a:r>
            <a:r>
              <a:rPr lang="pt-PT" sz="2400" dirty="0" err="1"/>
              <a:t>above</a:t>
            </a:r>
            <a:r>
              <a:rPr lang="pt-PT" sz="2400" dirty="0"/>
              <a:t>.</a:t>
            </a:r>
            <a:endParaRPr sz="2400" dirty="0"/>
          </a:p>
        </p:txBody>
      </p:sp>
      <p:pic>
        <p:nvPicPr>
          <p:cNvPr id="1005" name="Google Shape;1005;p188" descr="Selected" title="Selected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135217" cy="140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0" name="Google Shape;1010;p189"/>
          <p:cNvSpPr txBox="1">
            <a:spLocks noGrp="1"/>
          </p:cNvSpPr>
          <p:nvPr>
            <p:ph type="title"/>
          </p:nvPr>
        </p:nvSpPr>
        <p:spPr>
          <a:xfrm>
            <a:off x="311700" y="292625"/>
            <a:ext cx="8520600" cy="261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1800">
                <a:solidFill>
                  <a:srgbClr val="FFFFFF"/>
                </a:solidFill>
              </a:rPr>
              <a:t>What is the output of the following code?</a:t>
            </a:r>
            <a:endParaRPr sz="180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AutoNum type="arabicPeriod"/>
            </a:pPr>
            <a:r>
              <a:rPr lang="pt-PT" sz="1800">
                <a:solidFill>
                  <a:srgbClr val="FFFFFF"/>
                </a:solidFill>
              </a:rPr>
              <a:t>number = 5.0</a:t>
            </a:r>
            <a:endParaRPr sz="180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AutoNum type="arabicPeriod"/>
            </a:pPr>
            <a:r>
              <a:rPr lang="pt-PT" sz="1800">
                <a:solidFill>
                  <a:srgbClr val="FFFFFF"/>
                </a:solidFill>
              </a:rPr>
              <a:t>try:</a:t>
            </a:r>
            <a:endParaRPr sz="180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AutoNum type="arabicPeriod"/>
            </a:pPr>
            <a:r>
              <a:rPr lang="pt-PT" sz="1800">
                <a:solidFill>
                  <a:srgbClr val="FFFFFF"/>
                </a:solidFill>
              </a:rPr>
              <a:t>   r = 10/number</a:t>
            </a:r>
            <a:endParaRPr sz="180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AutoNum type="arabicPeriod"/>
            </a:pPr>
            <a:r>
              <a:rPr lang="pt-PT" sz="1800">
                <a:solidFill>
                  <a:srgbClr val="FFFFFF"/>
                </a:solidFill>
              </a:rPr>
              <a:t>   print(r)</a:t>
            </a:r>
            <a:endParaRPr sz="180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AutoNum type="arabicPeriod"/>
            </a:pPr>
            <a:r>
              <a:rPr lang="pt-PT" sz="1800">
                <a:solidFill>
                  <a:srgbClr val="FFFFFF"/>
                </a:solidFill>
              </a:rPr>
              <a:t>except:</a:t>
            </a:r>
            <a:endParaRPr sz="180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AutoNum type="arabicPeriod"/>
            </a:pPr>
            <a:r>
              <a:rPr lang="pt-PT" sz="1800">
                <a:solidFill>
                  <a:srgbClr val="FFFFFF"/>
                </a:solidFill>
              </a:rPr>
              <a:t>   print("Oops! Error occurred.")</a:t>
            </a: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30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1" name="Google Shape;1011;p189"/>
          <p:cNvSpPr txBox="1">
            <a:spLocks noGrp="1"/>
          </p:cNvSpPr>
          <p:nvPr>
            <p:ph type="body" idx="1"/>
          </p:nvPr>
        </p:nvSpPr>
        <p:spPr>
          <a:xfrm>
            <a:off x="311700" y="2905050"/>
            <a:ext cx="8520600" cy="18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33400" lvl="0" indent="-457200" algn="l" rtl="0">
              <a:spcBef>
                <a:spcPts val="120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 err="1"/>
              <a:t>Oops</a:t>
            </a:r>
            <a:r>
              <a:rPr lang="pt-PT" sz="2400" dirty="0"/>
              <a:t>! Error </a:t>
            </a:r>
            <a:r>
              <a:rPr lang="pt-PT" sz="2400" dirty="0" err="1"/>
              <a:t>occurred</a:t>
            </a:r>
            <a:r>
              <a:rPr lang="pt-PT" sz="2400" dirty="0"/>
              <a:t>.</a:t>
            </a:r>
            <a:endParaRPr sz="2400" dirty="0"/>
          </a:p>
          <a:p>
            <a:pPr marL="533400" lvl="0" indent="-457200" algn="l" rtl="0">
              <a:spcBef>
                <a:spcPts val="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/>
              <a:t>2.0</a:t>
            </a:r>
            <a:endParaRPr sz="2400" dirty="0"/>
          </a:p>
          <a:p>
            <a:pPr marL="533400" lvl="0" indent="-457200" algn="l" rtl="0">
              <a:spcBef>
                <a:spcPts val="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/>
              <a:t>2.0 </a:t>
            </a:r>
            <a:r>
              <a:rPr lang="pt-PT" sz="2400" dirty="0" err="1"/>
              <a:t>Oops</a:t>
            </a:r>
            <a:r>
              <a:rPr lang="pt-PT" sz="2400" dirty="0"/>
              <a:t>! Error </a:t>
            </a:r>
            <a:r>
              <a:rPr lang="pt-PT" sz="2400" dirty="0" err="1"/>
              <a:t>occurred</a:t>
            </a:r>
            <a:r>
              <a:rPr lang="pt-PT" sz="2400" dirty="0"/>
              <a:t>.</a:t>
            </a:r>
            <a:endParaRPr sz="2400" dirty="0"/>
          </a:p>
          <a:p>
            <a:pPr marL="533400" lvl="0" indent="-457200" algn="l" rtl="0">
              <a:spcBef>
                <a:spcPts val="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pt-PT" sz="2400" dirty="0" err="1"/>
              <a:t>None</a:t>
            </a:r>
            <a:r>
              <a:rPr lang="pt-PT" sz="2400" dirty="0"/>
              <a:t> </a:t>
            </a:r>
            <a:r>
              <a:rPr lang="pt-PT" sz="2400" dirty="0" err="1"/>
              <a:t>object</a:t>
            </a:r>
            <a:endParaRPr sz="2400" dirty="0"/>
          </a:p>
        </p:txBody>
      </p:sp>
      <p:pic>
        <p:nvPicPr>
          <p:cNvPr id="1012" name="Google Shape;1012;p189" descr="Selected" title="Selected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135217" cy="140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7" name="Google Shape;1017;p190"/>
          <p:cNvSpPr txBox="1">
            <a:spLocks noGrp="1"/>
          </p:cNvSpPr>
          <p:nvPr>
            <p:ph type="title"/>
          </p:nvPr>
        </p:nvSpPr>
        <p:spPr>
          <a:xfrm>
            <a:off x="311700" y="292625"/>
            <a:ext cx="8520600" cy="261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t-PT" sz="1800" dirty="0" err="1">
                <a:solidFill>
                  <a:srgbClr val="FFFFFF"/>
                </a:solidFill>
              </a:rPr>
              <a:t>What</a:t>
            </a:r>
            <a:r>
              <a:rPr lang="pt-PT" sz="1800" dirty="0">
                <a:solidFill>
                  <a:srgbClr val="FFFFFF"/>
                </a:solidFill>
              </a:rPr>
              <a:t> does </a:t>
            </a:r>
            <a:r>
              <a:rPr lang="pt-PT" sz="1800" dirty="0" err="1">
                <a:solidFill>
                  <a:srgbClr val="FFFFFF"/>
                </a:solidFill>
              </a:rPr>
              <a:t>the</a:t>
            </a:r>
            <a:r>
              <a:rPr lang="pt-PT" sz="1800" dirty="0">
                <a:solidFill>
                  <a:srgbClr val="FFFFFF"/>
                </a:solidFill>
              </a:rPr>
              <a:t> </a:t>
            </a:r>
            <a:r>
              <a:rPr lang="pt-PT" sz="1800" dirty="0" err="1">
                <a:solidFill>
                  <a:srgbClr val="FFFFFF"/>
                </a:solidFill>
              </a:rPr>
              <a:t>following</a:t>
            </a:r>
            <a:r>
              <a:rPr lang="pt-PT" sz="1800" dirty="0">
                <a:solidFill>
                  <a:srgbClr val="FFFFFF"/>
                </a:solidFill>
              </a:rPr>
              <a:t> </a:t>
            </a:r>
            <a:r>
              <a:rPr lang="pt-PT" sz="1800" dirty="0" err="1">
                <a:solidFill>
                  <a:srgbClr val="FFFFFF"/>
                </a:solidFill>
              </a:rPr>
              <a:t>code</a:t>
            </a:r>
            <a:r>
              <a:rPr lang="pt-PT" sz="1800" dirty="0">
                <a:solidFill>
                  <a:srgbClr val="FFFFFF"/>
                </a:solidFill>
              </a:rPr>
              <a:t> do?</a:t>
            </a:r>
            <a:endParaRPr sz="1800" dirty="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AutoNum type="arabicPeriod"/>
            </a:pPr>
            <a:r>
              <a:rPr lang="pt-PT" sz="1800" dirty="0" err="1">
                <a:solidFill>
                  <a:srgbClr val="FFFFFF"/>
                </a:solidFill>
              </a:rPr>
              <a:t>try</a:t>
            </a:r>
            <a:r>
              <a:rPr lang="pt-PT" sz="1800" dirty="0">
                <a:solidFill>
                  <a:srgbClr val="FFFFFF"/>
                </a:solidFill>
              </a:rPr>
              <a:t>:</a:t>
            </a:r>
            <a:endParaRPr sz="1800" dirty="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AutoNum type="arabicPeriod"/>
            </a:pPr>
            <a:r>
              <a:rPr lang="pt-PT" sz="1800" dirty="0">
                <a:solidFill>
                  <a:srgbClr val="FFFFFF"/>
                </a:solidFill>
              </a:rPr>
              <a:t> # </a:t>
            </a:r>
            <a:r>
              <a:rPr lang="pt-PT" sz="1800" dirty="0" err="1">
                <a:solidFill>
                  <a:srgbClr val="FFFFFF"/>
                </a:solidFill>
              </a:rPr>
              <a:t>code</a:t>
            </a:r>
            <a:r>
              <a:rPr lang="pt-PT" sz="1800" dirty="0">
                <a:solidFill>
                  <a:srgbClr val="FFFFFF"/>
                </a:solidFill>
              </a:rPr>
              <a:t> </a:t>
            </a:r>
            <a:r>
              <a:rPr lang="pt-PT" sz="1800" dirty="0" err="1">
                <a:solidFill>
                  <a:srgbClr val="FFFFFF"/>
                </a:solidFill>
              </a:rPr>
              <a:t>that</a:t>
            </a:r>
            <a:r>
              <a:rPr lang="pt-PT" sz="1800" dirty="0">
                <a:solidFill>
                  <a:srgbClr val="FFFFFF"/>
                </a:solidFill>
              </a:rPr>
              <a:t> can </a:t>
            </a:r>
            <a:r>
              <a:rPr lang="pt-PT" sz="1800" dirty="0" err="1">
                <a:solidFill>
                  <a:srgbClr val="FFFFFF"/>
                </a:solidFill>
              </a:rPr>
              <a:t>raise</a:t>
            </a:r>
            <a:r>
              <a:rPr lang="pt-PT" sz="1800" dirty="0">
                <a:solidFill>
                  <a:srgbClr val="FFFFFF"/>
                </a:solidFill>
              </a:rPr>
              <a:t> error</a:t>
            </a:r>
            <a:endParaRPr sz="1800" dirty="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AutoNum type="arabicPeriod"/>
            </a:pPr>
            <a:r>
              <a:rPr lang="pt-PT" sz="1800" dirty="0">
                <a:solidFill>
                  <a:srgbClr val="FFFFFF"/>
                </a:solidFill>
              </a:rPr>
              <a:t>  </a:t>
            </a:r>
            <a:r>
              <a:rPr lang="pt-PT" sz="1800" dirty="0" err="1">
                <a:solidFill>
                  <a:srgbClr val="FFFFFF"/>
                </a:solidFill>
              </a:rPr>
              <a:t>pass</a:t>
            </a:r>
            <a:endParaRPr sz="1800" dirty="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AutoNum type="arabicPeriod"/>
            </a:pPr>
            <a:endParaRPr sz="1800" dirty="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AutoNum type="arabicPeriod"/>
            </a:pPr>
            <a:r>
              <a:rPr lang="pt-PT" sz="1800" dirty="0" err="1">
                <a:solidFill>
                  <a:srgbClr val="FFFFFF"/>
                </a:solidFill>
              </a:rPr>
              <a:t>except</a:t>
            </a:r>
            <a:r>
              <a:rPr lang="pt-PT" sz="1800" dirty="0">
                <a:solidFill>
                  <a:srgbClr val="FFFFFF"/>
                </a:solidFill>
              </a:rPr>
              <a:t> (</a:t>
            </a:r>
            <a:r>
              <a:rPr lang="pt-PT" sz="1800" dirty="0" err="1">
                <a:solidFill>
                  <a:srgbClr val="FFFFFF"/>
                </a:solidFill>
              </a:rPr>
              <a:t>TypeError</a:t>
            </a:r>
            <a:r>
              <a:rPr lang="pt-PT" sz="1800" dirty="0">
                <a:solidFill>
                  <a:srgbClr val="FFFFFF"/>
                </a:solidFill>
              </a:rPr>
              <a:t>, </a:t>
            </a:r>
            <a:r>
              <a:rPr lang="pt-PT" sz="1800" dirty="0" err="1">
                <a:solidFill>
                  <a:srgbClr val="FFFFFF"/>
                </a:solidFill>
              </a:rPr>
              <a:t>ZeroDivisionError</a:t>
            </a:r>
            <a:r>
              <a:rPr lang="pt-PT" sz="1800" dirty="0">
                <a:solidFill>
                  <a:srgbClr val="FFFFFF"/>
                </a:solidFill>
              </a:rPr>
              <a:t>):</a:t>
            </a:r>
            <a:endParaRPr sz="1800" dirty="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AutoNum type="arabicPeriod"/>
            </a:pPr>
            <a:r>
              <a:rPr lang="pt-PT" sz="1800" dirty="0">
                <a:solidFill>
                  <a:srgbClr val="FFFFFF"/>
                </a:solidFill>
              </a:rPr>
              <a:t> print("</a:t>
            </a:r>
            <a:r>
              <a:rPr lang="pt-PT" sz="1800" dirty="0" err="1">
                <a:solidFill>
                  <a:srgbClr val="FFFFFF"/>
                </a:solidFill>
              </a:rPr>
              <a:t>Two</a:t>
            </a:r>
            <a:r>
              <a:rPr lang="pt-PT" sz="1800" dirty="0">
                <a:solidFill>
                  <a:srgbClr val="FFFFFF"/>
                </a:solidFill>
              </a:rPr>
              <a:t>")</a:t>
            </a:r>
            <a:endParaRPr sz="18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18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30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8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b="1" dirty="0">
              <a:solidFill>
                <a:srgbClr val="FFFFFF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18" name="Google Shape;1018;p190"/>
          <p:cNvSpPr txBox="1">
            <a:spLocks noGrp="1"/>
          </p:cNvSpPr>
          <p:nvPr>
            <p:ph type="body" idx="1"/>
          </p:nvPr>
        </p:nvSpPr>
        <p:spPr>
          <a:xfrm>
            <a:off x="311700" y="2905025"/>
            <a:ext cx="8520600" cy="18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Font typeface="+mj-lt"/>
              <a:buAutoNum type="arabicPeriod"/>
            </a:pPr>
            <a:r>
              <a:rPr lang="pt-PT" dirty="0"/>
              <a:t>Prints </a:t>
            </a:r>
            <a:r>
              <a:rPr lang="pt-PT" dirty="0" err="1"/>
              <a:t>Two</a:t>
            </a:r>
            <a:r>
              <a:rPr lang="pt-PT" dirty="0"/>
              <a:t> </a:t>
            </a:r>
            <a:r>
              <a:rPr lang="pt-PT" dirty="0" err="1"/>
              <a:t>if</a:t>
            </a:r>
            <a:r>
              <a:rPr lang="pt-PT" dirty="0"/>
              <a:t> </a:t>
            </a:r>
            <a:r>
              <a:rPr lang="pt-PT" dirty="0" err="1"/>
              <a:t>exception</a:t>
            </a:r>
            <a:r>
              <a:rPr lang="pt-PT" dirty="0"/>
              <a:t> </a:t>
            </a:r>
            <a:r>
              <a:rPr lang="pt-PT" dirty="0" err="1"/>
              <a:t>occurs</a:t>
            </a:r>
            <a:r>
              <a:rPr lang="pt-PT" dirty="0"/>
              <a:t> (</a:t>
            </a:r>
            <a:r>
              <a:rPr lang="pt-PT" dirty="0" err="1"/>
              <a:t>doesn’t</a:t>
            </a:r>
            <a:r>
              <a:rPr lang="pt-PT" dirty="0"/>
              <a:t> </a:t>
            </a:r>
            <a:r>
              <a:rPr lang="pt-PT" dirty="0" err="1"/>
              <a:t>matter</a:t>
            </a:r>
            <a:r>
              <a:rPr lang="pt-PT" dirty="0"/>
              <a:t> </a:t>
            </a:r>
            <a:r>
              <a:rPr lang="pt-PT" dirty="0" err="1"/>
              <a:t>which</a:t>
            </a:r>
            <a:r>
              <a:rPr lang="pt-PT" dirty="0"/>
              <a:t> </a:t>
            </a:r>
            <a:r>
              <a:rPr lang="pt-PT" dirty="0" err="1"/>
              <a:t>exception</a:t>
            </a:r>
            <a:r>
              <a:rPr lang="pt-PT" dirty="0"/>
              <a:t>).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+mj-lt"/>
              <a:buAutoNum type="arabicPeriod"/>
            </a:pPr>
            <a:r>
              <a:rPr lang="pt-PT" dirty="0"/>
              <a:t>Prints </a:t>
            </a:r>
            <a:r>
              <a:rPr lang="pt-PT" dirty="0" err="1"/>
              <a:t>Two</a:t>
            </a:r>
            <a:r>
              <a:rPr lang="pt-PT" dirty="0"/>
              <a:t> </a:t>
            </a:r>
            <a:r>
              <a:rPr lang="pt-PT" dirty="0" err="1"/>
              <a:t>if</a:t>
            </a:r>
            <a:r>
              <a:rPr lang="pt-PT" dirty="0"/>
              <a:t> </a:t>
            </a:r>
            <a:r>
              <a:rPr lang="pt-PT" dirty="0" err="1"/>
              <a:t>exception</a:t>
            </a:r>
            <a:r>
              <a:rPr lang="pt-PT" dirty="0"/>
              <a:t> </a:t>
            </a:r>
            <a:r>
              <a:rPr lang="pt-PT" dirty="0" err="1"/>
              <a:t>doesn’t</a:t>
            </a:r>
            <a:r>
              <a:rPr lang="pt-PT" dirty="0"/>
              <a:t> </a:t>
            </a:r>
            <a:r>
              <a:rPr lang="pt-PT" dirty="0" err="1"/>
              <a:t>occur</a:t>
            </a:r>
            <a:r>
              <a:rPr lang="pt-PT" dirty="0"/>
              <a:t>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+mj-lt"/>
              <a:buAutoNum type="arabicPeriod"/>
            </a:pPr>
            <a:r>
              <a:rPr lang="pt-PT" dirty="0"/>
              <a:t>Prints </a:t>
            </a:r>
            <a:r>
              <a:rPr lang="pt-PT" dirty="0" err="1"/>
              <a:t>Two</a:t>
            </a:r>
            <a:r>
              <a:rPr lang="pt-PT" dirty="0"/>
              <a:t> </a:t>
            </a:r>
            <a:r>
              <a:rPr lang="pt-PT" dirty="0" err="1"/>
              <a:t>if</a:t>
            </a:r>
            <a:r>
              <a:rPr lang="pt-PT" dirty="0"/>
              <a:t> </a:t>
            </a:r>
            <a:r>
              <a:rPr lang="pt-PT" dirty="0" err="1"/>
              <a:t>TypeError</a:t>
            </a:r>
            <a:r>
              <a:rPr lang="pt-PT" dirty="0"/>
              <a:t> </a:t>
            </a:r>
            <a:r>
              <a:rPr lang="pt-PT" dirty="0" err="1"/>
              <a:t>or</a:t>
            </a:r>
            <a:r>
              <a:rPr lang="pt-PT" dirty="0"/>
              <a:t> </a:t>
            </a:r>
            <a:r>
              <a:rPr lang="pt-PT" dirty="0" err="1"/>
              <a:t>ZeroDivisionError</a:t>
            </a:r>
            <a:r>
              <a:rPr lang="pt-PT" dirty="0"/>
              <a:t> </a:t>
            </a:r>
            <a:r>
              <a:rPr lang="pt-PT" dirty="0" err="1"/>
              <a:t>exception</a:t>
            </a:r>
            <a:r>
              <a:rPr lang="pt-PT" dirty="0"/>
              <a:t> </a:t>
            </a:r>
            <a:r>
              <a:rPr lang="pt-PT" dirty="0" err="1"/>
              <a:t>occurs</a:t>
            </a:r>
            <a:r>
              <a:rPr lang="pt-PT" dirty="0"/>
              <a:t>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+mj-lt"/>
              <a:buAutoNum type="arabicPeriod"/>
            </a:pPr>
            <a:r>
              <a:rPr lang="pt-PT" dirty="0"/>
              <a:t>Prints </a:t>
            </a:r>
            <a:r>
              <a:rPr lang="pt-PT" dirty="0" err="1"/>
              <a:t>Two</a:t>
            </a:r>
            <a:r>
              <a:rPr lang="pt-PT" dirty="0"/>
              <a:t> </a:t>
            </a:r>
            <a:r>
              <a:rPr lang="pt-PT" dirty="0" err="1"/>
              <a:t>only</a:t>
            </a:r>
            <a:r>
              <a:rPr lang="pt-PT" dirty="0"/>
              <a:t> </a:t>
            </a:r>
            <a:r>
              <a:rPr lang="pt-PT" dirty="0" err="1"/>
              <a:t>if</a:t>
            </a:r>
            <a:r>
              <a:rPr lang="pt-PT" dirty="0"/>
              <a:t> </a:t>
            </a:r>
            <a:r>
              <a:rPr lang="pt-PT" dirty="0" err="1"/>
              <a:t>both</a:t>
            </a:r>
            <a:r>
              <a:rPr lang="pt-PT" dirty="0"/>
              <a:t> </a:t>
            </a:r>
            <a:r>
              <a:rPr lang="pt-PT" dirty="0" err="1"/>
              <a:t>TypeError</a:t>
            </a:r>
            <a:r>
              <a:rPr lang="pt-PT" dirty="0"/>
              <a:t> </a:t>
            </a:r>
            <a:r>
              <a:rPr lang="pt-PT" dirty="0" err="1"/>
              <a:t>and</a:t>
            </a:r>
            <a:r>
              <a:rPr lang="pt-PT" dirty="0"/>
              <a:t> </a:t>
            </a:r>
            <a:r>
              <a:rPr lang="pt-PT" dirty="0" err="1"/>
              <a:t>ZeroDivisionError</a:t>
            </a:r>
            <a:r>
              <a:rPr lang="pt-PT" dirty="0"/>
              <a:t> </a:t>
            </a:r>
            <a:r>
              <a:rPr lang="pt-PT" dirty="0" err="1"/>
              <a:t>exception</a:t>
            </a:r>
            <a:r>
              <a:rPr lang="pt-PT" dirty="0"/>
              <a:t> </a:t>
            </a:r>
            <a:r>
              <a:rPr lang="pt-PT" dirty="0" err="1"/>
              <a:t>occurs</a:t>
            </a:r>
            <a:r>
              <a:rPr lang="pt-PT" dirty="0"/>
              <a:t>.</a:t>
            </a:r>
            <a:endParaRPr dirty="0"/>
          </a:p>
        </p:txBody>
      </p:sp>
      <p:pic>
        <p:nvPicPr>
          <p:cNvPr id="1019" name="Google Shape;1019;p190" descr="Selected" title="Selected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135217" cy="140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3944</Words>
  <Application>Microsoft Office PowerPoint</Application>
  <PresentationFormat>Apresentação no Ecrã (16:9)</PresentationFormat>
  <Paragraphs>1019</Paragraphs>
  <Slides>178</Slides>
  <Notes>178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178</vt:i4>
      </vt:variant>
    </vt:vector>
  </HeadingPairs>
  <TitlesOfParts>
    <vt:vector size="180" baseType="lpstr">
      <vt:lpstr>Arial</vt:lpstr>
      <vt:lpstr>Simple Dark</vt:lpstr>
      <vt:lpstr>PREPARAÇÃO TE</vt:lpstr>
      <vt:lpstr>Apresentação do PowerPoint</vt:lpstr>
      <vt:lpstr>Apresentação do PowerPoint</vt:lpstr>
      <vt:lpstr>Apresentação do PowerPoint</vt:lpstr>
      <vt:lpstr>Given the following code fragment what is its Big-O running time? cut = 0 for i in range(n):  for j in range(n):   cut += i * j 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Which of the following is unit testing?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Which one is a suitable comment?</vt:lpstr>
      <vt:lpstr>Apresentação do PowerPoint</vt:lpstr>
      <vt:lpstr>Apresentação do PowerPoint</vt:lpstr>
      <vt:lpstr>To what can assert can be used?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Which of the following is the output of the below Python code fragment? x = True y=False z= False if not x or y:       print (1) elif not x or not y and z:       print (2) elif not x or y or not y and x:       print (3) else:       print (4) 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Which of the list operations shown below is not O(1)?</vt:lpstr>
      <vt:lpstr>Apresentação do PowerPoint</vt:lpstr>
      <vt:lpstr>Which of the following is the output of the below Python code fragment? def f1(x  =1, y = 2):  x = x + y  y  += 1  print(x, y) f1(y = 2, x = 1)</vt:lpstr>
      <vt:lpstr>Apresentação do PowerPoint</vt:lpstr>
      <vt:lpstr>Given the following code fragment what is its Big-O running time? k = n while k &gt; 0:  j += 2  k = k // 2 </vt:lpstr>
      <vt:lpstr>Apresentação do PowerPoint</vt:lpstr>
      <vt:lpstr>Given the following code fragment what is its Big-O running time? t = 0 for i in range(n):  t += 1 for j in range(n):  t -= 1 </vt:lpstr>
      <vt:lpstr>Apresentação do PowerPoint</vt:lpstr>
      <vt:lpstr>Apresentação do PowerPoint</vt:lpstr>
      <vt:lpstr>Apresentação do PowerPoint</vt:lpstr>
      <vt:lpstr>Which of the following is the output of the below Python code fragment? counter = 1  def doLotsOfStuff(): global counter for i in (1, 2, 3):   counter += 1 doLotsOfStuff() print (counter) </vt:lpstr>
      <vt:lpstr>Apresentação do PowerPoint</vt:lpstr>
      <vt:lpstr>Apresentação do PowerPoint</vt:lpstr>
      <vt:lpstr>Apresentação do PowerPoint</vt:lpstr>
      <vt:lpstr>Which of the following is the output of the below Python code fragment? myList = [1, 5, 5, 5, 5, 1] max = myList[0] indexOfMax = 0 for i in range(1, len(myList)): if myList[i] &gt; max:          max = myList[i]          indexOfMax = i print(indexOfMax) 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Which of the following is the output of the following Python code? d = {"python":40, "developer":45} print(list(d.keys())) 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Which of the following is the output of the below Python code fragment? x = 2 y = 1 x *= y + 1 print(x)   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Which of the following is the output of the following Python code? Nums = set ([1,1,2,3,3,3,4]) print (len(Nums))   </vt:lpstr>
      <vt:lpstr>Apresentação do PowerPoint</vt:lpstr>
      <vt:lpstr>Apresentação do PowerPoint</vt:lpstr>
      <vt:lpstr>Apresentação do PowerPoint</vt:lpstr>
      <vt:lpstr>Apresentação do PowerPoint</vt:lpstr>
      <vt:lpstr>Which of the following is the output of the below Python code fragment? list1 = [1, 3] list2 = list1 list1[0] = 4 print(list2)  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Which of the following is the output of the following Python code? def factorial(n):       return n * factorial(n - 1)  </vt:lpstr>
      <vt:lpstr>What is output for  a = ['he', 'she', 'we'] ' '.join(a)  </vt:lpstr>
      <vt:lpstr>What is output for  b = [11,13,15,17,19,21] print(b[::2])   </vt:lpstr>
      <vt:lpstr>Select the option for following code s = 0 for d in range(0, 5, 0.1): s += d print(s)    </vt:lpstr>
      <vt:lpstr>What is output of following  print(''abbzxyzxzxabb''.count(‘abb’,-10,-1))   </vt:lpstr>
      <vt:lpstr>Select the option for following code try:  list = 5*[0]+5*[10]  x = list[9]  print(''Done!'')  except IndexError:     print(''Index out of Bond! '')  else:     print(''Nothing is wrong!'')  finally:     print(''Finally block!'')     </vt:lpstr>
      <vt:lpstr>Which among them is correct(s) about Recursive Function?  </vt:lpstr>
      <vt:lpstr>Which module is used in python to create Graphics?  </vt:lpstr>
      <vt:lpstr>What will be the output of the following code :  print type(type(int))   </vt:lpstr>
      <vt:lpstr>What is the output of the following code : L = ['a','b','c','d'] print "".join(L)    </vt:lpstr>
      <vt:lpstr>What is the output of the following segment :  chr(ord('A'))     </vt:lpstr>
      <vt:lpstr>What is the output of the following program : y = 8 z = lambda x : x * y print z(6)      </vt:lpstr>
      <vt:lpstr>Suppose list1 is [3, 4, 5, 20, 5, 25, 1, 3], what is list1 after list1.pop(1)?      </vt:lpstr>
      <vt:lpstr>What is the output of the following program : i = 0 while i &lt; 3:        print i        i++        print i+1       </vt:lpstr>
      <vt:lpstr>What is the output of the expression : 3*1**3      </vt:lpstr>
      <vt:lpstr>What is the output of the following program : print '{0:.2}'.format(1.0 / 3)       </vt:lpstr>
      <vt:lpstr>What is the output of the following program : i = 0 while i &lt; 3:      print i      i += 1 else:      print 0        </vt:lpstr>
      <vt:lpstr>What is the output of the following program :  i = 0 while i &lt; 5:     print(i)     i += 1     if i == 3:         break else:     print(0)         </vt:lpstr>
      <vt:lpstr>What is the output of the following program : print 'abcefd'.replace('cd', '12')        </vt:lpstr>
      <vt:lpstr>What will be displayed by the following code? def f(value, values):     v = 1     values[0] = 44 t = 3 v = [1, 2, 3] f(t, v) print(t, v[0])          </vt:lpstr>
      <vt:lpstr>Which of the following statements is true?      </vt:lpstr>
      <vt:lpstr>Which of the following is correct?       </vt:lpstr>
      <vt:lpstr>What is the output of the following code? print(1, 2, 3, 4, sep='*')       </vt:lpstr>
      <vt:lpstr>Suppose a list with name test, contains 10 elements. You can get the 5th element from the test list using:       </vt:lpstr>
      <vt:lpstr>What is the output of the following program? language = ['P', 'y', 't', 'h', 'o', 'n'] print(language[:-4])        </vt:lpstr>
      <vt:lpstr>Suppose a tuple test contains 5 elements. How can you set the 3rd element of the tuple to ‘Python’?        </vt:lpstr>
      <vt:lpstr>What is the output of the following program? print((1, 2) + (3, 4))         </vt:lpstr>
      <vt:lpstr>What is the output of the following program? names = "{1}, {2} and {0}".format('John', 'Bill', 'Sean') print(names)          </vt:lpstr>
      <vt:lpstr>Which of the following statement is true?         </vt:lpstr>
      <vt:lpstr>What is the output of the following program? n = [x*x for x in range(4)] print(n)          </vt:lpstr>
      <vt:lpstr>How can you change num = {‘one’: 1, ‘two’: 3} to num = {‘one’: 1, ‘two’: 2}          </vt:lpstr>
      <vt:lpstr>What is the output of the following program? squares = {1:1, 2:4, 3:9, 4:16, 5:25}  print(squares.pop(4))  print(squares)          </vt:lpstr>
      <vt:lpstr>What is the output of the following code? if None:    print(“Hello”)          </vt:lpstr>
      <vt:lpstr>The if...elif...else executes only one block of code among several blocks.          </vt:lpstr>
      <vt:lpstr>What is the output of the following code? for i in [1, 0]:  print(i+1)           </vt:lpstr>
      <vt:lpstr>In Python, for and while loop can have optional else statement?           </vt:lpstr>
      <vt:lpstr>What is the output of the following code? i = sum = 0 while i &lt;= 4:    sum += i    i = i+1 print(sum)           </vt:lpstr>
      <vt:lpstr>What is the output of the following code? while 4 == 4:    print('4')            </vt:lpstr>
      <vt:lpstr>Is it better to use for loop instead of while if you are iterating through a sequence (like: list)?            </vt:lpstr>
      <vt:lpstr>Which of the following statement is true?            </vt:lpstr>
      <vt:lpstr>What is the output of the following code? for char in 'PYTHON STRING':  if char == ' ':      break   print(char, end='')   if char == 'O':      continue           </vt:lpstr>
      <vt:lpstr>Which of the following statement is true about the pass statement?            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Opening a file in ‘a’ mode            </vt:lpstr>
      <vt:lpstr>What does the following code do? f = open("test.txt")             </vt:lpstr>
      <vt:lpstr>Which of the following codes closes file automatically if exception occurs?             </vt:lpstr>
      <vt:lpstr>For the following code, f = open('test.txt', 'r', encoding = 'utf-8') f.read() Which of the following statement is true?             </vt:lpstr>
      <vt:lpstr>What does the following code do? os.listdir()             </vt:lpstr>
      <vt:lpstr>Which of the following is correct?             </vt:lpstr>
      <vt:lpstr>What will happen if you try to open a file that doesn’t exist, without mode specified?             </vt:lpstr>
      <vt:lpstr>What is the output of the following code? number = 5.0 try:    r = 10/number    print(r) except:    print("Oops! Error occurred.")              </vt:lpstr>
      <vt:lpstr>What does the following code do? try:  # code that can raise error   pass  except (TypeError, ZeroDivisionError):  print("Two")             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PREPARAÇÃO TE</dc:title>
  <dc:creator>Luisa Mesquita</dc:creator>
  <cp:lastModifiedBy>Ricardo Marques</cp:lastModifiedBy>
  <cp:revision>2</cp:revision>
  <dcterms:modified xsi:type="dcterms:W3CDTF">2021-02-02T16:28:11Z</dcterms:modified>
</cp:coreProperties>
</file>