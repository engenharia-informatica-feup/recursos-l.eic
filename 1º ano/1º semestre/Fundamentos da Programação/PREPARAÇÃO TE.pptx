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6" autoAdjust="0"/>
  </p:normalViewPr>
  <p:slideViewPr>
    <p:cSldViewPr snapToGrid="0">
      <p:cViewPr varScale="1">
        <p:scale>
          <a:sx n="105" d="100"/>
          <a:sy n="105" d="100"/>
        </p:scale>
        <p:origin x="80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notesMaster" Target="notesMasters/notesMaster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Soluções aqui!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894e743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d894e743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4: 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894e743f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d894e743f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3: </a:t>
            </a:r>
            <a:r>
              <a:rPr lang="pt-PT" dirty="0" err="1"/>
              <a:t>nothing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d894e743f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d894e743f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2: </a:t>
            </a:r>
            <a:r>
              <a:rPr lang="pt-PT" dirty="0" err="1"/>
              <a:t>Syntactically</a:t>
            </a:r>
            <a:r>
              <a:rPr lang="pt-PT" dirty="0"/>
              <a:t> </a:t>
            </a:r>
            <a:r>
              <a:rPr lang="pt-PT" dirty="0" err="1"/>
              <a:t>correct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7ae1a2f9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7ae1a2f9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2: O(n^2)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6d894e743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6d894e743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2: </a:t>
            </a:r>
            <a:r>
              <a:rPr lang="pt-PT" dirty="0" err="1"/>
              <a:t>Semantically</a:t>
            </a:r>
            <a:r>
              <a:rPr lang="pt-PT" dirty="0"/>
              <a:t> </a:t>
            </a:r>
            <a:r>
              <a:rPr lang="pt-PT" dirty="0" err="1"/>
              <a:t>incorrect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d894e743f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d894e743f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2: </a:t>
            </a:r>
            <a:r>
              <a:rPr lang="pt-PT" dirty="0" err="1"/>
              <a:t>Syntactically</a:t>
            </a:r>
            <a:r>
              <a:rPr lang="pt-PT" dirty="0"/>
              <a:t> </a:t>
            </a:r>
            <a:r>
              <a:rPr lang="pt-PT" dirty="0" err="1"/>
              <a:t>correct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d894e743f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d894e743f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2: range(3, 10, 3)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d894e743f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d894e743f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d894e743f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d894e743f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d894e743f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d894e743f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6d894e743f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6d894e743f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d894e743f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d894e743f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d894e743f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d894e743f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d894e743f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d894e743f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d894e743f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d894e743f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6d894e743f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6d894e743f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d894e743f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d894e743f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6d894e743f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6d894e743f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d894e743f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d894e743f_2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3: a for-</a:t>
            </a:r>
            <a:r>
              <a:rPr lang="pt-PT" dirty="0" err="1"/>
              <a:t>loop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a </a:t>
            </a:r>
            <a:r>
              <a:rPr lang="pt-PT" dirty="0" err="1"/>
              <a:t>while-loop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d894e743f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d894e743f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4: </a:t>
            </a:r>
            <a:r>
              <a:rPr lang="pt-PT" dirty="0" err="1"/>
              <a:t>def</a:t>
            </a:r>
            <a:r>
              <a:rPr lang="pt-PT" dirty="0"/>
              <a:t> </a:t>
            </a:r>
            <a:r>
              <a:rPr lang="pt-PT" dirty="0" err="1"/>
              <a:t>f_name</a:t>
            </a:r>
            <a:r>
              <a:rPr lang="pt-PT" dirty="0"/>
              <a:t>([</a:t>
            </a:r>
            <a:r>
              <a:rPr lang="pt-PT" dirty="0" err="1"/>
              <a:t>parameter</a:t>
            </a:r>
            <a:r>
              <a:rPr lang="pt-PT" dirty="0"/>
              <a:t>, ...]):</a:t>
            </a:r>
            <a:br>
              <a:rPr lang="pt-PT" dirty="0"/>
            </a:br>
            <a:r>
              <a:rPr lang="pt-PT" dirty="0"/>
              <a:t>É a opção 4 e não a opção 3, porque os parâmetros podem ser opcionais. 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d894e743f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6d894e743f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d894e743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6d894e743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d894e743f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6d894e743f_2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d894e743f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6d894e743f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d894e743f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6d894e743f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d894e743f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6d894e743f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6d894e743f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6d894e743f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d894e743f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d894e743f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d894e743f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6d894e743f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6d894e743f_2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6d894e743f_2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7ae1a2f9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7ae1a2f9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d894e743f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6d894e743f_2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d894e743f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d894e743f_2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6d894e743f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6d894e743f_2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d894e743f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d894e743f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d894e743f_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d894e743f_2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6d894e743f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6d894e743f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7ae1a2f9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7ae1a2f9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6d894e743f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6d894e743f_2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6d894e743f_2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6d894e743f_2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7ae1a2f9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7ae1a2f9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6d894e743f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6d894e743f_2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6d894e743f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6d894e743f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6d894e743f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6d894e743f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d894e743f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d894e743f_2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6d894e743f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6d894e743f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d894e743f_2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6d894e743f_2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6d894e743f_2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6d894e743f_2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6d894e743f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6d894e743f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6d894e743f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6d894e743f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d894e743f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6d894e743f_2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6d894e743f_2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6d894e743f_2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6db0c3d64b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6db0c3d64b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6d894e743f_2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6d894e743f_2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6d894e743f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6d894e743f_2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6d894e743f_2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6d894e743f_2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6d894e743f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6d894e743f_2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d894e743f_2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d894e743f_2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6d894e743f_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6d894e743f_2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6d894e743f_2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6d894e743f_2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6d894e743f_2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6d894e743f_2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6d894e743f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6d894e743f_2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6d894e743f_2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6d894e743f_2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 (with 3 instead of 4)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47ae1a2f9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47ae1a2f9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4. The address of the other elements has to be updated, when we remove the first element of the list. 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6d894e743f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6d894e743f_2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It gives an UnboundLocalError: local variable 'itext' referenced before assignment. It’s not possible to modify variables, in inner_function, from outer_function (unless they’re global)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6db0c3d64b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6db0c3d64b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6d894e743f_2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6d894e743f_2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47ae1a2f9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47ae1a2f9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6d894e743f_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6d894e743f_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47ae1a2f9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47ae1a2f9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47ae1a2f9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47ae1a2f9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47ae1a2f9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47ae1a2f9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47ae1a2f9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47ae1a2f9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6db0c3d64b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6db0c3d64b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47ae1a2f9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47ae1a2f9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47ae1a2f9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47ae1a2f9a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47ae1a2f9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47ae1a2f9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6db0c3d64b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6db0c3d64b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7ae1a2f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7ae1a2f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47ae1a2f9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47ae1a2f9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47ae1a2f9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47ae1a2f9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47ae1a2f9a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47ae1a2f9a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47ae1a2f9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47ae1a2f9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47ae1a2f9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47ae1a2f9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47ae1a2f9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47ae1a2f9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47ae1a2f9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47ae1a2f9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47ae1a2f9a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47ae1a2f9a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6db0c3d64b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6db0c3d64b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47ae1a2f9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47ae1a2f9a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47ae1a2f9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47ae1a2f9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47ae1a2f9a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47ae1a2f9a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47ae1a2f9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47ae1a2f9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47ae1a2f9a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47ae1a2f9a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47ae1a2f9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47ae1a2f9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47ae1a2f9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47ae1a2f9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7ae1a2f9a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7ae1a2f9a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6db0c3d64b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6db0c3d64b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5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47ae1a2f9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47ae1a2f9a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47ae1a2f9a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47ae1a2f9a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47ae1a2f9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47ae1a2f9a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47ae1a2f9a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47ae1a2f9a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47ae1a2f9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47ae1a2f9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7ae1a2f9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47ae1a2f9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47ae1a2f9a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47ae1a2f9a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6db0c3d64b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6db0c3d64b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47ae1a2f9a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47ae1a2f9a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47ae1a2f9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47ae1a2f9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47ae1a2f9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47ae1a2f9a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47ae1a2f9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47ae1a2f9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6db0c3d64b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6db0c3d64b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47ae1a2f9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47ae1a2f9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Option</a:t>
            </a:r>
            <a:r>
              <a:rPr lang="pt-PT" dirty="0"/>
              <a:t> 4: __</a:t>
            </a:r>
            <a:r>
              <a:rPr lang="pt-PT" dirty="0" err="1"/>
              <a:t>name</a:t>
            </a:r>
            <a:r>
              <a:rPr lang="pt-PT" dirty="0"/>
              <a:t>__</a:t>
            </a:r>
            <a:endParaRPr dirty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47ae1a2f9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47ae1a2f9a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47ae1a2f9a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47ae1a2f9a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47ae1a2f9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47ae1a2f9a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47ae1a2f9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47ae1a2f9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‘r’ opens for reading and ‘+’ opens a disk file for updating (reading and writing)</a:t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47ae1a2f9a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47ae1a2f9a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7ae1a2f9a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7ae1a2f9a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7ae1a2f9a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7ae1a2f9a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47ae1a2f9a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47ae1a2f9a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47ae1a2f9a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47ae1a2f9a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47ae1a2f9a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47ae1a2f9a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6db0c3d64b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6db0c3d64b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6db0c3d64b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6db0c3d64b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6db0c3d64b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6db0c3d64b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Prints all the elements in the list two by two</a:t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6db0c3d64b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6db0c3d64b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6db0c3d64b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6db0c3d64b_2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6db0c3d64b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6db0c3d64b_2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6db0c3d64b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6db0c3d64b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2,3,4</a:t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6db0c3d64b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6db0c3d64b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db0c3d64b_2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db0c3d64b_2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The type() function returns the class of the argument the object belongs to. Thus, type(int) returns which is of the type ‘type’ object.</a:t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6db0c3d64b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6db0c3d64b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“” depicts a null string and the join function combines the elements of the list into a string.</a:t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6db0c3d64b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6db0c3d64b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1. ord() function converts a character into its ASCII notation and chr() converts the ASCII to character.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6db0c3d64b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6db0c3d64b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1. lambdas are concise functions and thus, result = 6 * 8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6db0c3d64b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6db0c3d64b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pop(i) removes the i</a:t>
            </a:r>
            <a:r>
              <a:rPr lang="pt-PT" baseline="30000"/>
              <a:t>th</a:t>
            </a:r>
            <a:r>
              <a:rPr lang="pt-PT"/>
              <a:t> index element from the list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6db0c3d64b_2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6db0c3d64b_2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There is no operator ++ in Python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6db0c3d64b_2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6db0c3d64b_2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3. Precedence of ** is higher than that of 3, thus first 1**3 will be executed and the result will be multiplied by 3.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6db0c3d64b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6db0c3d64b_2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.2 defines the precision of the floating point number.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6db0c3d64b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6db0c3d64b_2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The else part is executed when the condition in the while statement is false.</a:t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6db0c3d64b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6db0c3d64b_2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The else part is not executed if control breaks out of the loop.</a:t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6db0c3d64b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6db0c3d64b_2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2. The first substring is not present in the given string and hence nothing is replaced.</a:t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6db0c3d64b_2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6db0c3d64b_2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4. The value of t=3 is passed in funcion f(value,values) , v [list] is passed as values in the same function. The v is stored in values and values[0]=44 , changes the value at index[‘0’] in the list hence v=[44,2,3]. </a:t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6dcecfad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6dcecfad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6dcecfad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6dcecfad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6dcecfad0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6dcecfad0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6dcecfad0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6dcecfad0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6dcecfad0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6dcecfad0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6dcecfad0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6dcecfad0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6dcecfad0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6dcecfad0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6dcecfad0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6dcecfad0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6dcecfad0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6dcecfad0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6dcecfad0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6dcecfad03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6dcecfad0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6dcecfad0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6dcecfad0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6dcecfad0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6dcecfad0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6dcecfad0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6dcecfad03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6dcecfad03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6dcecfad0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6dcecfad0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6dcecfad0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6dcecfad0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6dcecfad03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6dcecfad03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6dcecfad03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6dcecfad03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6dcecfad03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6dcecfad03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6dcecfad03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6dcecfad03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6dcecfad0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6dcecfad0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6dcecfad0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6dcecfad0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6de0fa9424_3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6de0fa9424_3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5</a:t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6de0fa9424_3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6de0fa9424_3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6de0fa9424_3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6de0fa9424_3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6de0fa9424_3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6de0fa9424_3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6de0fa9424_3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6de0fa9424_3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6de0fa9424_3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6de0fa9424_3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6de0fa9424_3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6de0fa9424_3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6de0fa9424_3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6de0fa9424_3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6de0fa9424_4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6de0fa9424_4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4</a:t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6de0fa9424_4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6de0fa9424_4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6de0fa9424_4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6de0fa9424_4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1</a:t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6de0fa9424_4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6de0fa9424_4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6de0fa9424_4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6de0fa9424_4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2</a:t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6de0fa9424_4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6de0fa9424_4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Option 3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ccio.feup.dei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15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PREPARAÇÃO TE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309375"/>
            <a:ext cx="8520600" cy="7531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Todas as perguntas dos </a:t>
            </a:r>
            <a:r>
              <a:rPr lang="pt-PT" dirty="0" err="1"/>
              <a:t>LE’s</a:t>
            </a:r>
            <a:r>
              <a:rPr lang="pt-PT" dirty="0"/>
              <a:t> e mais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1676401" y="3062514"/>
            <a:ext cx="5762170" cy="163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-"/>
            </a:pPr>
            <a:r>
              <a:rPr lang="pt-PT" dirty="0">
                <a:solidFill>
                  <a:srgbClr val="999999"/>
                </a:solidFill>
              </a:rPr>
              <a:t>Soluções nas notas do orador (em baixo)</a:t>
            </a:r>
            <a:endParaRPr dirty="0">
              <a:solidFill>
                <a:srgbClr val="999999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-"/>
            </a:pPr>
            <a:r>
              <a:rPr lang="pt-PT" dirty="0">
                <a:solidFill>
                  <a:srgbClr val="999999"/>
                </a:solidFill>
              </a:rPr>
              <a:t>Todas as perguntas estão misturados e não há nenhuma ordem</a:t>
            </a:r>
            <a:endParaRPr dirty="0">
              <a:solidFill>
                <a:srgbClr val="999999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-"/>
            </a:pPr>
            <a:r>
              <a:rPr lang="pt-PT" dirty="0">
                <a:solidFill>
                  <a:srgbClr val="999999"/>
                </a:solidFill>
              </a:rPr>
              <a:t>Algumas perguntas não são dos </a:t>
            </a:r>
            <a:r>
              <a:rPr lang="pt-PT" dirty="0" err="1">
                <a:solidFill>
                  <a:srgbClr val="999999"/>
                </a:solidFill>
              </a:rPr>
              <a:t>LE’s</a:t>
            </a:r>
            <a:endParaRPr lang="pt-PT" dirty="0">
              <a:solidFill>
                <a:srgbClr val="999999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-"/>
            </a:pPr>
            <a:r>
              <a:rPr lang="pt-PT" dirty="0">
                <a:solidFill>
                  <a:srgbClr val="999999"/>
                </a:solidFill>
              </a:rPr>
              <a:t>Se encontraste algum erro, tens mais sugestões de perguntas ou se queres partilhar os </a:t>
            </a:r>
            <a:r>
              <a:rPr lang="pt-PT" dirty="0" err="1">
                <a:solidFill>
                  <a:srgbClr val="999999"/>
                </a:solidFill>
              </a:rPr>
              <a:t>LE’s</a:t>
            </a:r>
            <a:r>
              <a:rPr lang="pt-PT" dirty="0">
                <a:solidFill>
                  <a:srgbClr val="999999"/>
                </a:solidFill>
              </a:rPr>
              <a:t> do teu ano manda um mail para </a:t>
            </a:r>
            <a:r>
              <a:rPr lang="pt-PT" dirty="0">
                <a:solidFill>
                  <a:srgbClr val="999999"/>
                </a:solidFill>
                <a:hlinkClick r:id="rId3"/>
              </a:rPr>
              <a:t>accio.feup.dei@gmail.com</a:t>
            </a:r>
            <a:r>
              <a:rPr lang="pt-PT" dirty="0">
                <a:solidFill>
                  <a:srgbClr val="99999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888" y="1190625"/>
            <a:ext cx="484822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50" y="1209675"/>
            <a:ext cx="49149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25" y="1200150"/>
            <a:ext cx="44005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6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Given the following code fragment what is its Big-O running time?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cut = 0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for i in range(n):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for j in range(n):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	cut += i * j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2919725"/>
            <a:ext cx="85206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O(n^2)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 log n)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O(n^3)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25" y="1157288"/>
            <a:ext cx="4400550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609600"/>
            <a:ext cx="702945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1414463"/>
            <a:ext cx="50673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13" y="152400"/>
            <a:ext cx="84697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425" y="152400"/>
            <a:ext cx="382514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63" y="590550"/>
            <a:ext cx="837247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388" y="1176338"/>
            <a:ext cx="5229225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413" y="971550"/>
            <a:ext cx="55911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50"/>
            <a:ext cx="8839201" cy="477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725" y="1138238"/>
            <a:ext cx="592455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633413"/>
            <a:ext cx="750570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466725"/>
            <a:ext cx="70485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4550"/>
            <a:ext cx="8839199" cy="3614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8975"/>
            <a:ext cx="8839198" cy="198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7075"/>
            <a:ext cx="8839199" cy="196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988" y="1157288"/>
            <a:ext cx="55340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13" y="1652588"/>
            <a:ext cx="66579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290638"/>
            <a:ext cx="70485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138238"/>
            <a:ext cx="809625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1181100"/>
            <a:ext cx="56959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25" y="152400"/>
            <a:ext cx="66371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1290638"/>
            <a:ext cx="680085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563" y="1285875"/>
            <a:ext cx="39528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75" y="1123950"/>
            <a:ext cx="42100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538" y="1166813"/>
            <a:ext cx="5876925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6150"/>
            <a:ext cx="8839199" cy="3951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Which of the following is unit testing?</a:t>
            </a:r>
            <a:endParaRPr/>
          </a:p>
        </p:txBody>
      </p:sp>
      <p:sp>
        <p:nvSpPr>
          <p:cNvPr id="213" name="Google Shape;213;p44"/>
          <p:cNvSpPr txBox="1">
            <a:spLocks noGrp="1"/>
          </p:cNvSpPr>
          <p:nvPr>
            <p:ph type="body" idx="1"/>
          </p:nvPr>
        </p:nvSpPr>
        <p:spPr>
          <a:xfrm>
            <a:off x="311700" y="1679325"/>
            <a:ext cx="8520600" cy="28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 </a:t>
            </a:r>
            <a:r>
              <a:rPr lang="pt-PT" sz="3600" dirty="0" err="1"/>
              <a:t>if</a:t>
            </a:r>
            <a:r>
              <a:rPr lang="pt-PT" sz="3600" dirty="0"/>
              <a:t> a </a:t>
            </a:r>
            <a:r>
              <a:rPr lang="pt-PT" sz="3600" dirty="0" err="1"/>
              <a:t>variable</a:t>
            </a:r>
            <a:r>
              <a:rPr lang="pt-PT" sz="3600" dirty="0"/>
              <a:t> </a:t>
            </a:r>
            <a:r>
              <a:rPr lang="pt-PT" sz="3600" dirty="0" err="1"/>
              <a:t>value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valid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 PEP8 </a:t>
            </a:r>
            <a:r>
              <a:rPr lang="pt-PT" sz="3600" dirty="0" err="1"/>
              <a:t>style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code</a:t>
            </a:r>
            <a:r>
              <a:rPr lang="pt-PT" sz="3600" dirty="0"/>
              <a:t> </a:t>
            </a:r>
            <a:r>
              <a:rPr lang="pt-PT" sz="3600" dirty="0" err="1"/>
              <a:t>comments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output </a:t>
            </a:r>
            <a:r>
              <a:rPr lang="pt-PT" sz="3600" dirty="0" err="1"/>
              <a:t>of</a:t>
            </a:r>
            <a:r>
              <a:rPr lang="pt-PT" sz="3600" dirty="0"/>
              <a:t> a </a:t>
            </a:r>
            <a:r>
              <a:rPr lang="pt-PT" sz="3600" dirty="0" err="1"/>
              <a:t>function</a:t>
            </a:r>
            <a:r>
              <a:rPr lang="pt-PT" sz="3600" dirty="0"/>
              <a:t> </a:t>
            </a:r>
            <a:r>
              <a:rPr lang="pt-PT" sz="3600" dirty="0" err="1"/>
              <a:t>given</a:t>
            </a:r>
            <a:r>
              <a:rPr lang="pt-PT" sz="3600" dirty="0"/>
              <a:t> a </a:t>
            </a:r>
            <a:r>
              <a:rPr lang="pt-PT" sz="3600" dirty="0" err="1"/>
              <a:t>certain</a:t>
            </a:r>
            <a:r>
              <a:rPr lang="pt-PT" sz="3600" dirty="0"/>
              <a:t> input</a:t>
            </a:r>
            <a:endParaRPr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1152525"/>
            <a:ext cx="575310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" y="1033463"/>
            <a:ext cx="664845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1123950"/>
            <a:ext cx="38862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1014413"/>
            <a:ext cx="405765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1228725"/>
            <a:ext cx="3857625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738" y="514350"/>
            <a:ext cx="64865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Which one is a suitable comment?</a:t>
            </a:r>
            <a:endParaRPr/>
          </a:p>
        </p:txBody>
      </p:sp>
      <p:sp>
        <p:nvSpPr>
          <p:cNvPr id="249" name="Google Shape;249;p51"/>
          <p:cNvSpPr txBox="1">
            <a:spLocks noGrp="1"/>
          </p:cNvSpPr>
          <p:nvPr>
            <p:ph type="body" idx="1"/>
          </p:nvPr>
        </p:nvSpPr>
        <p:spPr>
          <a:xfrm>
            <a:off x="311700" y="1679325"/>
            <a:ext cx="8520600" cy="28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i += 1 #incrementing i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i += 1 #go to </a:t>
            </a:r>
            <a:r>
              <a:rPr lang="pt-PT" sz="3600" dirty="0" err="1"/>
              <a:t>next</a:t>
            </a:r>
            <a:r>
              <a:rPr lang="pt-PT" sz="3600" dirty="0"/>
              <a:t> </a:t>
            </a:r>
            <a:r>
              <a:rPr lang="pt-PT" sz="3600" dirty="0" err="1"/>
              <a:t>element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i += 1 #this </a:t>
            </a:r>
            <a:r>
              <a:rPr lang="pt-PT" sz="3600" dirty="0" err="1"/>
              <a:t>line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very</a:t>
            </a:r>
            <a:r>
              <a:rPr lang="pt-PT" sz="3600" dirty="0"/>
              <a:t> </a:t>
            </a:r>
            <a:r>
              <a:rPr lang="pt-PT" sz="3600" dirty="0" err="1"/>
              <a:t>important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i += 1 #adding 1 to i</a:t>
            </a:r>
            <a:endParaRPr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375" y="1409700"/>
            <a:ext cx="61912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13" y="1281100"/>
            <a:ext cx="40671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4"/>
          <p:cNvSpPr txBox="1">
            <a:spLocks noGrp="1"/>
          </p:cNvSpPr>
          <p:nvPr>
            <p:ph type="title"/>
          </p:nvPr>
        </p:nvSpPr>
        <p:spPr>
          <a:xfrm>
            <a:off x="311700" y="429125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 what can </a:t>
            </a:r>
            <a:r>
              <a:rPr lang="pt-PT" b="1"/>
              <a:t>assert</a:t>
            </a:r>
            <a:r>
              <a:rPr lang="pt-PT"/>
              <a:t> can be used?</a:t>
            </a:r>
            <a:endParaRPr/>
          </a:p>
        </p:txBody>
      </p:sp>
      <p:sp>
        <p:nvSpPr>
          <p:cNvPr id="265" name="Google Shape;265;p54"/>
          <p:cNvSpPr txBox="1">
            <a:spLocks noGrp="1"/>
          </p:cNvSpPr>
          <p:nvPr>
            <p:ph type="body" idx="1"/>
          </p:nvPr>
        </p:nvSpPr>
        <p:spPr>
          <a:xfrm>
            <a:off x="311700" y="1126950"/>
            <a:ext cx="8520600" cy="28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Ensure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program</a:t>
            </a:r>
            <a:r>
              <a:rPr lang="pt-PT" sz="3600" dirty="0"/>
              <a:t> </a:t>
            </a:r>
            <a:r>
              <a:rPr lang="pt-PT" sz="3600" dirty="0" err="1"/>
              <a:t>keeps</a:t>
            </a:r>
            <a:r>
              <a:rPr lang="pt-PT" sz="3600" dirty="0"/>
              <a:t> </a:t>
            </a:r>
            <a:r>
              <a:rPr lang="pt-PT" sz="3600" dirty="0" err="1"/>
              <a:t>running</a:t>
            </a:r>
            <a:r>
              <a:rPr lang="pt-PT" sz="3600" dirty="0"/>
              <a:t> </a:t>
            </a:r>
            <a:r>
              <a:rPr lang="pt-PT" sz="3600" dirty="0" err="1"/>
              <a:t>even</a:t>
            </a:r>
            <a:r>
              <a:rPr lang="pt-PT" sz="3600" dirty="0"/>
              <a:t> </a:t>
            </a:r>
            <a:r>
              <a:rPr lang="pt-PT" sz="3600" dirty="0" err="1"/>
              <a:t>if</a:t>
            </a:r>
            <a:r>
              <a:rPr lang="pt-PT" sz="3600" dirty="0"/>
              <a:t> a </a:t>
            </a:r>
            <a:r>
              <a:rPr lang="pt-PT" sz="3600" dirty="0" err="1"/>
              <a:t>variable</a:t>
            </a:r>
            <a:r>
              <a:rPr lang="pt-PT" sz="3600" dirty="0"/>
              <a:t> </a:t>
            </a:r>
            <a:r>
              <a:rPr lang="pt-PT" sz="3600" dirty="0" err="1"/>
              <a:t>value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invalid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To </a:t>
            </a:r>
            <a:r>
              <a:rPr lang="pt-PT" sz="3600" dirty="0" err="1"/>
              <a:t>document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code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Crash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program</a:t>
            </a:r>
            <a:r>
              <a:rPr lang="pt-PT" sz="3600" dirty="0"/>
              <a:t> as </a:t>
            </a:r>
            <a:r>
              <a:rPr lang="pt-PT" sz="3600" dirty="0" err="1"/>
              <a:t>soon</a:t>
            </a:r>
            <a:r>
              <a:rPr lang="pt-PT" sz="3600" dirty="0"/>
              <a:t> as a </a:t>
            </a:r>
            <a:r>
              <a:rPr lang="pt-PT" sz="3600" dirty="0" err="1"/>
              <a:t>variable</a:t>
            </a:r>
            <a:r>
              <a:rPr lang="pt-PT" sz="3600" dirty="0"/>
              <a:t> </a:t>
            </a:r>
            <a:r>
              <a:rPr lang="pt-PT" sz="3600" dirty="0" err="1"/>
              <a:t>value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found</a:t>
            </a:r>
            <a:r>
              <a:rPr lang="pt-PT" sz="3600" dirty="0"/>
              <a:t> to </a:t>
            </a:r>
            <a:r>
              <a:rPr lang="pt-PT" sz="3600" dirty="0" err="1"/>
              <a:t>be</a:t>
            </a:r>
            <a:r>
              <a:rPr lang="pt-PT" sz="3600" dirty="0"/>
              <a:t> </a:t>
            </a:r>
            <a:r>
              <a:rPr lang="pt-PT" sz="3600" dirty="0" err="1"/>
              <a:t>invalid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It</a:t>
            </a:r>
            <a:r>
              <a:rPr lang="pt-PT" sz="3600" dirty="0"/>
              <a:t> can </a:t>
            </a:r>
            <a:r>
              <a:rPr lang="pt-PT" sz="3600" dirty="0" err="1"/>
              <a:t>be</a:t>
            </a:r>
            <a:r>
              <a:rPr lang="pt-PT" sz="3600" dirty="0"/>
              <a:t> </a:t>
            </a:r>
            <a:r>
              <a:rPr lang="pt-PT" sz="3600" dirty="0" err="1"/>
              <a:t>used</a:t>
            </a:r>
            <a:r>
              <a:rPr lang="pt-PT" sz="3600" dirty="0"/>
              <a:t> </a:t>
            </a:r>
            <a:r>
              <a:rPr lang="pt-PT" sz="3600" dirty="0" err="1"/>
              <a:t>only</a:t>
            </a:r>
            <a:r>
              <a:rPr lang="pt-PT" sz="3600" dirty="0"/>
              <a:t> for </a:t>
            </a:r>
            <a:r>
              <a:rPr lang="pt-PT" sz="3600" dirty="0" err="1"/>
              <a:t>variables</a:t>
            </a:r>
            <a:endParaRPr sz="3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525" y="1176338"/>
            <a:ext cx="37909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338" y="1181100"/>
            <a:ext cx="45053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975" y="1252538"/>
            <a:ext cx="497205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13" y="1247775"/>
            <a:ext cx="58959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888" y="1143000"/>
            <a:ext cx="40862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88" y="1114425"/>
            <a:ext cx="4391025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638175"/>
            <a:ext cx="720090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25" y="1081088"/>
            <a:ext cx="44005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063" y="671513"/>
            <a:ext cx="661987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2475"/>
            <a:ext cx="8839200" cy="277853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4"/>
          <p:cNvSpPr/>
          <p:nvPr/>
        </p:nvSpPr>
        <p:spPr>
          <a:xfrm>
            <a:off x="445700" y="2308775"/>
            <a:ext cx="126900" cy="95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64"/>
          <p:cNvSpPr/>
          <p:nvPr/>
        </p:nvSpPr>
        <p:spPr>
          <a:xfrm>
            <a:off x="466825" y="2731225"/>
            <a:ext cx="105900" cy="95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4"/>
          <p:cNvSpPr/>
          <p:nvPr/>
        </p:nvSpPr>
        <p:spPr>
          <a:xfrm>
            <a:off x="466825" y="3132575"/>
            <a:ext cx="105900" cy="95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64"/>
          <p:cNvSpPr/>
          <p:nvPr/>
        </p:nvSpPr>
        <p:spPr>
          <a:xfrm>
            <a:off x="477375" y="3565600"/>
            <a:ext cx="105900" cy="95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076325"/>
            <a:ext cx="428625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6"/>
          <p:cNvSpPr txBox="1">
            <a:spLocks noGrp="1"/>
          </p:cNvSpPr>
          <p:nvPr>
            <p:ph type="title"/>
          </p:nvPr>
        </p:nvSpPr>
        <p:spPr>
          <a:xfrm>
            <a:off x="311700" y="43800"/>
            <a:ext cx="8520600" cy="50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Which of the following is the output of the below Python code fragment?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x = True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y=False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z= False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if not x or y: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      print (1)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elif not x or not y and z: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      print (2)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elif not x or y or not y and x: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      print (3)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else: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FFFF"/>
                </a:solidFill>
              </a:rPr>
              <a:t>      print (4)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330" name="Google Shape;330;p66"/>
          <p:cNvSpPr txBox="1"/>
          <p:nvPr/>
        </p:nvSpPr>
        <p:spPr>
          <a:xfrm>
            <a:off x="4070875" y="1246362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2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1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4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 err="1">
                <a:solidFill>
                  <a:schemeClr val="lt2"/>
                </a:solidFill>
              </a:rPr>
              <a:t>None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88" y="152400"/>
            <a:ext cx="80518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350" y="1095375"/>
            <a:ext cx="65913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13" y="1276350"/>
            <a:ext cx="39909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38" y="1033463"/>
            <a:ext cx="51149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13" y="1247775"/>
            <a:ext cx="40671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13" y="1247775"/>
            <a:ext cx="40671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75" y="1133475"/>
            <a:ext cx="375285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325" y="1109663"/>
            <a:ext cx="470535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257300"/>
            <a:ext cx="77724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38" y="1052513"/>
            <a:ext cx="511492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Which of the list operations shown below is not O(1)?</a:t>
            </a:r>
            <a:endParaRPr/>
          </a:p>
        </p:txBody>
      </p:sp>
      <p:sp>
        <p:nvSpPr>
          <p:cNvPr id="386" name="Google Shape;386;p77"/>
          <p:cNvSpPr txBox="1">
            <a:spLocks noGrp="1"/>
          </p:cNvSpPr>
          <p:nvPr>
            <p:ph type="body" idx="1"/>
          </p:nvPr>
        </p:nvSpPr>
        <p:spPr>
          <a:xfrm>
            <a:off x="311700" y="142393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list</a:t>
            </a:r>
            <a:r>
              <a:rPr lang="pt-PT" sz="3600" dirty="0"/>
              <a:t>[10]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list.pop</a:t>
            </a:r>
            <a:r>
              <a:rPr lang="pt-PT" sz="3600" dirty="0"/>
              <a:t>()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list.append</a:t>
            </a:r>
            <a:r>
              <a:rPr lang="pt-PT" sz="3600" dirty="0"/>
              <a:t>()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list.pop</a:t>
            </a:r>
            <a:r>
              <a:rPr lang="pt-PT" sz="3600" dirty="0"/>
              <a:t>(0)</a:t>
            </a:r>
            <a:endParaRPr sz="3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663" y="681038"/>
            <a:ext cx="463867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the output of the below Python code fragment?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def f1(x  =1, y = 2):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	x = x + y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	y  += 1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	print(x, y)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f1(y = 2, x = 1)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7" name="Google Shape;397;p79"/>
          <p:cNvSpPr txBox="1"/>
          <p:nvPr/>
        </p:nvSpPr>
        <p:spPr>
          <a:xfrm>
            <a:off x="3785125" y="1660700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1 3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3 2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3 3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2 3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2175"/>
            <a:ext cx="8839200" cy="1999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6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Given the following code fragment what is its Big-O running time?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k = n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while k &gt; 0: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j += 2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k = k // 2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81"/>
          <p:cNvSpPr txBox="1">
            <a:spLocks noGrp="1"/>
          </p:cNvSpPr>
          <p:nvPr>
            <p:ph type="body" idx="1"/>
          </p:nvPr>
        </p:nvSpPr>
        <p:spPr>
          <a:xfrm>
            <a:off x="311700" y="2919725"/>
            <a:ext cx="85206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O(n^3)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O(n^2)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O(log n)</a:t>
            </a:r>
            <a:endParaRPr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88" y="1143000"/>
            <a:ext cx="53054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8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Given the following code fragment what is its Big-O running time?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t = 0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for i in range(n):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t += 1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for j in range(n):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	t -= 1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83"/>
          <p:cNvSpPr txBox="1">
            <a:spLocks noGrp="1"/>
          </p:cNvSpPr>
          <p:nvPr>
            <p:ph type="body" idx="1"/>
          </p:nvPr>
        </p:nvSpPr>
        <p:spPr>
          <a:xfrm>
            <a:off x="311700" y="3253625"/>
            <a:ext cx="8520600" cy="16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O(n^3)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O(n^2)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 log n)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O(n)</a:t>
            </a:r>
            <a:endParaRPr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9825"/>
            <a:ext cx="8839202" cy="346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1252538"/>
            <a:ext cx="74390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938" y="1276350"/>
            <a:ext cx="633412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5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the output of the below Python code fragment?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counter = 1 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def doLotsOfStuff():</a:t>
            </a:r>
            <a:endParaRPr sz="1800">
              <a:solidFill>
                <a:srgbClr val="FFFFF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global counter</a:t>
            </a:r>
            <a:endParaRPr sz="1800">
              <a:solidFill>
                <a:srgbClr val="FFFFF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for i in (1, 2, 3): </a:t>
            </a:r>
            <a:endParaRPr sz="1800">
              <a:solidFill>
                <a:srgbClr val="FFFFFF"/>
              </a:solidFill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 counter += 1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doLotsOfStuff()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 (counter)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40" name="Google Shape;440;p87"/>
          <p:cNvSpPr txBox="1"/>
          <p:nvPr/>
        </p:nvSpPr>
        <p:spPr>
          <a:xfrm>
            <a:off x="3785125" y="1660700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7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1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4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 err="1">
                <a:solidFill>
                  <a:schemeClr val="lt2"/>
                </a:solidFill>
              </a:rPr>
              <a:t>None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513" y="1119188"/>
            <a:ext cx="475297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575" y="1162050"/>
            <a:ext cx="45148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2363"/>
            <a:ext cx="8839200" cy="291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1"/>
          <p:cNvSpPr txBox="1">
            <a:spLocks noGrp="1"/>
          </p:cNvSpPr>
          <p:nvPr>
            <p:ph type="title"/>
          </p:nvPr>
        </p:nvSpPr>
        <p:spPr>
          <a:xfrm>
            <a:off x="311700" y="110125"/>
            <a:ext cx="8520600" cy="49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the output of the below Python code fragment?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myList = [1, 5, 5, 5, 5, 1]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max = myList[0]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indexOfMax = 0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for i in range(1, len(myList)):</a:t>
            </a:r>
            <a:endParaRPr sz="1800">
              <a:solidFill>
                <a:srgbClr val="FFFFF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if myList[i] &gt; max: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        	max = myList[i]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        	indexOfMax = i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print(indexOfMax)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61" name="Google Shape;461;p91"/>
          <p:cNvSpPr txBox="1"/>
          <p:nvPr/>
        </p:nvSpPr>
        <p:spPr>
          <a:xfrm>
            <a:off x="3785125" y="1660700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1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0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2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4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750" y="152400"/>
            <a:ext cx="65304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850" y="1152525"/>
            <a:ext cx="46863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525" y="1171575"/>
            <a:ext cx="455295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5650"/>
            <a:ext cx="8839199" cy="1892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2688"/>
            <a:ext cx="8839202" cy="2438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0" y="852488"/>
            <a:ext cx="4953000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38" y="1138238"/>
            <a:ext cx="83153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313" y="1547813"/>
            <a:ext cx="719137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1133475"/>
            <a:ext cx="404812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b="1">
                <a:solidFill>
                  <a:srgbClr val="FFFFFF"/>
                </a:solidFill>
              </a:rPr>
              <a:t>Which of the following is the output of the following Python code?</a:t>
            </a: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d = {"python":40, "developer":45}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print(list(d.keys()))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01"/>
          <p:cNvSpPr txBox="1">
            <a:spLocks noGrp="1"/>
          </p:cNvSpPr>
          <p:nvPr>
            <p:ph type="body" idx="1"/>
          </p:nvPr>
        </p:nvSpPr>
        <p:spPr>
          <a:xfrm>
            <a:off x="311700" y="24422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["python":40, "developer":45]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["</a:t>
            </a:r>
            <a:r>
              <a:rPr lang="pt-PT" sz="3600" dirty="0" err="1"/>
              <a:t>python</a:t>
            </a:r>
            <a:r>
              <a:rPr lang="pt-PT" sz="3600" dirty="0"/>
              <a:t>", "</a:t>
            </a:r>
            <a:r>
              <a:rPr lang="pt-PT" sz="3600" dirty="0" err="1"/>
              <a:t>developer</a:t>
            </a:r>
            <a:r>
              <a:rPr lang="pt-PT" sz="3600" dirty="0"/>
              <a:t>"]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("</a:t>
            </a:r>
            <a:r>
              <a:rPr lang="pt-PT" sz="3600" dirty="0" err="1"/>
              <a:t>python</a:t>
            </a:r>
            <a:r>
              <a:rPr lang="pt-PT" sz="3600" dirty="0"/>
              <a:t>", "</a:t>
            </a:r>
            <a:r>
              <a:rPr lang="pt-PT" sz="3600" dirty="0" err="1"/>
              <a:t>developer</a:t>
            </a:r>
            <a:r>
              <a:rPr lang="pt-PT" sz="3600" dirty="0"/>
              <a:t>")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("python":40, "developer":45) </a:t>
            </a:r>
            <a:endParaRPr sz="3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288" y="152400"/>
            <a:ext cx="60594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88" y="1062038"/>
            <a:ext cx="515302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214438"/>
            <a:ext cx="832485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450" y="1228725"/>
            <a:ext cx="499110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50" y="1100138"/>
            <a:ext cx="49149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425" y="1171575"/>
            <a:ext cx="691515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100138"/>
            <a:ext cx="71628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13" y="1381125"/>
            <a:ext cx="67341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0"/>
          <p:cNvSpPr txBox="1">
            <a:spLocks noGrp="1"/>
          </p:cNvSpPr>
          <p:nvPr>
            <p:ph type="title"/>
          </p:nvPr>
        </p:nvSpPr>
        <p:spPr>
          <a:xfrm>
            <a:off x="311700" y="110125"/>
            <a:ext cx="8520600" cy="49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the output of the below Python code fragment?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x = 2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y = 1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x *= y + 1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print(x)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558" name="Google Shape;558;p110"/>
          <p:cNvSpPr txBox="1"/>
          <p:nvPr/>
        </p:nvSpPr>
        <p:spPr>
          <a:xfrm>
            <a:off x="3890700" y="1573500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x </a:t>
            </a:r>
            <a:r>
              <a:rPr lang="pt-PT" sz="3600" dirty="0" err="1">
                <a:solidFill>
                  <a:schemeClr val="lt2"/>
                </a:solidFill>
              </a:rPr>
              <a:t>is</a:t>
            </a:r>
            <a:r>
              <a:rPr lang="pt-PT" sz="3600" dirty="0">
                <a:solidFill>
                  <a:schemeClr val="lt2"/>
                </a:solidFill>
              </a:rPr>
              <a:t> 2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x </a:t>
            </a:r>
            <a:r>
              <a:rPr lang="pt-PT" sz="3600" dirty="0" err="1">
                <a:solidFill>
                  <a:schemeClr val="lt2"/>
                </a:solidFill>
              </a:rPr>
              <a:t>is</a:t>
            </a:r>
            <a:r>
              <a:rPr lang="pt-PT" sz="3600" dirty="0">
                <a:solidFill>
                  <a:schemeClr val="lt2"/>
                </a:solidFill>
              </a:rPr>
              <a:t> 3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x </a:t>
            </a:r>
            <a:r>
              <a:rPr lang="pt-PT" sz="3600" dirty="0" err="1">
                <a:solidFill>
                  <a:schemeClr val="lt2"/>
                </a:solidFill>
              </a:rPr>
              <a:t>is</a:t>
            </a:r>
            <a:r>
              <a:rPr lang="pt-PT" sz="3600" dirty="0">
                <a:solidFill>
                  <a:schemeClr val="lt2"/>
                </a:solidFill>
              </a:rPr>
              <a:t> 1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 err="1">
                <a:solidFill>
                  <a:schemeClr val="lt2"/>
                </a:solidFill>
              </a:rPr>
              <a:t>None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x </a:t>
            </a:r>
            <a:r>
              <a:rPr lang="pt-PT" sz="3600" dirty="0" err="1">
                <a:solidFill>
                  <a:schemeClr val="lt2"/>
                </a:solidFill>
              </a:rPr>
              <a:t>is</a:t>
            </a:r>
            <a:r>
              <a:rPr lang="pt-PT" sz="3600" dirty="0">
                <a:solidFill>
                  <a:schemeClr val="lt2"/>
                </a:solidFill>
              </a:rPr>
              <a:t> 4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038" y="595313"/>
            <a:ext cx="625792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2063"/>
            <a:ext cx="8839201" cy="213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38" y="1204913"/>
            <a:ext cx="679132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1338"/>
            <a:ext cx="8839201" cy="220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7775"/>
            <a:ext cx="8839200" cy="2687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950" y="1081088"/>
            <a:ext cx="765810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38" y="695325"/>
            <a:ext cx="86201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b="1">
                <a:solidFill>
                  <a:srgbClr val="FFFFFF"/>
                </a:solidFill>
              </a:rPr>
              <a:t>Which of the following is the output of the following Python code?</a:t>
            </a: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Nums = set ([1,1,2,3,3,3,4])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 (len(Nums))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18"/>
          <p:cNvSpPr txBox="1">
            <a:spLocks noGrp="1"/>
          </p:cNvSpPr>
          <p:nvPr>
            <p:ph type="body" idx="1"/>
          </p:nvPr>
        </p:nvSpPr>
        <p:spPr>
          <a:xfrm>
            <a:off x="4572000" y="1501300"/>
            <a:ext cx="40182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5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7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2 </a:t>
            </a:r>
            <a:endParaRPr sz="3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9350"/>
            <a:ext cx="8839203" cy="236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075" y="995363"/>
            <a:ext cx="41338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9363"/>
            <a:ext cx="8839202" cy="2044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088" y="871538"/>
            <a:ext cx="545782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23"/>
          <p:cNvSpPr txBox="1">
            <a:spLocks noGrp="1"/>
          </p:cNvSpPr>
          <p:nvPr>
            <p:ph type="title"/>
          </p:nvPr>
        </p:nvSpPr>
        <p:spPr>
          <a:xfrm>
            <a:off x="311700" y="110125"/>
            <a:ext cx="8520600" cy="49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the output of the below Python code fragment?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list1 = [1, 3]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list2 = list1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list1[0] = 4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print(list2)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625" name="Google Shape;625;p123"/>
          <p:cNvSpPr txBox="1"/>
          <p:nvPr/>
        </p:nvSpPr>
        <p:spPr>
          <a:xfrm>
            <a:off x="3890700" y="1573500"/>
            <a:ext cx="49416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[1, 3]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[1, 3, 4]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[4, 3]</a:t>
            </a:r>
            <a:endParaRPr sz="3600" dirty="0">
              <a:solidFill>
                <a:schemeClr val="lt2"/>
              </a:solidFill>
            </a:endParaRPr>
          </a:p>
          <a:p>
            <a:pPr marL="742950" lvl="0" indent="-742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+mj-lt"/>
              <a:buAutoNum type="arabicPeriod"/>
            </a:pPr>
            <a:r>
              <a:rPr lang="pt-PT" sz="3600" dirty="0">
                <a:solidFill>
                  <a:schemeClr val="lt2"/>
                </a:solidFill>
              </a:rPr>
              <a:t>[1, 4]</a:t>
            </a:r>
            <a:endParaRPr sz="3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4713"/>
            <a:ext cx="8839201" cy="23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1066800"/>
            <a:ext cx="83058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866775"/>
            <a:ext cx="544830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833438"/>
            <a:ext cx="67722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63" y="742950"/>
            <a:ext cx="806767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8450"/>
            <a:ext cx="8839201" cy="360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088" y="576263"/>
            <a:ext cx="698182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463" y="1376363"/>
            <a:ext cx="70770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" y="728663"/>
            <a:ext cx="81724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63" y="1243013"/>
            <a:ext cx="555307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5050"/>
            <a:ext cx="8839201" cy="2213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b="1">
                <a:solidFill>
                  <a:srgbClr val="FFFFFF"/>
                </a:solidFill>
              </a:rPr>
              <a:t>Which of the following is the output of the following Python code?</a:t>
            </a: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def factorial(n):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      return n * factorial(n - 1)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35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Invoking</a:t>
            </a:r>
            <a:r>
              <a:rPr lang="pt-PT" sz="3600" dirty="0"/>
              <a:t> </a:t>
            </a:r>
            <a:r>
              <a:rPr lang="pt-PT" sz="3600" dirty="0" err="1"/>
              <a:t>factorial</a:t>
            </a:r>
            <a:r>
              <a:rPr lang="pt-PT" sz="3600" dirty="0"/>
              <a:t>(1) </a:t>
            </a:r>
            <a:r>
              <a:rPr lang="pt-PT" sz="3600" dirty="0" err="1"/>
              <a:t>returns</a:t>
            </a:r>
            <a:r>
              <a:rPr lang="pt-PT" sz="3600" dirty="0"/>
              <a:t> 1.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Invoking</a:t>
            </a:r>
            <a:r>
              <a:rPr lang="pt-PT" sz="3600" dirty="0"/>
              <a:t> </a:t>
            </a:r>
            <a:r>
              <a:rPr lang="pt-PT" sz="3600" dirty="0" err="1"/>
              <a:t>factorial</a:t>
            </a:r>
            <a:r>
              <a:rPr lang="pt-PT" sz="3600" dirty="0"/>
              <a:t>(2) </a:t>
            </a:r>
            <a:r>
              <a:rPr lang="pt-PT" sz="3600" dirty="0" err="1"/>
              <a:t>returns</a:t>
            </a:r>
            <a:r>
              <a:rPr lang="pt-PT" sz="3600" dirty="0"/>
              <a:t> 2.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Invoking</a:t>
            </a:r>
            <a:r>
              <a:rPr lang="pt-PT" sz="3600" dirty="0"/>
              <a:t> </a:t>
            </a:r>
            <a:r>
              <a:rPr lang="pt-PT" sz="3600" dirty="0" err="1"/>
              <a:t>factorial</a:t>
            </a:r>
            <a:r>
              <a:rPr lang="pt-PT" sz="3600" dirty="0"/>
              <a:t>(0) </a:t>
            </a:r>
            <a:r>
              <a:rPr lang="pt-PT" sz="3600" dirty="0" err="1"/>
              <a:t>returns</a:t>
            </a:r>
            <a:r>
              <a:rPr lang="pt-PT" sz="3600" dirty="0"/>
              <a:t> 0. 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function</a:t>
            </a:r>
            <a:r>
              <a:rPr lang="pt-PT" sz="3600" dirty="0"/>
              <a:t> runs </a:t>
            </a:r>
            <a:r>
              <a:rPr lang="pt-PT" sz="3600" dirty="0" err="1"/>
              <a:t>infinitely</a:t>
            </a:r>
            <a:r>
              <a:rPr lang="pt-PT" sz="3600" dirty="0"/>
              <a:t>.  </a:t>
            </a:r>
            <a:endParaRPr sz="3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 is output for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 = ['he', 'she', 'we']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' '.join(a)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36"/>
          <p:cNvSpPr txBox="1">
            <a:spLocks noGrp="1"/>
          </p:cNvSpPr>
          <p:nvPr>
            <p:ph type="body" idx="1"/>
          </p:nvPr>
        </p:nvSpPr>
        <p:spPr>
          <a:xfrm>
            <a:off x="311700" y="2919725"/>
            <a:ext cx="85206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[‘</a:t>
            </a:r>
            <a:r>
              <a:rPr lang="pt-PT" sz="2400" dirty="0" err="1"/>
              <a:t>heshewe</a:t>
            </a:r>
            <a:r>
              <a:rPr lang="pt-PT" sz="2400" dirty="0"/>
              <a:t>’]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heshewe</a:t>
            </a:r>
            <a:r>
              <a:rPr lang="pt-PT" sz="2400" dirty="0"/>
              <a:t>’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[‘</a:t>
            </a:r>
            <a:r>
              <a:rPr lang="pt-PT" sz="2400" dirty="0" err="1"/>
              <a:t>he</a:t>
            </a:r>
            <a:r>
              <a:rPr lang="pt-PT" sz="2400" dirty="0"/>
              <a:t> </a:t>
            </a:r>
            <a:r>
              <a:rPr lang="pt-PT" sz="2400" dirty="0" err="1"/>
              <a:t>she</a:t>
            </a:r>
            <a:r>
              <a:rPr lang="pt-PT" sz="2400" dirty="0"/>
              <a:t> </a:t>
            </a:r>
            <a:r>
              <a:rPr lang="pt-PT" sz="2400" dirty="0" err="1"/>
              <a:t>we</a:t>
            </a:r>
            <a:r>
              <a:rPr lang="pt-PT" sz="2400" dirty="0"/>
              <a:t>’]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he</a:t>
            </a:r>
            <a:r>
              <a:rPr lang="pt-PT" sz="2400" dirty="0"/>
              <a:t> </a:t>
            </a:r>
            <a:r>
              <a:rPr lang="pt-PT" sz="2400" dirty="0" err="1"/>
              <a:t>she</a:t>
            </a:r>
            <a:r>
              <a:rPr lang="pt-PT" sz="2400" dirty="0"/>
              <a:t> </a:t>
            </a:r>
            <a:r>
              <a:rPr lang="pt-PT" sz="2400" dirty="0" err="1"/>
              <a:t>we</a:t>
            </a:r>
            <a:r>
              <a:rPr lang="pt-PT" sz="2400" dirty="0"/>
              <a:t>´</a:t>
            </a:r>
            <a:endParaRPr sz="2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What is output for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b = [11,13,15,17,19,21]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print(b[::2])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37"/>
          <p:cNvSpPr txBox="1">
            <a:spLocks noGrp="1"/>
          </p:cNvSpPr>
          <p:nvPr>
            <p:ph type="body" idx="1"/>
          </p:nvPr>
        </p:nvSpPr>
        <p:spPr>
          <a:xfrm>
            <a:off x="311700" y="2919725"/>
            <a:ext cx="85206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[19, 21]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[11, 15]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[11, 15, 19]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[13, 17, 21]</a:t>
            </a:r>
            <a:endParaRPr sz="2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8"/>
          <p:cNvSpPr txBox="1">
            <a:spLocks noGrp="1"/>
          </p:cNvSpPr>
          <p:nvPr>
            <p:ph type="title"/>
          </p:nvPr>
        </p:nvSpPr>
        <p:spPr>
          <a:xfrm>
            <a:off x="311700" y="445050"/>
            <a:ext cx="8520600" cy="3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Select the option for following code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 = 0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for d in range(0, 5, 0.1):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 += d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print(s)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38"/>
          <p:cNvSpPr txBox="1">
            <a:spLocks noGrp="1"/>
          </p:cNvSpPr>
          <p:nvPr>
            <p:ph type="body" idx="1"/>
          </p:nvPr>
        </p:nvSpPr>
        <p:spPr>
          <a:xfrm>
            <a:off x="4886400" y="2571750"/>
            <a:ext cx="39459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Syntax</a:t>
            </a:r>
            <a:r>
              <a:rPr lang="pt-PT" sz="2400" dirty="0"/>
              <a:t> Error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Type</a:t>
            </a:r>
            <a:r>
              <a:rPr lang="pt-PT" sz="2400" dirty="0"/>
              <a:t> Error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Runtime</a:t>
            </a:r>
            <a:r>
              <a:rPr lang="pt-PT" sz="2400" dirty="0"/>
              <a:t> Error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Both </a:t>
            </a:r>
            <a:r>
              <a:rPr lang="pt-PT" sz="2400" dirty="0" err="1"/>
              <a:t>option</a:t>
            </a:r>
            <a:r>
              <a:rPr lang="pt-PT" sz="2400" dirty="0"/>
              <a:t> 1 </a:t>
            </a:r>
            <a:r>
              <a:rPr lang="pt-PT" sz="2400" dirty="0" err="1"/>
              <a:t>and</a:t>
            </a:r>
            <a:r>
              <a:rPr lang="pt-PT" sz="2400" dirty="0"/>
              <a:t> 2</a:t>
            </a:r>
            <a:endParaRPr sz="2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1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What is output of following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print(''abbzxyzxzxabb''.count(‘abb’,-10,-1))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39"/>
          <p:cNvSpPr txBox="1">
            <a:spLocks noGrp="1"/>
          </p:cNvSpPr>
          <p:nvPr>
            <p:ph type="body" idx="1"/>
          </p:nvPr>
        </p:nvSpPr>
        <p:spPr>
          <a:xfrm>
            <a:off x="311700" y="2919725"/>
            <a:ext cx="85206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2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0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1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Error</a:t>
            </a:r>
            <a:endParaRPr sz="2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40"/>
          <p:cNvSpPr txBox="1">
            <a:spLocks noGrp="1"/>
          </p:cNvSpPr>
          <p:nvPr>
            <p:ph type="title"/>
          </p:nvPr>
        </p:nvSpPr>
        <p:spPr>
          <a:xfrm>
            <a:off x="311700" y="445050"/>
            <a:ext cx="8520600" cy="45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Select the option for following code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try: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list = 5*[0]+5*[10]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x = list[9]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print(''Done!'')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except IndexError: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   print(''Index out of Bond! '')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else: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   print(''Nothing is wrong!'')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finally: 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200"/>
              <a:t>   print(''Finally block!'')</a:t>
            </a:r>
            <a:endParaRPr sz="1200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16" name="Google Shape;716;p140"/>
          <p:cNvSpPr txBox="1">
            <a:spLocks noGrp="1"/>
          </p:cNvSpPr>
          <p:nvPr>
            <p:ph type="body" idx="1"/>
          </p:nvPr>
        </p:nvSpPr>
        <p:spPr>
          <a:xfrm>
            <a:off x="3287486" y="1655250"/>
            <a:ext cx="5479574" cy="30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Finally</a:t>
            </a:r>
            <a:r>
              <a:rPr lang="pt-PT" sz="2400" dirty="0"/>
              <a:t> </a:t>
            </a:r>
            <a:r>
              <a:rPr lang="pt-PT" sz="2400" dirty="0" err="1"/>
              <a:t>Block</a:t>
            </a:r>
            <a:r>
              <a:rPr lang="pt-PT" sz="2400" dirty="0"/>
              <a:t>!’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Done</a:t>
            </a:r>
            <a:r>
              <a:rPr lang="pt-PT" sz="2400" dirty="0"/>
              <a:t>! </a:t>
            </a:r>
            <a:r>
              <a:rPr lang="pt-PT" sz="2400" dirty="0" err="1"/>
              <a:t>follow</a:t>
            </a:r>
            <a:r>
              <a:rPr lang="pt-PT" sz="2400" dirty="0"/>
              <a:t> </a:t>
            </a:r>
            <a:r>
              <a:rPr lang="pt-PT" sz="2400" dirty="0" err="1"/>
              <a:t>by</a:t>
            </a:r>
            <a:r>
              <a:rPr lang="pt-PT" sz="2400" dirty="0"/>
              <a:t> ‘</a:t>
            </a:r>
            <a:r>
              <a:rPr lang="pt-PT" sz="2400" dirty="0" err="1"/>
              <a:t>Nothing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wrong</a:t>
            </a:r>
            <a:r>
              <a:rPr lang="pt-PT" sz="2400" dirty="0"/>
              <a:t>!’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Nothing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wrong</a:t>
            </a:r>
            <a:r>
              <a:rPr lang="pt-PT" sz="2400" dirty="0"/>
              <a:t>!’ </a:t>
            </a:r>
            <a:r>
              <a:rPr lang="pt-PT" sz="2400" dirty="0" err="1"/>
              <a:t>followed</a:t>
            </a:r>
            <a:r>
              <a:rPr lang="pt-PT" sz="2400" dirty="0"/>
              <a:t> </a:t>
            </a:r>
            <a:r>
              <a:rPr lang="pt-PT" sz="2400" dirty="0" err="1"/>
              <a:t>by</a:t>
            </a:r>
            <a:r>
              <a:rPr lang="pt-PT" sz="2400" dirty="0"/>
              <a:t> ‘</a:t>
            </a:r>
            <a:r>
              <a:rPr lang="pt-PT" sz="2400" dirty="0" err="1"/>
              <a:t>Finally</a:t>
            </a:r>
            <a:r>
              <a:rPr lang="pt-PT" sz="2400" dirty="0"/>
              <a:t> </a:t>
            </a:r>
            <a:r>
              <a:rPr lang="pt-PT" sz="2400" dirty="0" err="1"/>
              <a:t>block</a:t>
            </a:r>
            <a:r>
              <a:rPr lang="pt-PT" sz="2400" dirty="0"/>
              <a:t>’.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‘</a:t>
            </a:r>
            <a:r>
              <a:rPr lang="pt-PT" sz="2400" dirty="0" err="1"/>
              <a:t>Done</a:t>
            </a:r>
            <a:r>
              <a:rPr lang="pt-PT" sz="2400" dirty="0"/>
              <a:t>!’ </a:t>
            </a:r>
            <a:r>
              <a:rPr lang="pt-PT" sz="2400" dirty="0" err="1"/>
              <a:t>follow</a:t>
            </a:r>
            <a:r>
              <a:rPr lang="pt-PT" sz="2400" dirty="0"/>
              <a:t> </a:t>
            </a:r>
            <a:r>
              <a:rPr lang="pt-PT" sz="2400" dirty="0" err="1"/>
              <a:t>by</a:t>
            </a:r>
            <a:r>
              <a:rPr lang="pt-PT" sz="2400" dirty="0"/>
              <a:t> ‘</a:t>
            </a:r>
            <a:r>
              <a:rPr lang="pt-PT" sz="2400" dirty="0" err="1"/>
              <a:t>Nothing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wrong</a:t>
            </a:r>
            <a:r>
              <a:rPr lang="pt-PT" sz="2400" dirty="0"/>
              <a:t>!’ </a:t>
            </a:r>
            <a:r>
              <a:rPr lang="pt-PT" sz="2400" dirty="0" err="1"/>
              <a:t>followed</a:t>
            </a:r>
            <a:r>
              <a:rPr lang="pt-PT" sz="2400" dirty="0"/>
              <a:t> </a:t>
            </a:r>
            <a:r>
              <a:rPr lang="pt-PT" sz="2400" dirty="0" err="1"/>
              <a:t>by</a:t>
            </a:r>
            <a:r>
              <a:rPr lang="pt-PT" sz="2400" dirty="0"/>
              <a:t> ‘</a:t>
            </a:r>
            <a:r>
              <a:rPr lang="pt-PT" sz="2400" dirty="0" err="1"/>
              <a:t>Finally</a:t>
            </a:r>
            <a:r>
              <a:rPr lang="pt-PT" sz="2400" dirty="0"/>
              <a:t> </a:t>
            </a:r>
            <a:r>
              <a:rPr lang="pt-PT" sz="2400" dirty="0" err="1"/>
              <a:t>block</a:t>
            </a:r>
            <a:r>
              <a:rPr lang="pt-PT" sz="2400" dirty="0"/>
              <a:t>’.</a:t>
            </a:r>
            <a:endParaRPr sz="2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>
                <a:solidFill>
                  <a:srgbClr val="FFFFFF"/>
                </a:solidFill>
              </a:rPr>
              <a:t>Which among them is correct(s) about Recursive Function?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41"/>
          <p:cNvSpPr txBox="1">
            <a:spLocks noGrp="1"/>
          </p:cNvSpPr>
          <p:nvPr>
            <p:ph type="body" idx="1"/>
          </p:nvPr>
        </p:nvSpPr>
        <p:spPr>
          <a:xfrm>
            <a:off x="311700" y="1660625"/>
            <a:ext cx="8520600" cy="33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They</a:t>
            </a:r>
            <a:r>
              <a:rPr lang="pt-PT" sz="2400" dirty="0"/>
              <a:t> are </a:t>
            </a:r>
            <a:r>
              <a:rPr lang="pt-PT" sz="2400" dirty="0" err="1"/>
              <a:t>much</a:t>
            </a:r>
            <a:r>
              <a:rPr lang="pt-PT" sz="2400" dirty="0"/>
              <a:t> </a:t>
            </a:r>
            <a:r>
              <a:rPr lang="pt-PT" sz="2400" dirty="0" err="1"/>
              <a:t>faster</a:t>
            </a:r>
            <a:r>
              <a:rPr lang="pt-PT" sz="2400" dirty="0"/>
              <a:t> </a:t>
            </a:r>
            <a:r>
              <a:rPr lang="pt-PT" sz="2400" dirty="0" err="1"/>
              <a:t>than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normal </a:t>
            </a:r>
            <a:r>
              <a:rPr lang="pt-PT" sz="2400" dirty="0" err="1"/>
              <a:t>functions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 </a:t>
            </a:r>
            <a:r>
              <a:rPr lang="pt-PT" sz="2400" dirty="0" err="1"/>
              <a:t>They</a:t>
            </a:r>
            <a:r>
              <a:rPr lang="pt-PT" sz="2400" dirty="0"/>
              <a:t> take more </a:t>
            </a:r>
            <a:r>
              <a:rPr lang="pt-PT" sz="2400" dirty="0" err="1"/>
              <a:t>space</a:t>
            </a:r>
            <a:r>
              <a:rPr lang="pt-PT" sz="2400" dirty="0"/>
              <a:t> </a:t>
            </a:r>
            <a:r>
              <a:rPr lang="pt-PT" sz="2400" dirty="0" err="1"/>
              <a:t>then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non-</a:t>
            </a:r>
            <a:r>
              <a:rPr lang="pt-PT" sz="2400" dirty="0" err="1"/>
              <a:t>recursive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They</a:t>
            </a:r>
            <a:r>
              <a:rPr lang="pt-PT" sz="2400" dirty="0"/>
              <a:t> can </a:t>
            </a:r>
            <a:r>
              <a:rPr lang="pt-PT" sz="2400" dirty="0" err="1"/>
              <a:t>always</a:t>
            </a:r>
            <a:r>
              <a:rPr lang="pt-PT" sz="2400" dirty="0"/>
              <a:t> </a:t>
            </a:r>
            <a:r>
              <a:rPr lang="pt-PT" sz="2400" dirty="0" err="1"/>
              <a:t>be</a:t>
            </a:r>
            <a:r>
              <a:rPr lang="pt-PT" sz="2400" dirty="0"/>
              <a:t> </a:t>
            </a:r>
            <a:r>
              <a:rPr lang="pt-PT" sz="2400" dirty="0" err="1"/>
              <a:t>replaced</a:t>
            </a:r>
            <a:r>
              <a:rPr lang="pt-PT" sz="2400" dirty="0"/>
              <a:t> </a:t>
            </a:r>
            <a:r>
              <a:rPr lang="pt-PT" sz="2400" dirty="0" err="1"/>
              <a:t>by</a:t>
            </a:r>
            <a:r>
              <a:rPr lang="pt-PT" sz="2400" dirty="0"/>
              <a:t> non-</a:t>
            </a:r>
            <a:r>
              <a:rPr lang="pt-PT" sz="2400" dirty="0" err="1"/>
              <a:t>recursive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recursive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r>
              <a:rPr lang="pt-PT" sz="2400" dirty="0"/>
              <a:t> </a:t>
            </a:r>
            <a:r>
              <a:rPr lang="pt-PT" sz="2400" dirty="0" err="1"/>
              <a:t>however</a:t>
            </a:r>
            <a:r>
              <a:rPr lang="pt-PT" sz="2400" dirty="0"/>
              <a:t> </a:t>
            </a:r>
            <a:r>
              <a:rPr lang="pt-PT" sz="2400" dirty="0" err="1"/>
              <a:t>also</a:t>
            </a:r>
            <a:r>
              <a:rPr lang="pt-PT" sz="2400" dirty="0"/>
              <a:t> </a:t>
            </a:r>
            <a:r>
              <a:rPr lang="pt-PT" sz="2400" dirty="0" err="1"/>
              <a:t>gives</a:t>
            </a:r>
            <a:r>
              <a:rPr lang="pt-PT" sz="2400" dirty="0"/>
              <a:t> a natural </a:t>
            </a:r>
            <a:r>
              <a:rPr lang="pt-PT" sz="2400" dirty="0" err="1"/>
              <a:t>and</a:t>
            </a:r>
            <a:r>
              <a:rPr lang="pt-PT" sz="2400" dirty="0"/>
              <a:t> straight </a:t>
            </a:r>
            <a:r>
              <a:rPr lang="pt-PT" sz="2400" dirty="0" err="1"/>
              <a:t>forward</a:t>
            </a:r>
            <a:r>
              <a:rPr lang="pt-PT" sz="2400" dirty="0"/>
              <a:t> </a:t>
            </a:r>
            <a:r>
              <a:rPr lang="pt-PT" sz="2400" dirty="0" err="1"/>
              <a:t>simple</a:t>
            </a:r>
            <a:r>
              <a:rPr lang="pt-PT" sz="2400" dirty="0"/>
              <a:t> </a:t>
            </a:r>
            <a:r>
              <a:rPr lang="pt-PT" sz="2400" dirty="0" err="1"/>
              <a:t>solution</a:t>
            </a:r>
            <a:r>
              <a:rPr lang="pt-PT" sz="2400" dirty="0"/>
              <a:t> for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program</a:t>
            </a:r>
            <a:r>
              <a:rPr lang="pt-PT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>
                <a:solidFill>
                  <a:srgbClr val="FFFFFF"/>
                </a:solidFill>
              </a:rPr>
              <a:t>Which module is used in python to create Graphics?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42"/>
          <p:cNvSpPr txBox="1">
            <a:spLocks noGrp="1"/>
          </p:cNvSpPr>
          <p:nvPr>
            <p:ph type="body" idx="1"/>
          </p:nvPr>
        </p:nvSpPr>
        <p:spPr>
          <a:xfrm>
            <a:off x="311700" y="1660625"/>
            <a:ext cx="8520600" cy="33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Turtle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Canvas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Tkinter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Graphics</a:t>
            </a:r>
            <a:endParaRPr sz="2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will be the output of the following code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print type(type(int))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43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type</a:t>
            </a:r>
            <a:r>
              <a:rPr lang="pt-PT" sz="3600" dirty="0"/>
              <a:t> ‘</a:t>
            </a:r>
            <a:r>
              <a:rPr lang="pt-PT" sz="3600" dirty="0" err="1"/>
              <a:t>int</a:t>
            </a:r>
            <a:r>
              <a:rPr lang="pt-PT" sz="3600" dirty="0"/>
              <a:t>’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type</a:t>
            </a:r>
            <a:r>
              <a:rPr lang="pt-PT" sz="3600" dirty="0"/>
              <a:t> ‘</a:t>
            </a:r>
            <a:r>
              <a:rPr lang="pt-PT" sz="3600" dirty="0" err="1"/>
              <a:t>type</a:t>
            </a:r>
            <a:r>
              <a:rPr lang="pt-PT" sz="3600" dirty="0"/>
              <a:t>’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</a:t>
            </a:r>
            <a:endParaRPr sz="3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L = ['a','b','c','d']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print "".join(L)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44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None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abcd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[‘a’, ‘b’, ‘c’, ‘d’]</a:t>
            </a:r>
            <a:endParaRPr sz="3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segment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chr(ord('A'))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45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A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B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a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8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y = 8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z = lambda x : x * y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print z(6)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46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48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64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None</a:t>
            </a:r>
            <a:r>
              <a:rPr lang="pt-PT" sz="3600" dirty="0"/>
              <a:t> </a:t>
            </a:r>
            <a:r>
              <a:rPr lang="pt-PT" sz="3600" dirty="0" err="1"/>
              <a:t>of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above</a:t>
            </a:r>
            <a:endParaRPr sz="3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8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Suppose list1 is [3, 4, 5, 20, 5, 25, 1, 3], what is list1 after list1.pop(1)?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47"/>
          <p:cNvSpPr txBox="1">
            <a:spLocks noGrp="1"/>
          </p:cNvSpPr>
          <p:nvPr>
            <p:ph type="body" idx="1"/>
          </p:nvPr>
        </p:nvSpPr>
        <p:spPr>
          <a:xfrm>
            <a:off x="311700" y="2312800"/>
            <a:ext cx="85206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[3, 4, 5, 20, 5, 25, 1, 3]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[1, 3, 3, 4, 5, 5, 20, 25]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[3, 5, 20, 5, 25, 1, 3]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[1, 3, 4, 5, 20, 5, 25]</a:t>
            </a:r>
            <a:endParaRPr sz="3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8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i = 0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while i &lt; 3: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   print i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   i++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   print i+1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48"/>
          <p:cNvSpPr txBox="1">
            <a:spLocks noGrp="1"/>
          </p:cNvSpPr>
          <p:nvPr>
            <p:ph type="body" idx="1"/>
          </p:nvPr>
        </p:nvSpPr>
        <p:spPr>
          <a:xfrm>
            <a:off x="4002500" y="1660700"/>
            <a:ext cx="4641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0 2 1 3 2 4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0 1 2 3 4 5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1 0 2 4 3 5</a:t>
            </a:r>
            <a:endParaRPr sz="3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expression : 3*1**3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49"/>
          <p:cNvSpPr txBox="1">
            <a:spLocks noGrp="1"/>
          </p:cNvSpPr>
          <p:nvPr>
            <p:ph type="body" idx="1"/>
          </p:nvPr>
        </p:nvSpPr>
        <p:spPr>
          <a:xfrm>
            <a:off x="311700" y="1370825"/>
            <a:ext cx="8520600" cy="3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27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9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3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</a:t>
            </a:r>
            <a:endParaRPr sz="3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print '{0:.2}'.format(1.0 / 3)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50"/>
          <p:cNvSpPr txBox="1">
            <a:spLocks noGrp="1"/>
          </p:cNvSpPr>
          <p:nvPr>
            <p:ph type="body" idx="1"/>
          </p:nvPr>
        </p:nvSpPr>
        <p:spPr>
          <a:xfrm>
            <a:off x="311700" y="1718525"/>
            <a:ext cx="8520600" cy="33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0.3333333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0.33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0.3333333:-2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2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 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i = 0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while i &lt; 3: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	print i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	i += 1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else: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	print 0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51"/>
          <p:cNvSpPr txBox="1">
            <a:spLocks noGrp="1"/>
          </p:cNvSpPr>
          <p:nvPr>
            <p:ph type="body" idx="1"/>
          </p:nvPr>
        </p:nvSpPr>
        <p:spPr>
          <a:xfrm>
            <a:off x="4002500" y="1660700"/>
            <a:ext cx="4641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0 1 2 3 0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0 1 2 0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Runs </a:t>
            </a:r>
            <a:r>
              <a:rPr lang="pt-PT" sz="3600" dirty="0" err="1"/>
              <a:t>infinitely</a:t>
            </a:r>
            <a:r>
              <a:rPr lang="pt-PT" sz="3600" dirty="0"/>
              <a:t> </a:t>
            </a:r>
            <a:endParaRPr sz="36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9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 : 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i = 0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while i &lt; 5: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print(i)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i += 1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if i == 3: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    break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else: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    print(0)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52"/>
          <p:cNvSpPr txBox="1">
            <a:spLocks noGrp="1"/>
          </p:cNvSpPr>
          <p:nvPr>
            <p:ph type="body" idx="1"/>
          </p:nvPr>
        </p:nvSpPr>
        <p:spPr>
          <a:xfrm>
            <a:off x="3664857" y="1660700"/>
            <a:ext cx="4978943" cy="272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0 1 2 0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0 1 2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None</a:t>
            </a:r>
            <a:r>
              <a:rPr lang="pt-PT" sz="3600" dirty="0"/>
              <a:t> </a:t>
            </a:r>
            <a:r>
              <a:rPr lang="pt-PT" sz="3600" dirty="0" err="1"/>
              <a:t>of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above</a:t>
            </a:r>
            <a:endParaRPr sz="3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What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is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output </a:t>
            </a:r>
            <a:r>
              <a:rPr lang="pt-PT" sz="2400" dirty="0" err="1">
                <a:solidFill>
                  <a:srgbClr val="FFFFFF"/>
                </a:solidFill>
              </a:rPr>
              <a:t>of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following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program</a:t>
            </a:r>
            <a:r>
              <a:rPr lang="pt-PT" sz="2400" dirty="0">
                <a:solidFill>
                  <a:srgbClr val="FFFFFF"/>
                </a:solidFill>
              </a:rPr>
              <a:t> :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print '</a:t>
            </a:r>
            <a:r>
              <a:rPr lang="pt-PT" sz="2400" dirty="0" err="1">
                <a:solidFill>
                  <a:srgbClr val="FFFFFF"/>
                </a:solidFill>
              </a:rPr>
              <a:t>abcefd</a:t>
            </a:r>
            <a:r>
              <a:rPr lang="pt-PT" sz="2400" dirty="0">
                <a:solidFill>
                  <a:srgbClr val="FFFFFF"/>
                </a:solidFill>
              </a:rPr>
              <a:t>'.</a:t>
            </a:r>
            <a:r>
              <a:rPr lang="pt-PT" sz="2400" dirty="0" err="1">
                <a:solidFill>
                  <a:srgbClr val="FFFFFF"/>
                </a:solidFill>
              </a:rPr>
              <a:t>replace</a:t>
            </a:r>
            <a:r>
              <a:rPr lang="pt-PT" sz="2400" dirty="0">
                <a:solidFill>
                  <a:srgbClr val="FFFFFF"/>
                </a:solidFill>
              </a:rPr>
              <a:t>('cd', '12')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4" name="Google Shape;794;p153"/>
          <p:cNvSpPr txBox="1">
            <a:spLocks noGrp="1"/>
          </p:cNvSpPr>
          <p:nvPr>
            <p:ph type="body" idx="1"/>
          </p:nvPr>
        </p:nvSpPr>
        <p:spPr>
          <a:xfrm>
            <a:off x="311700" y="1718525"/>
            <a:ext cx="8520600" cy="33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ab1ef2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abcefd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ab1efd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ab12ed2</a:t>
            </a:r>
            <a:endParaRPr sz="3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9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What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will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be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displayed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by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following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code</a:t>
            </a:r>
            <a:r>
              <a:rPr lang="pt-PT" sz="2400" dirty="0">
                <a:solidFill>
                  <a:srgbClr val="FFFFFF"/>
                </a:solidFill>
              </a:rPr>
              <a:t>?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def</a:t>
            </a:r>
            <a:r>
              <a:rPr lang="pt-PT" sz="2400" dirty="0">
                <a:solidFill>
                  <a:srgbClr val="FFFFFF"/>
                </a:solidFill>
              </a:rPr>
              <a:t> f(</a:t>
            </a:r>
            <a:r>
              <a:rPr lang="pt-PT" sz="2400" dirty="0" err="1">
                <a:solidFill>
                  <a:srgbClr val="FFFFFF"/>
                </a:solidFill>
              </a:rPr>
              <a:t>value</a:t>
            </a:r>
            <a:r>
              <a:rPr lang="pt-PT" sz="2400" dirty="0">
                <a:solidFill>
                  <a:srgbClr val="FFFFFF"/>
                </a:solidFill>
              </a:rPr>
              <a:t>, </a:t>
            </a:r>
            <a:r>
              <a:rPr lang="pt-PT" sz="2400" dirty="0" err="1">
                <a:solidFill>
                  <a:srgbClr val="FFFFFF"/>
                </a:solidFill>
              </a:rPr>
              <a:t>values</a:t>
            </a:r>
            <a:r>
              <a:rPr lang="pt-PT" sz="2400" dirty="0">
                <a:solidFill>
                  <a:srgbClr val="FFFFFF"/>
                </a:solidFill>
              </a:rPr>
              <a:t>):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    v = 1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    </a:t>
            </a:r>
            <a:r>
              <a:rPr lang="pt-PT" sz="2400" dirty="0" err="1">
                <a:solidFill>
                  <a:srgbClr val="FFFFFF"/>
                </a:solidFill>
              </a:rPr>
              <a:t>values</a:t>
            </a:r>
            <a:r>
              <a:rPr lang="pt-PT" sz="2400" dirty="0">
                <a:solidFill>
                  <a:srgbClr val="FFFFFF"/>
                </a:solidFill>
              </a:rPr>
              <a:t>[0] = 44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t = 3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v = [1, 2, 3]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f(t, v)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rgbClr val="FFFFFF"/>
                </a:solidFill>
              </a:rPr>
              <a:t>print(t, v[0])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0" name="Google Shape;800;p154"/>
          <p:cNvSpPr txBox="1">
            <a:spLocks noGrp="1"/>
          </p:cNvSpPr>
          <p:nvPr>
            <p:ph type="body" idx="1"/>
          </p:nvPr>
        </p:nvSpPr>
        <p:spPr>
          <a:xfrm>
            <a:off x="4002500" y="1660700"/>
            <a:ext cx="4641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1 1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1 44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3 1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3 44</a:t>
            </a:r>
            <a:endParaRPr sz="3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statements is true?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55"/>
          <p:cNvSpPr txBox="1">
            <a:spLocks noGrp="1"/>
          </p:cNvSpPr>
          <p:nvPr>
            <p:ph type="body" idx="1"/>
          </p:nvPr>
        </p:nvSpPr>
        <p:spPr>
          <a:xfrm>
            <a:off x="311700" y="1139371"/>
            <a:ext cx="8520600" cy="3657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Python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a </a:t>
            </a:r>
            <a:r>
              <a:rPr lang="pt-PT" sz="3600" dirty="0" err="1"/>
              <a:t>high</a:t>
            </a:r>
            <a:r>
              <a:rPr lang="pt-PT" sz="3600" dirty="0"/>
              <a:t> </a:t>
            </a:r>
            <a:r>
              <a:rPr lang="pt-PT" sz="3600" dirty="0" err="1"/>
              <a:t>level</a:t>
            </a:r>
            <a:r>
              <a:rPr lang="pt-PT" sz="3600" dirty="0"/>
              <a:t> </a:t>
            </a:r>
            <a:r>
              <a:rPr lang="pt-PT" sz="3600" dirty="0" err="1"/>
              <a:t>programming</a:t>
            </a:r>
            <a:r>
              <a:rPr lang="pt-PT" sz="3600" dirty="0"/>
              <a:t> </a:t>
            </a:r>
            <a:r>
              <a:rPr lang="pt-PT" sz="3600" dirty="0" err="1"/>
              <a:t>language</a:t>
            </a:r>
            <a:r>
              <a:rPr lang="pt-PT" sz="3600" dirty="0"/>
              <a:t>.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Python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an</a:t>
            </a:r>
            <a:r>
              <a:rPr lang="pt-PT" sz="3600" dirty="0"/>
              <a:t> </a:t>
            </a:r>
            <a:r>
              <a:rPr lang="pt-PT" sz="3600" dirty="0" err="1"/>
              <a:t>interpreted</a:t>
            </a:r>
            <a:r>
              <a:rPr lang="pt-PT" sz="3600" dirty="0"/>
              <a:t> </a:t>
            </a:r>
            <a:r>
              <a:rPr lang="pt-PT" sz="3600" dirty="0" err="1"/>
              <a:t>language</a:t>
            </a:r>
            <a:r>
              <a:rPr lang="pt-PT" sz="3600" dirty="0"/>
              <a:t>.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Python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</a:t>
            </a:r>
            <a:r>
              <a:rPr lang="pt-PT" sz="3600" dirty="0" err="1"/>
              <a:t>an</a:t>
            </a:r>
            <a:r>
              <a:rPr lang="pt-PT" sz="3600" dirty="0"/>
              <a:t> </a:t>
            </a:r>
            <a:r>
              <a:rPr lang="pt-PT" sz="3600" dirty="0" err="1"/>
              <a:t>object-oriented</a:t>
            </a:r>
            <a:r>
              <a:rPr lang="pt-PT" sz="3600" dirty="0"/>
              <a:t> </a:t>
            </a:r>
            <a:r>
              <a:rPr lang="pt-PT" sz="3600" dirty="0" err="1"/>
              <a:t>language</a:t>
            </a:r>
            <a:r>
              <a:rPr lang="pt-PT" sz="3600" dirty="0"/>
              <a:t>.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All</a:t>
            </a:r>
            <a:r>
              <a:rPr lang="pt-PT" sz="3600" dirty="0"/>
              <a:t> </a:t>
            </a:r>
            <a:r>
              <a:rPr lang="pt-PT" sz="3600" dirty="0" err="1"/>
              <a:t>of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above</a:t>
            </a:r>
            <a:r>
              <a:rPr lang="pt-PT" sz="3600" dirty="0"/>
              <a:t>.</a:t>
            </a:r>
            <a:endParaRPr sz="3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is correct? 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56"/>
          <p:cNvSpPr txBox="1">
            <a:spLocks noGrp="1"/>
          </p:cNvSpPr>
          <p:nvPr>
            <p:ph type="body" idx="1"/>
          </p:nvPr>
        </p:nvSpPr>
        <p:spPr>
          <a:xfrm>
            <a:off x="311700" y="1370825"/>
            <a:ext cx="8520600" cy="3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Variable</a:t>
            </a:r>
            <a:r>
              <a:rPr lang="pt-PT" sz="3000" dirty="0"/>
              <a:t> </a:t>
            </a:r>
            <a:r>
              <a:rPr lang="pt-PT" sz="3000" dirty="0" err="1"/>
              <a:t>name</a:t>
            </a:r>
            <a:r>
              <a:rPr lang="pt-PT" sz="3000" dirty="0"/>
              <a:t> can </a:t>
            </a:r>
            <a:r>
              <a:rPr lang="pt-PT" sz="3000" dirty="0" err="1"/>
              <a:t>start</a:t>
            </a:r>
            <a:r>
              <a:rPr lang="pt-PT" sz="3000" dirty="0"/>
              <a:t> </a:t>
            </a:r>
            <a:r>
              <a:rPr lang="pt-PT" sz="3000" dirty="0" err="1"/>
              <a:t>with</a:t>
            </a:r>
            <a:r>
              <a:rPr lang="pt-PT" sz="3000" dirty="0"/>
              <a:t> </a:t>
            </a:r>
            <a:r>
              <a:rPr lang="pt-PT" sz="3000" dirty="0" err="1"/>
              <a:t>an</a:t>
            </a:r>
            <a:r>
              <a:rPr lang="pt-PT" sz="3000" dirty="0"/>
              <a:t> </a:t>
            </a:r>
            <a:r>
              <a:rPr lang="pt-PT" sz="3000" dirty="0" err="1"/>
              <a:t>underscore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Variable</a:t>
            </a:r>
            <a:r>
              <a:rPr lang="pt-PT" sz="3000" dirty="0"/>
              <a:t> </a:t>
            </a:r>
            <a:r>
              <a:rPr lang="pt-PT" sz="3000" dirty="0" err="1"/>
              <a:t>name</a:t>
            </a:r>
            <a:r>
              <a:rPr lang="pt-PT" sz="3000" dirty="0"/>
              <a:t> can </a:t>
            </a:r>
            <a:r>
              <a:rPr lang="pt-PT" sz="3000" dirty="0" err="1"/>
              <a:t>start</a:t>
            </a:r>
            <a:r>
              <a:rPr lang="pt-PT" sz="3000" dirty="0"/>
              <a:t> </a:t>
            </a:r>
            <a:r>
              <a:rPr lang="pt-PT" sz="3000" dirty="0" err="1"/>
              <a:t>with</a:t>
            </a:r>
            <a:r>
              <a:rPr lang="pt-PT" sz="3000" dirty="0"/>
              <a:t> a </a:t>
            </a:r>
            <a:r>
              <a:rPr lang="pt-PT" sz="3000" dirty="0" err="1"/>
              <a:t>digit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Keywords</a:t>
            </a:r>
            <a:r>
              <a:rPr lang="pt-PT" sz="3000" dirty="0"/>
              <a:t> </a:t>
            </a:r>
            <a:r>
              <a:rPr lang="pt-PT" sz="3000" dirty="0" err="1"/>
              <a:t>cannot</a:t>
            </a:r>
            <a:r>
              <a:rPr lang="pt-PT" sz="3000" dirty="0"/>
              <a:t> </a:t>
            </a:r>
            <a:r>
              <a:rPr lang="pt-PT" sz="3000" dirty="0" err="1"/>
              <a:t>be</a:t>
            </a:r>
            <a:r>
              <a:rPr lang="pt-PT" sz="3000" dirty="0"/>
              <a:t> </a:t>
            </a:r>
            <a:r>
              <a:rPr lang="pt-PT" sz="3000" dirty="0" err="1"/>
              <a:t>used</a:t>
            </a:r>
            <a:r>
              <a:rPr lang="pt-PT" sz="3000" dirty="0"/>
              <a:t> as a </a:t>
            </a:r>
            <a:r>
              <a:rPr lang="pt-PT" sz="3000" dirty="0" err="1"/>
              <a:t>variable</a:t>
            </a:r>
            <a:r>
              <a:rPr lang="pt-PT" sz="3000" dirty="0"/>
              <a:t> </a:t>
            </a:r>
            <a:r>
              <a:rPr lang="pt-PT" sz="3000" dirty="0" err="1"/>
              <a:t>name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Variable</a:t>
            </a:r>
            <a:r>
              <a:rPr lang="pt-PT" sz="3000" dirty="0"/>
              <a:t> </a:t>
            </a:r>
            <a:r>
              <a:rPr lang="pt-PT" sz="3000" dirty="0" err="1"/>
              <a:t>name</a:t>
            </a:r>
            <a:r>
              <a:rPr lang="pt-PT" sz="3000" dirty="0"/>
              <a:t> can </a:t>
            </a:r>
            <a:r>
              <a:rPr lang="pt-PT" sz="3000" dirty="0" err="1"/>
              <a:t>have</a:t>
            </a:r>
            <a:r>
              <a:rPr lang="pt-PT" sz="3000" dirty="0"/>
              <a:t> </a:t>
            </a:r>
            <a:r>
              <a:rPr lang="pt-PT" sz="3000" dirty="0" err="1"/>
              <a:t>symbols</a:t>
            </a:r>
            <a:r>
              <a:rPr lang="pt-PT" sz="3000" dirty="0"/>
              <a:t> </a:t>
            </a:r>
            <a:r>
              <a:rPr lang="pt-PT" sz="3000" dirty="0" err="1"/>
              <a:t>like</a:t>
            </a:r>
            <a:r>
              <a:rPr lang="pt-PT" sz="3000" dirty="0"/>
              <a:t>: @, #, $ etc.</a:t>
            </a:r>
            <a:endParaRPr sz="3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print(1, 2, 3, 4, sep='*')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57"/>
          <p:cNvSpPr txBox="1">
            <a:spLocks noGrp="1"/>
          </p:cNvSpPr>
          <p:nvPr>
            <p:ph type="body" idx="1"/>
          </p:nvPr>
        </p:nvSpPr>
        <p:spPr>
          <a:xfrm>
            <a:off x="311700" y="1882200"/>
            <a:ext cx="8520600" cy="3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1 2 3 4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1234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1*2*3*4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24</a:t>
            </a:r>
            <a:endParaRPr sz="36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Suppose</a:t>
            </a:r>
            <a:r>
              <a:rPr lang="pt-PT" sz="2400" dirty="0">
                <a:solidFill>
                  <a:srgbClr val="FFFFFF"/>
                </a:solidFill>
              </a:rPr>
              <a:t> a </a:t>
            </a:r>
            <a:r>
              <a:rPr lang="pt-PT" sz="2400" dirty="0" err="1">
                <a:solidFill>
                  <a:srgbClr val="FFFFFF"/>
                </a:solidFill>
              </a:rPr>
              <a:t>list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with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name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test</a:t>
            </a:r>
            <a:r>
              <a:rPr lang="pt-PT" sz="2400" dirty="0">
                <a:solidFill>
                  <a:srgbClr val="FFFFFF"/>
                </a:solidFill>
              </a:rPr>
              <a:t>, </a:t>
            </a:r>
            <a:r>
              <a:rPr lang="pt-PT" sz="2400" dirty="0" err="1">
                <a:solidFill>
                  <a:srgbClr val="FFFFFF"/>
                </a:solidFill>
              </a:rPr>
              <a:t>contains</a:t>
            </a:r>
            <a:r>
              <a:rPr lang="pt-PT" sz="2400" dirty="0">
                <a:solidFill>
                  <a:srgbClr val="FFFFFF"/>
                </a:solidFill>
              </a:rPr>
              <a:t> 10 </a:t>
            </a:r>
            <a:r>
              <a:rPr lang="pt-PT" sz="2400" dirty="0" err="1">
                <a:solidFill>
                  <a:srgbClr val="FFFFFF"/>
                </a:solidFill>
              </a:rPr>
              <a:t>elements</a:t>
            </a:r>
            <a:r>
              <a:rPr lang="pt-PT" sz="2400" dirty="0">
                <a:solidFill>
                  <a:srgbClr val="FFFFFF"/>
                </a:solidFill>
              </a:rPr>
              <a:t>. </a:t>
            </a:r>
            <a:r>
              <a:rPr lang="pt-PT" sz="2400" dirty="0" err="1">
                <a:solidFill>
                  <a:srgbClr val="FFFFFF"/>
                </a:solidFill>
              </a:rPr>
              <a:t>You</a:t>
            </a:r>
            <a:r>
              <a:rPr lang="pt-PT" sz="2400" dirty="0">
                <a:solidFill>
                  <a:srgbClr val="FFFFFF"/>
                </a:solidFill>
              </a:rPr>
              <a:t> can </a:t>
            </a:r>
            <a:r>
              <a:rPr lang="pt-PT" sz="2400" dirty="0" err="1">
                <a:solidFill>
                  <a:srgbClr val="FFFFFF"/>
                </a:solidFill>
              </a:rPr>
              <a:t>get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5</a:t>
            </a:r>
            <a:r>
              <a:rPr lang="pt-PT" sz="2400" baseline="30000" dirty="0">
                <a:solidFill>
                  <a:srgbClr val="FFFFFF"/>
                </a:solidFill>
              </a:rPr>
              <a:t>th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element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from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test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list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using</a:t>
            </a:r>
            <a:r>
              <a:rPr lang="pt-PT" sz="2400" dirty="0">
                <a:solidFill>
                  <a:srgbClr val="FFFFFF"/>
                </a:solidFill>
              </a:rPr>
              <a:t>: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4" name="Google Shape;824;p158"/>
          <p:cNvSpPr txBox="1">
            <a:spLocks noGrp="1"/>
          </p:cNvSpPr>
          <p:nvPr>
            <p:ph type="body" idx="1"/>
          </p:nvPr>
        </p:nvSpPr>
        <p:spPr>
          <a:xfrm>
            <a:off x="311700" y="1882200"/>
            <a:ext cx="8520600" cy="3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[5]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[4]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['5']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['4']</a:t>
            </a:r>
            <a:endParaRPr sz="3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language = ['P', 'y', 't', 'h', 'o', 'n']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print(language[:-4])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59"/>
          <p:cNvSpPr txBox="1">
            <a:spLocks noGrp="1"/>
          </p:cNvSpPr>
          <p:nvPr>
            <p:ph type="body" idx="1"/>
          </p:nvPr>
        </p:nvSpPr>
        <p:spPr>
          <a:xfrm>
            <a:off x="311700" y="2349400"/>
            <a:ext cx="8520600" cy="26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'</a:t>
            </a:r>
            <a:r>
              <a:rPr lang="pt-PT" sz="3600" dirty="0" err="1"/>
              <a:t>Py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['P', 'y']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['P', 'y', 't', 'h', 'o']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[-4]</a:t>
            </a:r>
            <a:endParaRPr sz="3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Suppose a tuple test contains 5 elements. How can you set the 3</a:t>
            </a:r>
            <a:r>
              <a:rPr lang="pt-PT" sz="2400" baseline="30000">
                <a:solidFill>
                  <a:srgbClr val="FFFFFF"/>
                </a:solidFill>
              </a:rPr>
              <a:t>rd</a:t>
            </a:r>
            <a:r>
              <a:rPr lang="pt-PT" sz="2400">
                <a:solidFill>
                  <a:srgbClr val="FFFFFF"/>
                </a:solidFill>
              </a:rPr>
              <a:t> element of the tuple to ‘Python’?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60"/>
          <p:cNvSpPr txBox="1">
            <a:spLocks noGrp="1"/>
          </p:cNvSpPr>
          <p:nvPr>
            <p:ph type="body" idx="1"/>
          </p:nvPr>
        </p:nvSpPr>
        <p:spPr>
          <a:xfrm>
            <a:off x="311700" y="1882200"/>
            <a:ext cx="8520600" cy="3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[2] = '</a:t>
            </a:r>
            <a:r>
              <a:rPr lang="pt-PT" sz="3600" dirty="0" err="1"/>
              <a:t>Python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(2) = '</a:t>
            </a:r>
            <a:r>
              <a:rPr lang="pt-PT" sz="3600" dirty="0" err="1"/>
              <a:t>Python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test</a:t>
            </a:r>
            <a:r>
              <a:rPr lang="pt-PT" sz="3600" dirty="0"/>
              <a:t>[3] = '</a:t>
            </a:r>
            <a:r>
              <a:rPr lang="pt-PT" sz="3600" dirty="0" err="1"/>
              <a:t>Python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Elements</a:t>
            </a:r>
            <a:r>
              <a:rPr lang="pt-PT" sz="3600" dirty="0"/>
              <a:t> </a:t>
            </a:r>
            <a:r>
              <a:rPr lang="pt-PT" sz="3600" dirty="0" err="1"/>
              <a:t>of</a:t>
            </a:r>
            <a:r>
              <a:rPr lang="pt-PT" sz="3600" dirty="0"/>
              <a:t> </a:t>
            </a:r>
            <a:r>
              <a:rPr lang="pt-PT" sz="3600" dirty="0" err="1"/>
              <a:t>tuple</a:t>
            </a:r>
            <a:r>
              <a:rPr lang="pt-PT" sz="3600" dirty="0"/>
              <a:t> </a:t>
            </a:r>
            <a:r>
              <a:rPr lang="pt-PT" sz="3600" dirty="0" err="1"/>
              <a:t>cannot</a:t>
            </a:r>
            <a:r>
              <a:rPr lang="pt-PT" sz="3600" dirty="0"/>
              <a:t> </a:t>
            </a:r>
            <a:r>
              <a:rPr lang="pt-PT" sz="3600" dirty="0" err="1"/>
              <a:t>be</a:t>
            </a:r>
            <a:r>
              <a:rPr lang="pt-PT" sz="3600" dirty="0"/>
              <a:t> </a:t>
            </a:r>
            <a:r>
              <a:rPr lang="pt-PT" sz="3600" dirty="0" err="1"/>
              <a:t>changed</a:t>
            </a:r>
            <a:endParaRPr sz="3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print((1, 2) + (3, 4))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61"/>
          <p:cNvSpPr txBox="1">
            <a:spLocks noGrp="1"/>
          </p:cNvSpPr>
          <p:nvPr>
            <p:ph type="body" idx="1"/>
          </p:nvPr>
        </p:nvSpPr>
        <p:spPr>
          <a:xfrm>
            <a:off x="311700" y="1882200"/>
            <a:ext cx="8520600" cy="3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(4, 6)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(1, 2, 3, 4)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((1, 2), (3, 4))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Error!</a:t>
            </a:r>
            <a:endParaRPr sz="3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names = "{1}, {2} and {0}".format('John', 'Bill', 'Sean')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print(names)</a:t>
            </a:r>
            <a:endParaRPr sz="2400">
              <a:solidFill>
                <a:srgbClr val="FFFF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62"/>
          <p:cNvSpPr txBox="1">
            <a:spLocks noGrp="1"/>
          </p:cNvSpPr>
          <p:nvPr>
            <p:ph type="body" idx="1"/>
          </p:nvPr>
        </p:nvSpPr>
        <p:spPr>
          <a:xfrm>
            <a:off x="311700" y="2327150"/>
            <a:ext cx="85206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John, Bill </a:t>
            </a:r>
            <a:r>
              <a:rPr lang="pt-PT" sz="3600" dirty="0" err="1"/>
              <a:t>and</a:t>
            </a:r>
            <a:r>
              <a:rPr lang="pt-PT" sz="3600" dirty="0"/>
              <a:t> Sean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Bill, Sean </a:t>
            </a:r>
            <a:r>
              <a:rPr lang="pt-PT" sz="3600" dirty="0" err="1"/>
              <a:t>and</a:t>
            </a:r>
            <a:r>
              <a:rPr lang="pt-PT" sz="3600" dirty="0"/>
              <a:t> John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John, Bill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Bill, Sean</a:t>
            </a:r>
            <a:endParaRPr sz="3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statement is true?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63"/>
          <p:cNvSpPr txBox="1">
            <a:spLocks noGrp="1"/>
          </p:cNvSpPr>
          <p:nvPr>
            <p:ph type="body" idx="1"/>
          </p:nvPr>
        </p:nvSpPr>
        <p:spPr>
          <a:xfrm>
            <a:off x="311700" y="1592825"/>
            <a:ext cx="8520600" cy="34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pt-PT" sz="3600"/>
              <a:t>A set is an unordered collection of items.</a:t>
            </a:r>
            <a:endParaRPr sz="360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pt-PT" sz="3600"/>
              <a:t>Elements of set are unique.</a:t>
            </a:r>
            <a:endParaRPr sz="360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pt-PT" sz="3600"/>
              <a:t>You can change elements of set unlike tuple.</a:t>
            </a:r>
            <a:endParaRPr sz="360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pt-PT" sz="3600"/>
              <a:t>All of the above.</a:t>
            </a:r>
            <a:endParaRPr sz="36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program?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n = [x*x for x in range(4)]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print(n)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64"/>
          <p:cNvSpPr txBox="1">
            <a:spLocks noGrp="1"/>
          </p:cNvSpPr>
          <p:nvPr>
            <p:ph type="body" idx="1"/>
          </p:nvPr>
        </p:nvSpPr>
        <p:spPr>
          <a:xfrm>
            <a:off x="311700" y="2215925"/>
            <a:ext cx="8520600" cy="28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[0, 1, 2, 3]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[0, 1, 4, 9]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[1, 4, 9, 16]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[1, 2, 3, 4]</a:t>
            </a:r>
            <a:endParaRPr sz="3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How</a:t>
            </a:r>
            <a:r>
              <a:rPr lang="pt-PT" sz="2400" dirty="0">
                <a:solidFill>
                  <a:srgbClr val="FFFFFF"/>
                </a:solidFill>
              </a:rPr>
              <a:t> can </a:t>
            </a:r>
            <a:r>
              <a:rPr lang="pt-PT" sz="2400" dirty="0" err="1">
                <a:solidFill>
                  <a:srgbClr val="FFFFFF"/>
                </a:solidFill>
              </a:rPr>
              <a:t>you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change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num = {‘</a:t>
            </a:r>
            <a:r>
              <a:rPr lang="pt-PT" sz="2400" dirty="0" err="1">
                <a:solidFill>
                  <a:srgbClr val="FFFFFF"/>
                </a:solidFill>
              </a:rPr>
              <a:t>one</a:t>
            </a:r>
            <a:r>
              <a:rPr lang="pt-PT" sz="2400" dirty="0">
                <a:solidFill>
                  <a:srgbClr val="FFFFFF"/>
                </a:solidFill>
              </a:rPr>
              <a:t>’: 1, ‘</a:t>
            </a:r>
            <a:r>
              <a:rPr lang="pt-PT" sz="2400" dirty="0" err="1">
                <a:solidFill>
                  <a:srgbClr val="FFFFFF"/>
                </a:solidFill>
              </a:rPr>
              <a:t>two</a:t>
            </a:r>
            <a:r>
              <a:rPr lang="pt-PT" sz="2400" dirty="0">
                <a:solidFill>
                  <a:srgbClr val="FFFFFF"/>
                </a:solidFill>
              </a:rPr>
              <a:t>’: 3} to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num = {‘</a:t>
            </a:r>
            <a:r>
              <a:rPr lang="pt-PT" sz="2400" dirty="0" err="1">
                <a:solidFill>
                  <a:srgbClr val="FFFFFF"/>
                </a:solidFill>
              </a:rPr>
              <a:t>one</a:t>
            </a:r>
            <a:r>
              <a:rPr lang="pt-PT" sz="2400" dirty="0">
                <a:solidFill>
                  <a:srgbClr val="FFFFFF"/>
                </a:solidFill>
              </a:rPr>
              <a:t>’: 1, ‘</a:t>
            </a:r>
            <a:r>
              <a:rPr lang="pt-PT" sz="2400" dirty="0" err="1">
                <a:solidFill>
                  <a:srgbClr val="FFFFFF"/>
                </a:solidFill>
              </a:rPr>
              <a:t>two</a:t>
            </a:r>
            <a:r>
              <a:rPr lang="pt-PT" sz="2400" dirty="0">
                <a:solidFill>
                  <a:srgbClr val="FFFFFF"/>
                </a:solidFill>
              </a:rPr>
              <a:t>’: 2}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6" name="Google Shape;866;p165"/>
          <p:cNvSpPr txBox="1">
            <a:spLocks noGrp="1"/>
          </p:cNvSpPr>
          <p:nvPr>
            <p:ph type="body" idx="1"/>
          </p:nvPr>
        </p:nvSpPr>
        <p:spPr>
          <a:xfrm>
            <a:off x="311700" y="2349400"/>
            <a:ext cx="8520600" cy="26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num[2] = '</a:t>
            </a:r>
            <a:r>
              <a:rPr lang="pt-PT" sz="3600" dirty="0" err="1"/>
              <a:t>two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num[1] = '</a:t>
            </a:r>
            <a:r>
              <a:rPr lang="pt-PT" sz="3600" dirty="0" err="1"/>
              <a:t>two</a:t>
            </a:r>
            <a:r>
              <a:rPr lang="pt-PT" sz="3600" dirty="0"/>
              <a:t>'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num['</a:t>
            </a:r>
            <a:r>
              <a:rPr lang="pt-PT" sz="3600" dirty="0" err="1"/>
              <a:t>two</a:t>
            </a:r>
            <a:r>
              <a:rPr lang="pt-PT" sz="3600" dirty="0"/>
              <a:t>'] = 2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num['</a:t>
            </a:r>
            <a:r>
              <a:rPr lang="pt-PT" sz="3600" dirty="0" err="1"/>
              <a:t>two</a:t>
            </a:r>
            <a:r>
              <a:rPr lang="pt-PT" sz="3600" dirty="0"/>
              <a:t>'] = '2'</a:t>
            </a:r>
            <a:endParaRPr sz="3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66"/>
          <p:cNvSpPr txBox="1">
            <a:spLocks noGrp="1"/>
          </p:cNvSpPr>
          <p:nvPr>
            <p:ph type="title"/>
          </p:nvPr>
        </p:nvSpPr>
        <p:spPr>
          <a:xfrm>
            <a:off x="311700" y="217714"/>
            <a:ext cx="8520600" cy="2354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What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is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output </a:t>
            </a:r>
            <a:r>
              <a:rPr lang="pt-PT" sz="2400" dirty="0" err="1">
                <a:solidFill>
                  <a:srgbClr val="FFFFFF"/>
                </a:solidFill>
              </a:rPr>
              <a:t>of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following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program</a:t>
            </a:r>
            <a:r>
              <a:rPr lang="pt-PT" sz="2400" dirty="0">
                <a:solidFill>
                  <a:srgbClr val="FFFFFF"/>
                </a:solidFill>
              </a:rPr>
              <a:t>?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 err="1">
                <a:solidFill>
                  <a:srgbClr val="FFFFFF"/>
                </a:solidFill>
              </a:rPr>
              <a:t>squares</a:t>
            </a:r>
            <a:r>
              <a:rPr lang="pt-PT" sz="2400" dirty="0">
                <a:solidFill>
                  <a:srgbClr val="FFFFFF"/>
                </a:solidFill>
              </a:rPr>
              <a:t> = {1:1, 2:4, 3:9, 4:16, 5:25} 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print(</a:t>
            </a:r>
            <a:r>
              <a:rPr lang="pt-PT" sz="2400" dirty="0" err="1">
                <a:solidFill>
                  <a:srgbClr val="FFFFFF"/>
                </a:solidFill>
              </a:rPr>
              <a:t>squares.pop</a:t>
            </a:r>
            <a:r>
              <a:rPr lang="pt-PT" sz="2400" dirty="0">
                <a:solidFill>
                  <a:srgbClr val="FFFFFF"/>
                </a:solidFill>
              </a:rPr>
              <a:t>(4)) 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print(</a:t>
            </a:r>
            <a:r>
              <a:rPr lang="pt-PT" sz="2400" dirty="0" err="1">
                <a:solidFill>
                  <a:srgbClr val="FFFFFF"/>
                </a:solidFill>
              </a:rPr>
              <a:t>squares</a:t>
            </a:r>
            <a:r>
              <a:rPr lang="pt-PT" sz="2400" dirty="0">
                <a:solidFill>
                  <a:srgbClr val="FFFFFF"/>
                </a:solidFill>
              </a:rPr>
              <a:t>)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166"/>
          <p:cNvSpPr txBox="1">
            <a:spLocks noGrp="1"/>
          </p:cNvSpPr>
          <p:nvPr>
            <p:ph type="body" idx="1"/>
          </p:nvPr>
        </p:nvSpPr>
        <p:spPr>
          <a:xfrm>
            <a:off x="311700" y="2394857"/>
            <a:ext cx="8520600" cy="25978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16  {1: 1, 2: 4, 3: 9, 5: 25}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16 {1: 1, 2: 4, 3: 9, 4:16, 5: 25}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4 {1: 1, 2: 4, 3: 9, 5: 25}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4 {1: 1, 2: 4, 3: 9, 4:16, 5: 25}</a:t>
            </a:r>
            <a:endParaRPr sz="3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if None: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print(“Hello”)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167"/>
          <p:cNvSpPr txBox="1">
            <a:spLocks noGrp="1"/>
          </p:cNvSpPr>
          <p:nvPr>
            <p:ph type="body" idx="1"/>
          </p:nvPr>
        </p:nvSpPr>
        <p:spPr>
          <a:xfrm>
            <a:off x="311700" y="2215925"/>
            <a:ext cx="8520600" cy="24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False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Hello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Nothing</a:t>
            </a:r>
            <a:r>
              <a:rPr lang="pt-PT" sz="3600" dirty="0"/>
              <a:t> </a:t>
            </a:r>
            <a:r>
              <a:rPr lang="pt-PT" sz="3600" dirty="0" err="1"/>
              <a:t>will</a:t>
            </a:r>
            <a:r>
              <a:rPr lang="pt-PT" sz="3600" dirty="0"/>
              <a:t> </a:t>
            </a:r>
            <a:r>
              <a:rPr lang="pt-PT" sz="3600" dirty="0" err="1"/>
              <a:t>be</a:t>
            </a:r>
            <a:r>
              <a:rPr lang="pt-PT" sz="3600" dirty="0"/>
              <a:t> </a:t>
            </a:r>
            <a:r>
              <a:rPr lang="pt-PT" sz="3600" dirty="0" err="1"/>
              <a:t>printed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Syntax</a:t>
            </a:r>
            <a:r>
              <a:rPr lang="pt-PT" sz="3600" dirty="0"/>
              <a:t> error</a:t>
            </a:r>
            <a:endParaRPr sz="3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The </a:t>
            </a:r>
            <a:r>
              <a:rPr lang="pt-PT" sz="2400" b="1">
                <a:solidFill>
                  <a:srgbClr val="FFFFFF"/>
                </a:solidFill>
              </a:rPr>
              <a:t>if...elif...else</a:t>
            </a:r>
            <a:r>
              <a:rPr lang="pt-PT" sz="2400">
                <a:solidFill>
                  <a:srgbClr val="FFFFFF"/>
                </a:solidFill>
              </a:rPr>
              <a:t> executes only one block of code among several blocks.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168"/>
          <p:cNvSpPr txBox="1">
            <a:spLocks noGrp="1"/>
          </p:cNvSpPr>
          <p:nvPr>
            <p:ph type="body" idx="1"/>
          </p:nvPr>
        </p:nvSpPr>
        <p:spPr>
          <a:xfrm>
            <a:off x="311700" y="1904450"/>
            <a:ext cx="8520600" cy="28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True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False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It</a:t>
            </a:r>
            <a:r>
              <a:rPr lang="pt-PT" sz="3600" dirty="0"/>
              <a:t> </a:t>
            </a:r>
            <a:r>
              <a:rPr lang="pt-PT" sz="3600" dirty="0" err="1"/>
              <a:t>depends</a:t>
            </a:r>
            <a:r>
              <a:rPr lang="pt-PT" sz="3600" dirty="0"/>
              <a:t> </a:t>
            </a:r>
            <a:r>
              <a:rPr lang="pt-PT" sz="3600" dirty="0" err="1"/>
              <a:t>on</a:t>
            </a:r>
            <a:r>
              <a:rPr lang="pt-PT" sz="3600" dirty="0"/>
              <a:t> </a:t>
            </a:r>
            <a:r>
              <a:rPr lang="pt-PT" sz="3600" dirty="0" err="1"/>
              <a:t>expression</a:t>
            </a:r>
            <a:r>
              <a:rPr lang="pt-PT" sz="3600" dirty="0"/>
              <a:t> </a:t>
            </a:r>
            <a:r>
              <a:rPr lang="pt-PT" sz="3600" dirty="0" err="1"/>
              <a:t>used</a:t>
            </a:r>
            <a:r>
              <a:rPr lang="pt-PT" sz="3600" dirty="0"/>
              <a:t>.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There</a:t>
            </a:r>
            <a:r>
              <a:rPr lang="pt-PT" sz="3600" dirty="0"/>
              <a:t> </a:t>
            </a:r>
            <a:r>
              <a:rPr lang="pt-PT" sz="3600" dirty="0" err="1"/>
              <a:t>is</a:t>
            </a:r>
            <a:r>
              <a:rPr lang="pt-PT" sz="3600" dirty="0"/>
              <a:t> no </a:t>
            </a:r>
            <a:r>
              <a:rPr lang="pt-PT" sz="3600" b="1" dirty="0" err="1"/>
              <a:t>elif</a:t>
            </a:r>
            <a:r>
              <a:rPr lang="pt-PT" sz="3600" dirty="0"/>
              <a:t> </a:t>
            </a:r>
            <a:r>
              <a:rPr lang="pt-PT" sz="3600" dirty="0" err="1"/>
              <a:t>statement</a:t>
            </a:r>
            <a:r>
              <a:rPr lang="pt-PT" sz="3600" dirty="0"/>
              <a:t> in </a:t>
            </a:r>
            <a:r>
              <a:rPr lang="pt-PT" sz="3600" dirty="0" err="1"/>
              <a:t>Python</a:t>
            </a:r>
            <a:r>
              <a:rPr lang="pt-PT" sz="3600" dirty="0"/>
              <a:t>.</a:t>
            </a:r>
            <a:endParaRPr sz="3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rgbClr val="FFFFFF"/>
                </a:solidFill>
              </a:rPr>
              <a:t>What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is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output </a:t>
            </a:r>
            <a:r>
              <a:rPr lang="pt-PT" sz="2400" dirty="0" err="1">
                <a:solidFill>
                  <a:srgbClr val="FFFFFF"/>
                </a:solidFill>
              </a:rPr>
              <a:t>of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the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following</a:t>
            </a:r>
            <a:r>
              <a:rPr lang="pt-PT" sz="2400" dirty="0">
                <a:solidFill>
                  <a:srgbClr val="FFFFFF"/>
                </a:solidFill>
              </a:rPr>
              <a:t> </a:t>
            </a:r>
            <a:r>
              <a:rPr lang="pt-PT" sz="2400" dirty="0" err="1">
                <a:solidFill>
                  <a:srgbClr val="FFFFFF"/>
                </a:solidFill>
              </a:rPr>
              <a:t>code</a:t>
            </a:r>
            <a:r>
              <a:rPr lang="pt-PT" sz="2400" dirty="0">
                <a:solidFill>
                  <a:srgbClr val="FFFFFF"/>
                </a:solidFill>
              </a:rPr>
              <a:t>?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for i in [1, 0]:</a:t>
            </a:r>
            <a:endParaRPr sz="24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 dirty="0">
                <a:solidFill>
                  <a:srgbClr val="FFFFFF"/>
                </a:solidFill>
              </a:rPr>
              <a:t> print(i+1)</a:t>
            </a: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0" name="Google Shape;890;p169"/>
          <p:cNvSpPr txBox="1">
            <a:spLocks noGrp="1"/>
          </p:cNvSpPr>
          <p:nvPr>
            <p:ph type="body" idx="1"/>
          </p:nvPr>
        </p:nvSpPr>
        <p:spPr>
          <a:xfrm>
            <a:off x="311700" y="1904450"/>
            <a:ext cx="8520600" cy="28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2 1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[2, 1]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2 0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[2, 0]</a:t>
            </a:r>
            <a:endParaRPr sz="3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In Python, for and while loop can have optional else statement?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170"/>
          <p:cNvSpPr txBox="1">
            <a:spLocks noGrp="1"/>
          </p:cNvSpPr>
          <p:nvPr>
            <p:ph type="body" idx="1"/>
          </p:nvPr>
        </p:nvSpPr>
        <p:spPr>
          <a:xfrm>
            <a:off x="311700" y="1548425"/>
            <a:ext cx="8520600" cy="32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2450" lvl="0" indent="-514350" algn="l" rtl="0">
              <a:spcBef>
                <a:spcPts val="120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Only</a:t>
            </a:r>
            <a:r>
              <a:rPr lang="pt-PT" sz="3000" dirty="0"/>
              <a:t> for </a:t>
            </a:r>
            <a:r>
              <a:rPr lang="pt-PT" sz="3000" dirty="0" err="1"/>
              <a:t>loop</a:t>
            </a:r>
            <a:r>
              <a:rPr lang="pt-PT" sz="3000" dirty="0"/>
              <a:t> can </a:t>
            </a:r>
            <a:r>
              <a:rPr lang="pt-PT" sz="3000" dirty="0" err="1"/>
              <a:t>have</a:t>
            </a:r>
            <a:r>
              <a:rPr lang="pt-PT" sz="3000" dirty="0"/>
              <a:t> </a:t>
            </a:r>
            <a:r>
              <a:rPr lang="pt-PT" sz="3000" dirty="0" err="1"/>
              <a:t>optional</a:t>
            </a:r>
            <a:r>
              <a:rPr lang="pt-PT" sz="3000" dirty="0"/>
              <a:t> </a:t>
            </a:r>
            <a:r>
              <a:rPr lang="pt-PT" sz="3000" dirty="0" err="1"/>
              <a:t>else</a:t>
            </a:r>
            <a:r>
              <a:rPr lang="pt-PT" sz="3000" dirty="0"/>
              <a:t> </a:t>
            </a:r>
            <a:r>
              <a:rPr lang="pt-PT" sz="3000" dirty="0" err="1"/>
              <a:t>statement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Only</a:t>
            </a:r>
            <a:r>
              <a:rPr lang="pt-PT" sz="3000" dirty="0"/>
              <a:t> </a:t>
            </a:r>
            <a:r>
              <a:rPr lang="pt-PT" sz="3000" dirty="0" err="1"/>
              <a:t>while</a:t>
            </a:r>
            <a:r>
              <a:rPr lang="pt-PT" sz="3000" dirty="0"/>
              <a:t> </a:t>
            </a:r>
            <a:r>
              <a:rPr lang="pt-PT" sz="3000" dirty="0" err="1"/>
              <a:t>loop</a:t>
            </a:r>
            <a:r>
              <a:rPr lang="pt-PT" sz="3000" dirty="0"/>
              <a:t> can </a:t>
            </a:r>
            <a:r>
              <a:rPr lang="pt-PT" sz="3000" dirty="0" err="1"/>
              <a:t>have</a:t>
            </a:r>
            <a:r>
              <a:rPr lang="pt-PT" sz="3000" dirty="0"/>
              <a:t> </a:t>
            </a:r>
            <a:r>
              <a:rPr lang="pt-PT" sz="3000" dirty="0" err="1"/>
              <a:t>optional</a:t>
            </a:r>
            <a:r>
              <a:rPr lang="pt-PT" sz="3000" dirty="0"/>
              <a:t> </a:t>
            </a:r>
            <a:r>
              <a:rPr lang="pt-PT" sz="3000" dirty="0" err="1"/>
              <a:t>else</a:t>
            </a:r>
            <a:r>
              <a:rPr lang="pt-PT" sz="3000" dirty="0"/>
              <a:t> </a:t>
            </a:r>
            <a:r>
              <a:rPr lang="pt-PT" sz="3000" dirty="0" err="1"/>
              <a:t>statement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/>
              <a:t>Both </a:t>
            </a:r>
            <a:r>
              <a:rPr lang="pt-PT" sz="3000" dirty="0" err="1"/>
              <a:t>loops</a:t>
            </a:r>
            <a:r>
              <a:rPr lang="pt-PT" sz="3000" dirty="0"/>
              <a:t> can </a:t>
            </a:r>
            <a:r>
              <a:rPr lang="pt-PT" sz="3000" dirty="0" err="1"/>
              <a:t>have</a:t>
            </a:r>
            <a:r>
              <a:rPr lang="pt-PT" sz="3000" dirty="0"/>
              <a:t> </a:t>
            </a:r>
            <a:r>
              <a:rPr lang="pt-PT" sz="3000" dirty="0" err="1"/>
              <a:t>optional</a:t>
            </a:r>
            <a:r>
              <a:rPr lang="pt-PT" sz="3000" dirty="0"/>
              <a:t> </a:t>
            </a:r>
            <a:r>
              <a:rPr lang="pt-PT" sz="3000" dirty="0" err="1"/>
              <a:t>else</a:t>
            </a:r>
            <a:r>
              <a:rPr lang="pt-PT" sz="3000" dirty="0"/>
              <a:t> </a:t>
            </a:r>
            <a:r>
              <a:rPr lang="pt-PT" sz="3000" dirty="0" err="1"/>
              <a:t>statement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Loops</a:t>
            </a:r>
            <a:r>
              <a:rPr lang="pt-PT" sz="3000" dirty="0"/>
              <a:t> </a:t>
            </a:r>
            <a:r>
              <a:rPr lang="pt-PT" sz="3000" dirty="0" err="1"/>
              <a:t>cannot</a:t>
            </a:r>
            <a:r>
              <a:rPr lang="pt-PT" sz="3000" dirty="0"/>
              <a:t> </a:t>
            </a:r>
            <a:r>
              <a:rPr lang="pt-PT" sz="3000" dirty="0" err="1"/>
              <a:t>have</a:t>
            </a:r>
            <a:r>
              <a:rPr lang="pt-PT" sz="3000" dirty="0"/>
              <a:t> </a:t>
            </a:r>
            <a:r>
              <a:rPr lang="pt-PT" sz="3000" dirty="0" err="1"/>
              <a:t>else</a:t>
            </a:r>
            <a:r>
              <a:rPr lang="pt-PT" sz="3000" dirty="0"/>
              <a:t> </a:t>
            </a:r>
            <a:r>
              <a:rPr lang="pt-PT" sz="3000" dirty="0" err="1"/>
              <a:t>statement</a:t>
            </a:r>
            <a:r>
              <a:rPr lang="pt-PT" sz="3000" dirty="0"/>
              <a:t> in </a:t>
            </a:r>
            <a:r>
              <a:rPr lang="pt-PT" sz="3000" dirty="0" err="1"/>
              <a:t>Python</a:t>
            </a:r>
            <a:endParaRPr sz="3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4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i = sum = 0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while i &lt;= 4: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sum += i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i = i+1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print(sum)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71"/>
          <p:cNvSpPr txBox="1">
            <a:spLocks noGrp="1"/>
          </p:cNvSpPr>
          <p:nvPr>
            <p:ph type="body" idx="1"/>
          </p:nvPr>
        </p:nvSpPr>
        <p:spPr>
          <a:xfrm>
            <a:off x="3882571" y="1815450"/>
            <a:ext cx="4949629" cy="31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10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4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 err="1"/>
              <a:t>None</a:t>
            </a:r>
            <a:r>
              <a:rPr lang="pt-PT" sz="3600" dirty="0"/>
              <a:t> </a:t>
            </a:r>
            <a:r>
              <a:rPr lang="pt-PT" sz="3600" dirty="0" err="1"/>
              <a:t>of</a:t>
            </a:r>
            <a:r>
              <a:rPr lang="pt-PT" sz="3600" dirty="0"/>
              <a:t> </a:t>
            </a:r>
            <a:r>
              <a:rPr lang="pt-PT" sz="3600" dirty="0" err="1"/>
              <a:t>the</a:t>
            </a:r>
            <a:r>
              <a:rPr lang="pt-PT" sz="3600" dirty="0"/>
              <a:t> </a:t>
            </a:r>
            <a:r>
              <a:rPr lang="pt-PT" sz="3600" dirty="0" err="1"/>
              <a:t>above</a:t>
            </a:r>
            <a:endParaRPr sz="3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while 4 == 4: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print('4')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72"/>
          <p:cNvSpPr txBox="1">
            <a:spLocks noGrp="1"/>
          </p:cNvSpPr>
          <p:nvPr>
            <p:ph type="body" idx="1"/>
          </p:nvPr>
        </p:nvSpPr>
        <p:spPr>
          <a:xfrm>
            <a:off x="311700" y="2171525"/>
            <a:ext cx="8520600" cy="26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2450" lvl="0" indent="-514350" algn="l" rtl="0">
              <a:spcBef>
                <a:spcPts val="120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b="1" dirty="0"/>
              <a:t>4</a:t>
            </a:r>
            <a:r>
              <a:rPr lang="pt-PT" sz="3000" dirty="0"/>
              <a:t> </a:t>
            </a:r>
            <a:r>
              <a:rPr lang="pt-PT" sz="3000" dirty="0" err="1"/>
              <a:t>is</a:t>
            </a:r>
            <a:r>
              <a:rPr lang="pt-PT" sz="3000" dirty="0"/>
              <a:t> </a:t>
            </a:r>
            <a:r>
              <a:rPr lang="pt-PT" sz="3000" dirty="0" err="1"/>
              <a:t>printed</a:t>
            </a:r>
            <a:r>
              <a:rPr lang="pt-PT" sz="3000" dirty="0"/>
              <a:t> </a:t>
            </a:r>
            <a:r>
              <a:rPr lang="pt-PT" sz="3000" dirty="0" err="1"/>
              <a:t>once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b="1" dirty="0"/>
              <a:t>4</a:t>
            </a:r>
            <a:r>
              <a:rPr lang="pt-PT" sz="3000" dirty="0"/>
              <a:t> </a:t>
            </a:r>
            <a:r>
              <a:rPr lang="pt-PT" sz="3000" dirty="0" err="1"/>
              <a:t>is</a:t>
            </a:r>
            <a:r>
              <a:rPr lang="pt-PT" sz="3000" dirty="0"/>
              <a:t> </a:t>
            </a:r>
            <a:r>
              <a:rPr lang="pt-PT" sz="3000" dirty="0" err="1"/>
              <a:t>printed</a:t>
            </a:r>
            <a:r>
              <a:rPr lang="pt-PT" sz="3000" dirty="0"/>
              <a:t> </a:t>
            </a:r>
            <a:r>
              <a:rPr lang="pt-PT" sz="3000" dirty="0" err="1"/>
              <a:t>four</a:t>
            </a:r>
            <a:r>
              <a:rPr lang="pt-PT" sz="3000" dirty="0"/>
              <a:t> times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b="1" dirty="0"/>
              <a:t>4</a:t>
            </a:r>
            <a:r>
              <a:rPr lang="pt-PT" sz="3000" dirty="0"/>
              <a:t> </a:t>
            </a:r>
            <a:r>
              <a:rPr lang="pt-PT" sz="3000" dirty="0" err="1"/>
              <a:t>is</a:t>
            </a:r>
            <a:r>
              <a:rPr lang="pt-PT" sz="3000" dirty="0"/>
              <a:t> </a:t>
            </a:r>
            <a:r>
              <a:rPr lang="pt-PT" sz="3000" dirty="0" err="1"/>
              <a:t>printed</a:t>
            </a:r>
            <a:r>
              <a:rPr lang="pt-PT" sz="3000" dirty="0"/>
              <a:t> </a:t>
            </a:r>
            <a:r>
              <a:rPr lang="pt-PT" sz="3000" dirty="0" err="1"/>
              <a:t>infinitely</a:t>
            </a:r>
            <a:r>
              <a:rPr lang="pt-PT" sz="3000" dirty="0"/>
              <a:t> </a:t>
            </a:r>
            <a:r>
              <a:rPr lang="pt-PT" sz="3000" dirty="0" err="1"/>
              <a:t>until</a:t>
            </a:r>
            <a:r>
              <a:rPr lang="pt-PT" sz="3000" dirty="0"/>
              <a:t> </a:t>
            </a:r>
            <a:r>
              <a:rPr lang="pt-PT" sz="3000" dirty="0" err="1"/>
              <a:t>program</a:t>
            </a:r>
            <a:r>
              <a:rPr lang="pt-PT" sz="3000" dirty="0"/>
              <a:t> </a:t>
            </a:r>
            <a:r>
              <a:rPr lang="pt-PT" sz="3000" dirty="0" err="1"/>
              <a:t>closes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Syntax</a:t>
            </a:r>
            <a:r>
              <a:rPr lang="pt-PT" sz="3000" dirty="0"/>
              <a:t> error</a:t>
            </a:r>
            <a:endParaRPr sz="3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Is it better to use for loop instead of while if you are iterating through a sequence (like: list)?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73"/>
          <p:cNvSpPr txBox="1">
            <a:spLocks noGrp="1"/>
          </p:cNvSpPr>
          <p:nvPr>
            <p:ph type="body" idx="1"/>
          </p:nvPr>
        </p:nvSpPr>
        <p:spPr>
          <a:xfrm>
            <a:off x="311700" y="1793225"/>
            <a:ext cx="8520600" cy="33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2450" lvl="0" indent="-514350" algn="l" rtl="0">
              <a:spcBef>
                <a:spcPts val="120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/>
              <a:t>No, </a:t>
            </a:r>
            <a:r>
              <a:rPr lang="pt-PT" sz="3000" dirty="0" err="1"/>
              <a:t>it’s</a:t>
            </a:r>
            <a:r>
              <a:rPr lang="pt-PT" sz="3000" dirty="0"/>
              <a:t> </a:t>
            </a:r>
            <a:r>
              <a:rPr lang="pt-PT" sz="3000" dirty="0" err="1"/>
              <a:t>better</a:t>
            </a:r>
            <a:r>
              <a:rPr lang="pt-PT" sz="3000" dirty="0"/>
              <a:t> to use </a:t>
            </a:r>
            <a:r>
              <a:rPr lang="pt-PT" sz="3000" dirty="0" err="1"/>
              <a:t>while</a:t>
            </a:r>
            <a:r>
              <a:rPr lang="pt-PT" sz="3000" dirty="0"/>
              <a:t> </a:t>
            </a:r>
            <a:r>
              <a:rPr lang="pt-PT" sz="3000" dirty="0" err="1"/>
              <a:t>loop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 err="1"/>
              <a:t>Yes</a:t>
            </a:r>
            <a:r>
              <a:rPr lang="pt-PT" sz="3000" dirty="0"/>
              <a:t>, for </a:t>
            </a:r>
            <a:r>
              <a:rPr lang="pt-PT" sz="3000" dirty="0" err="1"/>
              <a:t>loop</a:t>
            </a:r>
            <a:r>
              <a:rPr lang="pt-PT" sz="3000" dirty="0"/>
              <a:t> </a:t>
            </a:r>
            <a:r>
              <a:rPr lang="pt-PT" sz="3000" dirty="0" err="1"/>
              <a:t>is</a:t>
            </a:r>
            <a:r>
              <a:rPr lang="pt-PT" sz="3000" dirty="0"/>
              <a:t> more </a:t>
            </a:r>
            <a:r>
              <a:rPr lang="pt-PT" sz="3000" dirty="0" err="1"/>
              <a:t>pythonic</a:t>
            </a:r>
            <a:r>
              <a:rPr lang="pt-PT" sz="3000" dirty="0"/>
              <a:t> </a:t>
            </a:r>
            <a:r>
              <a:rPr lang="pt-PT" sz="3000" dirty="0" err="1"/>
              <a:t>choice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/>
              <a:t>No, </a:t>
            </a:r>
            <a:r>
              <a:rPr lang="pt-PT" sz="3000" dirty="0" err="1"/>
              <a:t>you</a:t>
            </a:r>
            <a:r>
              <a:rPr lang="pt-PT" sz="3000" dirty="0"/>
              <a:t> </a:t>
            </a:r>
            <a:r>
              <a:rPr lang="pt-PT" sz="3000" dirty="0" err="1"/>
              <a:t>cannot</a:t>
            </a:r>
            <a:r>
              <a:rPr lang="pt-PT" sz="3000" dirty="0"/>
              <a:t> </a:t>
            </a:r>
            <a:r>
              <a:rPr lang="pt-PT" sz="3000" dirty="0" err="1"/>
              <a:t>iterate</a:t>
            </a:r>
            <a:r>
              <a:rPr lang="pt-PT" sz="3000" dirty="0"/>
              <a:t> </a:t>
            </a:r>
            <a:r>
              <a:rPr lang="pt-PT" sz="3000" dirty="0" err="1"/>
              <a:t>through</a:t>
            </a:r>
            <a:r>
              <a:rPr lang="pt-PT" sz="3000" dirty="0"/>
              <a:t> a </a:t>
            </a:r>
            <a:r>
              <a:rPr lang="pt-PT" sz="3000" dirty="0" err="1"/>
              <a:t>sequence</a:t>
            </a:r>
            <a:r>
              <a:rPr lang="pt-PT" sz="3000" dirty="0"/>
              <a:t> </a:t>
            </a:r>
            <a:r>
              <a:rPr lang="pt-PT" sz="3000" dirty="0" err="1"/>
              <a:t>using</a:t>
            </a:r>
            <a:r>
              <a:rPr lang="pt-PT" sz="3000" dirty="0"/>
              <a:t> </a:t>
            </a:r>
            <a:r>
              <a:rPr lang="pt-PT" sz="3000" dirty="0" err="1"/>
              <a:t>while</a:t>
            </a:r>
            <a:r>
              <a:rPr lang="pt-PT" sz="3000" dirty="0"/>
              <a:t> </a:t>
            </a:r>
            <a:r>
              <a:rPr lang="pt-PT" sz="3000" dirty="0" err="1"/>
              <a:t>loop</a:t>
            </a:r>
            <a:r>
              <a:rPr lang="pt-PT" sz="3000" dirty="0"/>
              <a:t>.</a:t>
            </a:r>
            <a:endParaRPr sz="3000" dirty="0"/>
          </a:p>
          <a:p>
            <a:pPr marL="552450" lvl="0" indent="-514350" algn="l" rtl="0">
              <a:spcBef>
                <a:spcPts val="0"/>
              </a:spcBef>
              <a:spcAft>
                <a:spcPts val="0"/>
              </a:spcAft>
              <a:buSzPts val="3000"/>
              <a:buFont typeface="+mj-lt"/>
              <a:buAutoNum type="arabicPeriod"/>
            </a:pPr>
            <a:r>
              <a:rPr lang="pt-PT" sz="3000" dirty="0"/>
              <a:t>No, </a:t>
            </a:r>
            <a:r>
              <a:rPr lang="pt-PT" sz="3000" dirty="0" err="1"/>
              <a:t>you</a:t>
            </a:r>
            <a:r>
              <a:rPr lang="pt-PT" sz="3000" dirty="0"/>
              <a:t> </a:t>
            </a:r>
            <a:r>
              <a:rPr lang="pt-PT" sz="3000" dirty="0" err="1"/>
              <a:t>cannot</a:t>
            </a:r>
            <a:r>
              <a:rPr lang="pt-PT" sz="3000" dirty="0"/>
              <a:t> </a:t>
            </a:r>
            <a:r>
              <a:rPr lang="pt-PT" sz="3000" dirty="0" err="1"/>
              <a:t>iterate</a:t>
            </a:r>
            <a:r>
              <a:rPr lang="pt-PT" sz="3000" dirty="0"/>
              <a:t> </a:t>
            </a:r>
            <a:r>
              <a:rPr lang="pt-PT" sz="3000" dirty="0" err="1"/>
              <a:t>through</a:t>
            </a:r>
            <a:r>
              <a:rPr lang="pt-PT" sz="3000" dirty="0"/>
              <a:t> a </a:t>
            </a:r>
            <a:r>
              <a:rPr lang="pt-PT" sz="3000" dirty="0" err="1"/>
              <a:t>sequence</a:t>
            </a:r>
            <a:r>
              <a:rPr lang="pt-PT" sz="3000" dirty="0"/>
              <a:t> </a:t>
            </a:r>
            <a:r>
              <a:rPr lang="pt-PT" sz="3000" dirty="0" err="1"/>
              <a:t>using</a:t>
            </a:r>
            <a:r>
              <a:rPr lang="pt-PT" sz="3000" dirty="0"/>
              <a:t> </a:t>
            </a:r>
            <a:r>
              <a:rPr lang="pt-PT" sz="3000" dirty="0" err="1"/>
              <a:t>loops</a:t>
            </a:r>
            <a:r>
              <a:rPr lang="pt-PT" sz="3000" dirty="0"/>
              <a:t>.</a:t>
            </a:r>
            <a:endParaRPr sz="3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statement is true?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74"/>
          <p:cNvSpPr txBox="1">
            <a:spLocks noGrp="1"/>
          </p:cNvSpPr>
          <p:nvPr>
            <p:ph type="body" idx="1"/>
          </p:nvPr>
        </p:nvSpPr>
        <p:spPr>
          <a:xfrm>
            <a:off x="311700" y="1548475"/>
            <a:ext cx="8520600" cy="3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</a:t>
            </a:r>
            <a:r>
              <a:rPr lang="pt-PT" sz="2400" dirty="0"/>
              <a:t> break </a:t>
            </a:r>
            <a:r>
              <a:rPr lang="pt-PT" sz="2400" dirty="0" err="1"/>
              <a:t>statement</a:t>
            </a:r>
            <a:r>
              <a:rPr lang="pt-PT" sz="2400" dirty="0"/>
              <a:t> </a:t>
            </a:r>
            <a:r>
              <a:rPr lang="pt-PT" sz="2400" dirty="0" err="1"/>
              <a:t>terminates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loop</a:t>
            </a:r>
            <a:r>
              <a:rPr lang="pt-PT" sz="2400" dirty="0"/>
              <a:t> </a:t>
            </a:r>
            <a:r>
              <a:rPr lang="pt-PT" sz="2400" dirty="0" err="1"/>
              <a:t>containing</a:t>
            </a:r>
            <a:r>
              <a:rPr lang="pt-PT" sz="2400" dirty="0"/>
              <a:t> </a:t>
            </a:r>
            <a:r>
              <a:rPr lang="pt-PT" sz="2400" dirty="0" err="1"/>
              <a:t>it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</a:t>
            </a:r>
            <a:r>
              <a:rPr lang="pt-PT" sz="2400" dirty="0"/>
              <a:t> continue </a:t>
            </a:r>
            <a:r>
              <a:rPr lang="pt-PT" sz="2400" dirty="0" err="1"/>
              <a:t>statement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used</a:t>
            </a:r>
            <a:r>
              <a:rPr lang="pt-PT" sz="2400" dirty="0"/>
              <a:t> to </a:t>
            </a:r>
            <a:r>
              <a:rPr lang="pt-PT" sz="2400" dirty="0" err="1"/>
              <a:t>skip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rest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</a:t>
            </a:r>
            <a:r>
              <a:rPr lang="pt-PT" sz="2400" dirty="0" err="1"/>
              <a:t>inside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loop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</a:t>
            </a:r>
            <a:r>
              <a:rPr lang="pt-PT" sz="2400" dirty="0"/>
              <a:t> break </a:t>
            </a:r>
            <a:r>
              <a:rPr lang="pt-PT" sz="2400" dirty="0" err="1"/>
              <a:t>and</a:t>
            </a:r>
            <a:r>
              <a:rPr lang="pt-PT" sz="2400" dirty="0"/>
              <a:t> continue </a:t>
            </a:r>
            <a:r>
              <a:rPr lang="pt-PT" sz="2400" dirty="0" err="1"/>
              <a:t>statements</a:t>
            </a:r>
            <a:r>
              <a:rPr lang="pt-PT" sz="2400" dirty="0"/>
              <a:t> are </a:t>
            </a:r>
            <a:r>
              <a:rPr lang="pt-PT" sz="2400" dirty="0" err="1"/>
              <a:t>almost</a:t>
            </a:r>
            <a:r>
              <a:rPr lang="pt-PT" sz="2400" dirty="0"/>
              <a:t> </a:t>
            </a:r>
            <a:r>
              <a:rPr lang="pt-PT" sz="2400" dirty="0" err="1"/>
              <a:t>always</a:t>
            </a:r>
            <a:r>
              <a:rPr lang="pt-PT" sz="2400" dirty="0"/>
              <a:t> </a:t>
            </a:r>
            <a:r>
              <a:rPr lang="pt-PT" sz="2400" dirty="0" err="1"/>
              <a:t>used</a:t>
            </a:r>
            <a:r>
              <a:rPr lang="pt-PT" sz="2400" dirty="0"/>
              <a:t> </a:t>
            </a:r>
            <a:r>
              <a:rPr lang="pt-PT" sz="2400" dirty="0" err="1"/>
              <a:t>with</a:t>
            </a:r>
            <a:r>
              <a:rPr lang="pt-PT" sz="2400" dirty="0"/>
              <a:t> </a:t>
            </a:r>
            <a:r>
              <a:rPr lang="pt-PT" sz="2400" dirty="0" err="1"/>
              <a:t>if</a:t>
            </a:r>
            <a:r>
              <a:rPr lang="pt-PT" sz="2400" dirty="0"/>
              <a:t>, </a:t>
            </a:r>
            <a:r>
              <a:rPr lang="pt-PT" sz="2400" dirty="0" err="1"/>
              <a:t>if</a:t>
            </a:r>
            <a:r>
              <a:rPr lang="pt-PT" sz="2400" dirty="0"/>
              <a:t>...</a:t>
            </a:r>
            <a:r>
              <a:rPr lang="pt-PT" sz="2400" dirty="0" err="1"/>
              <a:t>else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if</a:t>
            </a:r>
            <a:r>
              <a:rPr lang="pt-PT" sz="2400" dirty="0"/>
              <a:t>...</a:t>
            </a:r>
            <a:r>
              <a:rPr lang="pt-PT" sz="2400" dirty="0" err="1"/>
              <a:t>elif</a:t>
            </a:r>
            <a:r>
              <a:rPr lang="pt-PT" sz="2400" dirty="0"/>
              <a:t>...</a:t>
            </a:r>
            <a:r>
              <a:rPr lang="pt-PT" sz="2400" dirty="0" err="1"/>
              <a:t>else</a:t>
            </a:r>
            <a:r>
              <a:rPr lang="pt-PT" sz="2400" dirty="0"/>
              <a:t> </a:t>
            </a:r>
            <a:r>
              <a:rPr lang="pt-PT" sz="2400" dirty="0" err="1"/>
              <a:t>statements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above</a:t>
            </a:r>
            <a:r>
              <a:rPr lang="pt-PT" sz="2400" dirty="0"/>
              <a:t>.</a:t>
            </a:r>
            <a:endParaRPr sz="30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4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What is the output of the following code?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for char in 'PYTHON STRING':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if char == ' ':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  break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print(char, end='')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if char == 'O':</a:t>
            </a:r>
            <a:endParaRPr sz="24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2400">
                <a:solidFill>
                  <a:srgbClr val="FFFFFF"/>
                </a:solidFill>
              </a:rPr>
              <a:t>     continue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175"/>
          <p:cNvSpPr txBox="1">
            <a:spLocks noGrp="1"/>
          </p:cNvSpPr>
          <p:nvPr>
            <p:ph type="body" idx="1"/>
          </p:nvPr>
        </p:nvSpPr>
        <p:spPr>
          <a:xfrm>
            <a:off x="3926114" y="1815450"/>
            <a:ext cx="4906086" cy="31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120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PYTHON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PYTHONSTRING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PYTHN</a:t>
            </a:r>
            <a:endParaRPr sz="3600" dirty="0"/>
          </a:p>
          <a:p>
            <a:pPr marL="742950" lvl="0" indent="-742950" algn="l" rtl="0">
              <a:spcBef>
                <a:spcPts val="0"/>
              </a:spcBef>
              <a:spcAft>
                <a:spcPts val="0"/>
              </a:spcAft>
              <a:buSzPts val="3600"/>
              <a:buFont typeface="+mj-lt"/>
              <a:buAutoNum type="arabicPeriod"/>
            </a:pPr>
            <a:r>
              <a:rPr lang="pt-PT" sz="3600" dirty="0"/>
              <a:t>STRING</a:t>
            </a:r>
            <a:endParaRPr sz="3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FFFFFF"/>
                </a:solidFill>
              </a:rPr>
              <a:t>Which of the following statement is true about the pass statement?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176"/>
          <p:cNvSpPr txBox="1">
            <a:spLocks noGrp="1"/>
          </p:cNvSpPr>
          <p:nvPr>
            <p:ph type="body" idx="1"/>
          </p:nvPr>
        </p:nvSpPr>
        <p:spPr>
          <a:xfrm>
            <a:off x="311700" y="1548475"/>
            <a:ext cx="8520600" cy="3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interpreter</a:t>
            </a:r>
            <a:r>
              <a:rPr lang="pt-PT" sz="2400" dirty="0"/>
              <a:t> ignores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pass</a:t>
            </a:r>
            <a:r>
              <a:rPr lang="pt-PT" sz="2400" dirty="0"/>
              <a:t> </a:t>
            </a:r>
            <a:r>
              <a:rPr lang="pt-PT" sz="2400" dirty="0" err="1"/>
              <a:t>statement</a:t>
            </a:r>
            <a:r>
              <a:rPr lang="pt-PT" sz="2400" dirty="0"/>
              <a:t> </a:t>
            </a:r>
            <a:r>
              <a:rPr lang="pt-PT" sz="2400" dirty="0" err="1"/>
              <a:t>like</a:t>
            </a:r>
            <a:r>
              <a:rPr lang="pt-PT" sz="2400" dirty="0"/>
              <a:t> </a:t>
            </a:r>
            <a:r>
              <a:rPr lang="pt-PT" sz="2400" dirty="0" err="1"/>
              <a:t>comments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pass</a:t>
            </a:r>
            <a:r>
              <a:rPr lang="pt-PT" sz="2400" dirty="0"/>
              <a:t> </a:t>
            </a:r>
            <a:r>
              <a:rPr lang="pt-PT" sz="2400" dirty="0" err="1"/>
              <a:t>statement</a:t>
            </a:r>
            <a:r>
              <a:rPr lang="pt-PT" sz="2400" dirty="0"/>
              <a:t> </a:t>
            </a:r>
            <a:r>
              <a:rPr lang="pt-PT" sz="2400" dirty="0" err="1"/>
              <a:t>terminates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loop</a:t>
            </a:r>
            <a:r>
              <a:rPr lang="pt-PT" sz="2400" dirty="0"/>
              <a:t> </a:t>
            </a:r>
            <a:r>
              <a:rPr lang="pt-PT" sz="2400" dirty="0" err="1"/>
              <a:t>containing</a:t>
            </a:r>
            <a:r>
              <a:rPr lang="pt-PT" sz="2400" dirty="0"/>
              <a:t> </a:t>
            </a:r>
            <a:r>
              <a:rPr lang="pt-PT" sz="2400" dirty="0" err="1"/>
              <a:t>it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It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used</a:t>
            </a:r>
            <a:r>
              <a:rPr lang="pt-PT" sz="2400" dirty="0"/>
              <a:t> as a </a:t>
            </a:r>
            <a:r>
              <a:rPr lang="pt-PT" sz="2400" dirty="0" err="1"/>
              <a:t>placeholder</a:t>
            </a:r>
            <a:r>
              <a:rPr lang="pt-PT" sz="2400" dirty="0"/>
              <a:t> for future </a:t>
            </a:r>
            <a:r>
              <a:rPr lang="pt-PT" sz="2400" dirty="0" err="1"/>
              <a:t>implementation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r>
              <a:rPr lang="pt-PT" sz="2400" dirty="0"/>
              <a:t>, </a:t>
            </a:r>
            <a:r>
              <a:rPr lang="pt-PT" sz="2400" dirty="0" err="1"/>
              <a:t>loops</a:t>
            </a:r>
            <a:r>
              <a:rPr lang="pt-PT" sz="2400" dirty="0"/>
              <a:t> </a:t>
            </a:r>
            <a:r>
              <a:rPr lang="pt-PT" sz="2400" dirty="0" err="1"/>
              <a:t>etc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above</a:t>
            </a:r>
            <a:r>
              <a:rPr lang="pt-PT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1390650"/>
            <a:ext cx="74390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463" y="1390650"/>
            <a:ext cx="70770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2663"/>
            <a:ext cx="8839198" cy="2178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1400175"/>
            <a:ext cx="56959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50" y="1447800"/>
            <a:ext cx="56007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rgbClr val="FFFFFF"/>
                </a:solidFill>
              </a:rPr>
              <a:t>Opening a file in </a:t>
            </a:r>
            <a:r>
              <a:rPr lang="pt-PT" sz="3000" b="1">
                <a:solidFill>
                  <a:srgbClr val="FFFFFF"/>
                </a:solidFill>
              </a:rPr>
              <a:t>‘a’</a:t>
            </a:r>
            <a:r>
              <a:rPr lang="pt-PT" sz="3000">
                <a:solidFill>
                  <a:srgbClr val="FFFFFF"/>
                </a:solidFill>
              </a:rPr>
              <a:t> mode</a:t>
            </a: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82"/>
          <p:cNvSpPr txBox="1">
            <a:spLocks noGrp="1"/>
          </p:cNvSpPr>
          <p:nvPr>
            <p:ph type="body" idx="1"/>
          </p:nvPr>
        </p:nvSpPr>
        <p:spPr>
          <a:xfrm>
            <a:off x="311700" y="1548475"/>
            <a:ext cx="8520600" cy="24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a file for </a:t>
            </a:r>
            <a:r>
              <a:rPr lang="pt-PT" sz="2400" dirty="0" err="1"/>
              <a:t>reading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a file for </a:t>
            </a:r>
            <a:r>
              <a:rPr lang="pt-PT" sz="2400" dirty="0" err="1"/>
              <a:t>writing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a file for </a:t>
            </a:r>
            <a:r>
              <a:rPr lang="pt-PT" sz="2400" dirty="0" err="1"/>
              <a:t>appending</a:t>
            </a:r>
            <a:r>
              <a:rPr lang="pt-PT" sz="2400" dirty="0"/>
              <a:t> </a:t>
            </a:r>
            <a:r>
              <a:rPr lang="pt-PT" sz="2400" dirty="0" err="1"/>
              <a:t>at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end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file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a file for exclusive </a:t>
            </a:r>
            <a:r>
              <a:rPr lang="pt-PT" sz="2400" dirty="0" err="1"/>
              <a:t>creation</a:t>
            </a:r>
            <a:endParaRPr sz="24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rgbClr val="FFFFFF"/>
                </a:solidFill>
              </a:rPr>
              <a:t>What does the following code do?</a:t>
            </a:r>
            <a:endParaRPr sz="30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3000">
                <a:solidFill>
                  <a:srgbClr val="FFFFFF"/>
                </a:solidFill>
              </a:rPr>
              <a:t>f = open("test.txt")</a:t>
            </a: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83"/>
          <p:cNvSpPr txBox="1">
            <a:spLocks noGrp="1"/>
          </p:cNvSpPr>
          <p:nvPr>
            <p:ph type="body" idx="1"/>
          </p:nvPr>
        </p:nvSpPr>
        <p:spPr>
          <a:xfrm>
            <a:off x="311700" y="1974450"/>
            <a:ext cx="8520600" cy="27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test.txt file for </a:t>
            </a:r>
            <a:r>
              <a:rPr lang="pt-PT" sz="2400" dirty="0" err="1"/>
              <a:t>both</a:t>
            </a:r>
            <a:r>
              <a:rPr lang="pt-PT" sz="2400" dirty="0"/>
              <a:t> </a:t>
            </a:r>
            <a:r>
              <a:rPr lang="pt-PT" sz="2400" dirty="0" err="1"/>
              <a:t>reading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writing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test.txt file for </a:t>
            </a:r>
            <a:r>
              <a:rPr lang="pt-PT" sz="2400" dirty="0" err="1"/>
              <a:t>reading</a:t>
            </a:r>
            <a:r>
              <a:rPr lang="pt-PT" sz="2400" dirty="0"/>
              <a:t> </a:t>
            </a:r>
            <a:r>
              <a:rPr lang="pt-PT" sz="2400" dirty="0" err="1"/>
              <a:t>only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test.txt file for </a:t>
            </a:r>
            <a:r>
              <a:rPr lang="pt-PT" sz="2400" dirty="0" err="1"/>
              <a:t>writing</a:t>
            </a:r>
            <a:r>
              <a:rPr lang="pt-PT" sz="2400" dirty="0"/>
              <a:t> </a:t>
            </a:r>
            <a:r>
              <a:rPr lang="pt-PT" sz="2400" dirty="0" err="1"/>
              <a:t>only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Opens test.txt file in </a:t>
            </a:r>
            <a:r>
              <a:rPr lang="pt-PT" sz="2400" dirty="0" err="1"/>
              <a:t>god</a:t>
            </a:r>
            <a:r>
              <a:rPr lang="pt-PT" sz="2400" dirty="0"/>
              <a:t> </a:t>
            </a:r>
            <a:r>
              <a:rPr lang="pt-PT" sz="2400" dirty="0" err="1"/>
              <a:t>mode</a:t>
            </a:r>
            <a:endParaRPr sz="2400" dirty="0"/>
          </a:p>
        </p:txBody>
      </p:sp>
      <p:pic>
        <p:nvPicPr>
          <p:cNvPr id="970" name="Google Shape;970;p183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pt-PT" sz="1800" dirty="0" err="1">
                <a:solidFill>
                  <a:srgbClr val="FFFFFF"/>
                </a:solidFill>
              </a:rPr>
              <a:t>Which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of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the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following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codes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closes</a:t>
            </a:r>
            <a:r>
              <a:rPr lang="pt-PT" sz="1800" dirty="0">
                <a:solidFill>
                  <a:srgbClr val="FFFFFF"/>
                </a:solidFill>
              </a:rPr>
              <a:t> file </a:t>
            </a:r>
            <a:r>
              <a:rPr lang="pt-PT" sz="1800" dirty="0" err="1">
                <a:solidFill>
                  <a:srgbClr val="FFFFFF"/>
                </a:solidFill>
              </a:rPr>
              <a:t>automatically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if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exception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occurs</a:t>
            </a:r>
            <a:r>
              <a:rPr lang="pt-PT" sz="1800" dirty="0">
                <a:solidFill>
                  <a:srgbClr val="FFFFFF"/>
                </a:solidFill>
              </a:rPr>
              <a:t>?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6" name="Google Shape;976;p184"/>
          <p:cNvSpPr txBox="1">
            <a:spLocks noGrp="1"/>
          </p:cNvSpPr>
          <p:nvPr>
            <p:ph type="body" idx="1"/>
          </p:nvPr>
        </p:nvSpPr>
        <p:spPr>
          <a:xfrm>
            <a:off x="311700" y="1104575"/>
            <a:ext cx="8520600" cy="3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pt-PT" sz="1400" dirty="0" err="1"/>
              <a:t>with</a:t>
            </a:r>
            <a:r>
              <a:rPr lang="pt-PT" sz="1400" dirty="0"/>
              <a:t> open("test.txt", </a:t>
            </a:r>
            <a:r>
              <a:rPr lang="pt-PT" sz="1400" dirty="0" err="1"/>
              <a:t>encoding</a:t>
            </a:r>
            <a:r>
              <a:rPr lang="pt-PT" sz="1400" dirty="0"/>
              <a:t> = 'utf-8') as f:</a:t>
            </a:r>
            <a:endParaRPr sz="1400" dirty="0"/>
          </a:p>
          <a:p>
            <a:pPr marL="45720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400" dirty="0"/>
              <a:t># </a:t>
            </a:r>
            <a:r>
              <a:rPr lang="pt-PT" sz="1400" dirty="0" err="1"/>
              <a:t>perform</a:t>
            </a:r>
            <a:r>
              <a:rPr lang="pt-PT" sz="1400" dirty="0"/>
              <a:t> file </a:t>
            </a:r>
            <a:r>
              <a:rPr lang="pt-PT" sz="1400" dirty="0" err="1"/>
              <a:t>operation</a:t>
            </a:r>
            <a:endParaRPr sz="14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pt-PT" sz="1400" dirty="0" err="1"/>
              <a:t>try</a:t>
            </a:r>
            <a:r>
              <a:rPr lang="pt-PT" sz="1400" dirty="0"/>
              <a:t>:</a:t>
            </a:r>
            <a:endParaRPr sz="1400" dirty="0"/>
          </a:p>
          <a:p>
            <a:pPr marL="45720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400" dirty="0"/>
              <a:t>f = open("test.</a:t>
            </a:r>
            <a:r>
              <a:rPr lang="pt-PT" sz="1400" dirty="0" err="1"/>
              <a:t>txt</a:t>
            </a:r>
            <a:r>
              <a:rPr lang="pt-PT" sz="1400" dirty="0"/>
              <a:t>",</a:t>
            </a:r>
            <a:r>
              <a:rPr lang="pt-PT" sz="1400" dirty="0" err="1"/>
              <a:t>encoding</a:t>
            </a:r>
            <a:r>
              <a:rPr lang="pt-PT" sz="1400" dirty="0"/>
              <a:t> = 'utf-8')</a:t>
            </a:r>
            <a:endParaRPr sz="1400" dirty="0"/>
          </a:p>
          <a:p>
            <a:pPr marL="45720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400" dirty="0"/>
              <a:t># </a:t>
            </a:r>
            <a:r>
              <a:rPr lang="pt-PT" sz="1400" dirty="0" err="1"/>
              <a:t>perform</a:t>
            </a:r>
            <a:r>
              <a:rPr lang="pt-PT" sz="1400" dirty="0"/>
              <a:t> file </a:t>
            </a:r>
            <a:r>
              <a:rPr lang="pt-PT" sz="1400" dirty="0" err="1"/>
              <a:t>operations</a:t>
            </a:r>
            <a:endParaRPr sz="1400" dirty="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400" dirty="0" err="1"/>
              <a:t>finally</a:t>
            </a:r>
            <a:r>
              <a:rPr lang="pt-PT" sz="1400" dirty="0"/>
              <a:t>:</a:t>
            </a:r>
            <a:endParaRPr sz="1400" dirty="0"/>
          </a:p>
          <a:p>
            <a:pPr marL="45720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400" dirty="0" err="1"/>
              <a:t>f.close</a:t>
            </a:r>
            <a:r>
              <a:rPr lang="pt-PT" sz="1400" dirty="0"/>
              <a:t>()</a:t>
            </a:r>
            <a:endParaRPr sz="14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pt-PT" sz="1400" dirty="0" err="1"/>
              <a:t>None</a:t>
            </a:r>
            <a:r>
              <a:rPr lang="pt-PT" sz="1400" dirty="0"/>
              <a:t> </a:t>
            </a:r>
            <a:r>
              <a:rPr lang="pt-PT" sz="1400" dirty="0" err="1"/>
              <a:t>of</a:t>
            </a:r>
            <a:r>
              <a:rPr lang="pt-PT" sz="1400" dirty="0"/>
              <a:t> </a:t>
            </a:r>
            <a:r>
              <a:rPr lang="pt-PT" sz="1400" dirty="0" err="1"/>
              <a:t>the</a:t>
            </a:r>
            <a:r>
              <a:rPr lang="pt-PT" sz="1400" dirty="0"/>
              <a:t> </a:t>
            </a:r>
            <a:r>
              <a:rPr lang="pt-PT" sz="1400" dirty="0" err="1"/>
              <a:t>above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 sz="1400" dirty="0"/>
              <a:t>Both </a:t>
            </a:r>
            <a:r>
              <a:rPr lang="pt-PT" sz="1400" dirty="0" err="1"/>
              <a:t>of</a:t>
            </a:r>
            <a:r>
              <a:rPr lang="pt-PT" sz="1400" dirty="0"/>
              <a:t> </a:t>
            </a:r>
            <a:r>
              <a:rPr lang="pt-PT" sz="1400" dirty="0" err="1"/>
              <a:t>the</a:t>
            </a:r>
            <a:r>
              <a:rPr lang="pt-PT" sz="1400" dirty="0"/>
              <a:t> </a:t>
            </a:r>
            <a:r>
              <a:rPr lang="pt-PT" sz="1400" dirty="0" err="1"/>
              <a:t>above</a:t>
            </a:r>
            <a:endParaRPr sz="1400" dirty="0"/>
          </a:p>
        </p:txBody>
      </p:sp>
      <p:pic>
        <p:nvPicPr>
          <p:cNvPr id="977" name="Google Shape;977;p184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For the following code,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f = open('test.txt', 'r', encoding = 'utf-8')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f.read()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Which of the following statement is true?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185"/>
          <p:cNvSpPr txBox="1">
            <a:spLocks noGrp="1"/>
          </p:cNvSpPr>
          <p:nvPr>
            <p:ph type="body" idx="1"/>
          </p:nvPr>
        </p:nvSpPr>
        <p:spPr>
          <a:xfrm>
            <a:off x="311700" y="2459825"/>
            <a:ext cx="8520600" cy="23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This</a:t>
            </a:r>
            <a:r>
              <a:rPr lang="pt-PT" sz="2400" dirty="0"/>
              <a:t> </a:t>
            </a:r>
            <a:r>
              <a:rPr lang="pt-PT" sz="2400" dirty="0" err="1"/>
              <a:t>program</a:t>
            </a:r>
            <a:r>
              <a:rPr lang="pt-PT" sz="2400" dirty="0"/>
              <a:t> </a:t>
            </a:r>
            <a:r>
              <a:rPr lang="pt-PT" sz="2400" dirty="0" err="1"/>
              <a:t>reads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content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test.txt file.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If</a:t>
            </a:r>
            <a:r>
              <a:rPr lang="pt-PT" sz="2400" dirty="0"/>
              <a:t> test.txt </a:t>
            </a:r>
            <a:r>
              <a:rPr lang="pt-PT" sz="2400" dirty="0" err="1"/>
              <a:t>contains</a:t>
            </a:r>
            <a:r>
              <a:rPr lang="pt-PT" sz="2400" dirty="0"/>
              <a:t> </a:t>
            </a:r>
            <a:r>
              <a:rPr lang="pt-PT" sz="2400" dirty="0" err="1"/>
              <a:t>newline</a:t>
            </a:r>
            <a:r>
              <a:rPr lang="pt-PT" sz="2400" dirty="0"/>
              <a:t>, </a:t>
            </a:r>
            <a:r>
              <a:rPr lang="pt-PT" sz="2400" dirty="0" err="1"/>
              <a:t>read</a:t>
            </a:r>
            <a:r>
              <a:rPr lang="pt-PT" sz="2400" dirty="0"/>
              <a:t>() </a:t>
            </a:r>
            <a:r>
              <a:rPr lang="pt-PT" sz="2400" dirty="0" err="1"/>
              <a:t>will</a:t>
            </a:r>
            <a:r>
              <a:rPr lang="pt-PT" sz="2400" dirty="0"/>
              <a:t> </a:t>
            </a:r>
            <a:r>
              <a:rPr lang="pt-PT" sz="2400" dirty="0" err="1"/>
              <a:t>return</a:t>
            </a:r>
            <a:r>
              <a:rPr lang="pt-PT" sz="2400" dirty="0"/>
              <a:t> </a:t>
            </a:r>
            <a:r>
              <a:rPr lang="pt-PT" sz="2400" dirty="0" err="1"/>
              <a:t>newline</a:t>
            </a:r>
            <a:r>
              <a:rPr lang="pt-PT" sz="2400" dirty="0"/>
              <a:t> as ‘\n’.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You</a:t>
            </a:r>
            <a:r>
              <a:rPr lang="pt-PT" sz="2400" dirty="0"/>
              <a:t> can </a:t>
            </a:r>
            <a:r>
              <a:rPr lang="pt-PT" sz="2400" dirty="0" err="1"/>
              <a:t>pass</a:t>
            </a:r>
            <a:r>
              <a:rPr lang="pt-PT" sz="2400" dirty="0"/>
              <a:t> </a:t>
            </a:r>
            <a:r>
              <a:rPr lang="pt-PT" sz="2400" dirty="0" err="1"/>
              <a:t>an</a:t>
            </a:r>
            <a:r>
              <a:rPr lang="pt-PT" sz="2400" dirty="0"/>
              <a:t> </a:t>
            </a:r>
            <a:r>
              <a:rPr lang="pt-PT" sz="2400" dirty="0" err="1"/>
              <a:t>integer</a:t>
            </a:r>
            <a:r>
              <a:rPr lang="pt-PT" sz="2400" dirty="0"/>
              <a:t> to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read</a:t>
            </a:r>
            <a:r>
              <a:rPr lang="pt-PT" sz="2400" dirty="0"/>
              <a:t>() </a:t>
            </a:r>
            <a:r>
              <a:rPr lang="pt-PT" sz="2400" dirty="0" err="1"/>
              <a:t>method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above</a:t>
            </a:r>
            <a:r>
              <a:rPr lang="pt-PT" sz="2400" dirty="0"/>
              <a:t>.</a:t>
            </a:r>
            <a:endParaRPr sz="2400" dirty="0"/>
          </a:p>
        </p:txBody>
      </p:sp>
      <p:pic>
        <p:nvPicPr>
          <p:cNvPr id="984" name="Google Shape;984;p185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rgbClr val="FFFFFF"/>
                </a:solidFill>
              </a:rPr>
              <a:t>What does the following code do?</a:t>
            </a:r>
            <a:endParaRPr sz="30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3000">
                <a:solidFill>
                  <a:srgbClr val="FFFFFF"/>
                </a:solidFill>
              </a:rPr>
              <a:t>os.listdir()</a:t>
            </a: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86"/>
          <p:cNvSpPr txBox="1">
            <a:spLocks noGrp="1"/>
          </p:cNvSpPr>
          <p:nvPr>
            <p:ph type="body" idx="1"/>
          </p:nvPr>
        </p:nvSpPr>
        <p:spPr>
          <a:xfrm>
            <a:off x="311700" y="1974450"/>
            <a:ext cx="8520600" cy="27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Prints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current</a:t>
            </a:r>
            <a:r>
              <a:rPr lang="pt-PT" sz="2400" dirty="0"/>
              <a:t> </a:t>
            </a:r>
            <a:r>
              <a:rPr lang="pt-PT" sz="2400" dirty="0" err="1"/>
              <a:t>working</a:t>
            </a:r>
            <a:r>
              <a:rPr lang="pt-PT" sz="2400" dirty="0"/>
              <a:t> </a:t>
            </a:r>
            <a:r>
              <a:rPr lang="pt-PT" sz="2400" dirty="0" err="1"/>
              <a:t>directory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Prints </a:t>
            </a: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directories</a:t>
            </a:r>
            <a:r>
              <a:rPr lang="pt-PT" sz="2400" dirty="0"/>
              <a:t> (</a:t>
            </a:r>
            <a:r>
              <a:rPr lang="pt-PT" sz="2400" dirty="0" err="1"/>
              <a:t>not</a:t>
            </a:r>
            <a:r>
              <a:rPr lang="pt-PT" sz="2400" dirty="0"/>
              <a:t> files) </a:t>
            </a:r>
            <a:r>
              <a:rPr lang="pt-PT" sz="2400" dirty="0" err="1"/>
              <a:t>inside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given</a:t>
            </a:r>
            <a:r>
              <a:rPr lang="pt-PT" sz="2400" dirty="0"/>
              <a:t> </a:t>
            </a:r>
            <a:r>
              <a:rPr lang="pt-PT" sz="2400" dirty="0" err="1"/>
              <a:t>directory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Prints </a:t>
            </a: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directories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files </a:t>
            </a:r>
            <a:r>
              <a:rPr lang="pt-PT" sz="2400" dirty="0" err="1"/>
              <a:t>inside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given</a:t>
            </a:r>
            <a:r>
              <a:rPr lang="pt-PT" sz="2400" dirty="0"/>
              <a:t> </a:t>
            </a:r>
            <a:r>
              <a:rPr lang="pt-PT" sz="2400" dirty="0" err="1"/>
              <a:t>directory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Makes</a:t>
            </a:r>
            <a:r>
              <a:rPr lang="pt-PT" sz="2400" dirty="0"/>
              <a:t> a </a:t>
            </a:r>
            <a:r>
              <a:rPr lang="pt-PT" sz="2400" dirty="0" err="1"/>
              <a:t>new</a:t>
            </a:r>
            <a:r>
              <a:rPr lang="pt-PT" sz="2400" dirty="0"/>
              <a:t> </a:t>
            </a:r>
            <a:r>
              <a:rPr lang="pt-PT" sz="2400" dirty="0" err="1"/>
              <a:t>directory</a:t>
            </a:r>
            <a:r>
              <a:rPr lang="pt-PT" sz="2400" dirty="0"/>
              <a:t>.</a:t>
            </a:r>
            <a:endParaRPr sz="2400" dirty="0"/>
          </a:p>
        </p:txBody>
      </p:sp>
      <p:pic>
        <p:nvPicPr>
          <p:cNvPr id="991" name="Google Shape;991;p186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3000">
                <a:solidFill>
                  <a:srgbClr val="FFFFFF"/>
                </a:solidFill>
              </a:rPr>
              <a:t>Which of the following is correct?</a:t>
            </a: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87"/>
          <p:cNvSpPr txBox="1">
            <a:spLocks noGrp="1"/>
          </p:cNvSpPr>
          <p:nvPr>
            <p:ph type="body" idx="1"/>
          </p:nvPr>
        </p:nvSpPr>
        <p:spPr>
          <a:xfrm>
            <a:off x="311700" y="1974450"/>
            <a:ext cx="8520600" cy="27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An</a:t>
            </a:r>
            <a:r>
              <a:rPr lang="pt-PT" sz="2400" dirty="0"/>
              <a:t> </a:t>
            </a:r>
            <a:r>
              <a:rPr lang="pt-PT" sz="2400" dirty="0" err="1"/>
              <a:t>exception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an</a:t>
            </a:r>
            <a:r>
              <a:rPr lang="pt-PT" sz="2400" dirty="0"/>
              <a:t> error </a:t>
            </a:r>
            <a:r>
              <a:rPr lang="pt-PT" sz="2400" dirty="0" err="1"/>
              <a:t>that</a:t>
            </a:r>
            <a:r>
              <a:rPr lang="pt-PT" sz="2400" dirty="0"/>
              <a:t> </a:t>
            </a:r>
            <a:r>
              <a:rPr lang="pt-PT" sz="2400" dirty="0" err="1"/>
              <a:t>occurs</a:t>
            </a:r>
            <a:r>
              <a:rPr lang="pt-PT" sz="2400" dirty="0"/>
              <a:t> </a:t>
            </a:r>
            <a:r>
              <a:rPr lang="pt-PT" sz="2400" dirty="0" err="1"/>
              <a:t>at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runtime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A </a:t>
            </a:r>
            <a:r>
              <a:rPr lang="pt-PT" sz="2400" dirty="0" err="1"/>
              <a:t>syntax</a:t>
            </a:r>
            <a:r>
              <a:rPr lang="pt-PT" sz="2400" dirty="0"/>
              <a:t> error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also</a:t>
            </a:r>
            <a:r>
              <a:rPr lang="pt-PT" sz="2400" dirty="0"/>
              <a:t> </a:t>
            </a:r>
            <a:r>
              <a:rPr lang="pt-PT" sz="2400" dirty="0" err="1"/>
              <a:t>an</a:t>
            </a:r>
            <a:r>
              <a:rPr lang="pt-PT" sz="2400" dirty="0"/>
              <a:t> </a:t>
            </a:r>
            <a:r>
              <a:rPr lang="pt-PT" sz="2400" dirty="0" err="1"/>
              <a:t>exception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An</a:t>
            </a:r>
            <a:r>
              <a:rPr lang="pt-PT" sz="2400" dirty="0"/>
              <a:t> </a:t>
            </a:r>
            <a:r>
              <a:rPr lang="pt-PT" sz="2400" dirty="0" err="1"/>
              <a:t>exception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used</a:t>
            </a:r>
            <a:r>
              <a:rPr lang="pt-PT" sz="2400" dirty="0"/>
              <a:t> to </a:t>
            </a:r>
            <a:r>
              <a:rPr lang="pt-PT" sz="2400" dirty="0" err="1"/>
              <a:t>exclude</a:t>
            </a:r>
            <a:r>
              <a:rPr lang="pt-PT" sz="2400" dirty="0"/>
              <a:t> a </a:t>
            </a:r>
            <a:r>
              <a:rPr lang="pt-PT" sz="2400" dirty="0" err="1"/>
              <a:t>block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in </a:t>
            </a:r>
            <a:r>
              <a:rPr lang="pt-PT" sz="2400" dirty="0" err="1"/>
              <a:t>Python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above</a:t>
            </a:r>
            <a:r>
              <a:rPr lang="pt-PT" sz="2400" dirty="0"/>
              <a:t>.</a:t>
            </a:r>
            <a:endParaRPr sz="2400" dirty="0"/>
          </a:p>
        </p:txBody>
      </p:sp>
      <p:pic>
        <p:nvPicPr>
          <p:cNvPr id="998" name="Google Shape;998;p187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3000">
                <a:solidFill>
                  <a:srgbClr val="FFFFFF"/>
                </a:solidFill>
              </a:rPr>
              <a:t>What will happen if you try to open a file that doesn’t exist, without mode specified?</a:t>
            </a: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188"/>
          <p:cNvSpPr txBox="1">
            <a:spLocks noGrp="1"/>
          </p:cNvSpPr>
          <p:nvPr>
            <p:ph type="body" idx="1"/>
          </p:nvPr>
        </p:nvSpPr>
        <p:spPr>
          <a:xfrm>
            <a:off x="311700" y="1974450"/>
            <a:ext cx="8520600" cy="27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A </a:t>
            </a:r>
            <a:r>
              <a:rPr lang="pt-PT" sz="2400" dirty="0" err="1"/>
              <a:t>new</a:t>
            </a:r>
            <a:r>
              <a:rPr lang="pt-PT" sz="2400" dirty="0"/>
              <a:t> file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created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Nothing</a:t>
            </a:r>
            <a:r>
              <a:rPr lang="pt-PT" sz="2400" dirty="0"/>
              <a:t> </a:t>
            </a:r>
            <a:r>
              <a:rPr lang="pt-PT" sz="2400" dirty="0" err="1"/>
              <a:t>will</a:t>
            </a:r>
            <a:r>
              <a:rPr lang="pt-PT" sz="2400" dirty="0"/>
              <a:t> </a:t>
            </a:r>
            <a:r>
              <a:rPr lang="pt-PT" sz="2400" dirty="0" err="1"/>
              <a:t>happen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An</a:t>
            </a:r>
            <a:r>
              <a:rPr lang="pt-PT" sz="2400" dirty="0"/>
              <a:t> </a:t>
            </a:r>
            <a:r>
              <a:rPr lang="pt-PT" sz="2400" dirty="0" err="1"/>
              <a:t>exception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raised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None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above</a:t>
            </a:r>
            <a:r>
              <a:rPr lang="pt-PT" sz="2400" dirty="0"/>
              <a:t>.</a:t>
            </a:r>
            <a:endParaRPr sz="2400" dirty="0"/>
          </a:p>
        </p:txBody>
      </p:sp>
      <p:pic>
        <p:nvPicPr>
          <p:cNvPr id="1005" name="Google Shape;1005;p188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8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26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FFFFFF"/>
                </a:solidFill>
              </a:rPr>
              <a:t>What is the output of the following code?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number = 5.0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try: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   r = 10/number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   print(r)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except:</a:t>
            </a:r>
            <a:endParaRPr sz="18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>
                <a:solidFill>
                  <a:srgbClr val="FFFFFF"/>
                </a:solidFill>
              </a:rPr>
              <a:t>   print("Oops! Error occurred.")</a:t>
            </a: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189"/>
          <p:cNvSpPr txBox="1">
            <a:spLocks noGrp="1"/>
          </p:cNvSpPr>
          <p:nvPr>
            <p:ph type="body" idx="1"/>
          </p:nvPr>
        </p:nvSpPr>
        <p:spPr>
          <a:xfrm>
            <a:off x="311700" y="2905050"/>
            <a:ext cx="8520600" cy="1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12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Oops</a:t>
            </a:r>
            <a:r>
              <a:rPr lang="pt-PT" sz="2400" dirty="0"/>
              <a:t>! Error </a:t>
            </a:r>
            <a:r>
              <a:rPr lang="pt-PT" sz="2400" dirty="0" err="1"/>
              <a:t>occurred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2.0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/>
              <a:t>2.0 </a:t>
            </a:r>
            <a:r>
              <a:rPr lang="pt-PT" sz="2400" dirty="0" err="1"/>
              <a:t>Oops</a:t>
            </a:r>
            <a:r>
              <a:rPr lang="pt-PT" sz="2400" dirty="0"/>
              <a:t>! Error </a:t>
            </a:r>
            <a:r>
              <a:rPr lang="pt-PT" sz="2400" dirty="0" err="1"/>
              <a:t>occurred</a:t>
            </a:r>
            <a:r>
              <a:rPr lang="pt-PT" sz="2400" dirty="0"/>
              <a:t>.</a:t>
            </a:r>
            <a:endParaRPr sz="2400" dirty="0"/>
          </a:p>
          <a:p>
            <a:pPr marL="5334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pt-PT" sz="2400" dirty="0" err="1"/>
              <a:t>None</a:t>
            </a:r>
            <a:r>
              <a:rPr lang="pt-PT" sz="2400" dirty="0"/>
              <a:t> </a:t>
            </a:r>
            <a:r>
              <a:rPr lang="pt-PT" sz="2400" dirty="0" err="1"/>
              <a:t>object</a:t>
            </a:r>
            <a:endParaRPr sz="2400" dirty="0"/>
          </a:p>
        </p:txBody>
      </p:sp>
      <p:pic>
        <p:nvPicPr>
          <p:cNvPr id="1012" name="Google Shape;1012;p189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90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26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 dirty="0" err="1">
                <a:solidFill>
                  <a:srgbClr val="FFFFFF"/>
                </a:solidFill>
              </a:rPr>
              <a:t>What</a:t>
            </a:r>
            <a:r>
              <a:rPr lang="pt-PT" sz="1800" dirty="0">
                <a:solidFill>
                  <a:srgbClr val="FFFFFF"/>
                </a:solidFill>
              </a:rPr>
              <a:t> does </a:t>
            </a:r>
            <a:r>
              <a:rPr lang="pt-PT" sz="1800" dirty="0" err="1">
                <a:solidFill>
                  <a:srgbClr val="FFFFFF"/>
                </a:solidFill>
              </a:rPr>
              <a:t>the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following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code</a:t>
            </a:r>
            <a:r>
              <a:rPr lang="pt-PT" sz="1800" dirty="0">
                <a:solidFill>
                  <a:srgbClr val="FFFFFF"/>
                </a:solidFill>
              </a:rPr>
              <a:t> do?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 dirty="0" err="1">
                <a:solidFill>
                  <a:srgbClr val="FFFFFF"/>
                </a:solidFill>
              </a:rPr>
              <a:t>try</a:t>
            </a:r>
            <a:r>
              <a:rPr lang="pt-PT" sz="1800" dirty="0">
                <a:solidFill>
                  <a:srgbClr val="FFFFFF"/>
                </a:solidFill>
              </a:rPr>
              <a:t>: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 dirty="0">
                <a:solidFill>
                  <a:srgbClr val="FFFFFF"/>
                </a:solidFill>
              </a:rPr>
              <a:t> # </a:t>
            </a:r>
            <a:r>
              <a:rPr lang="pt-PT" sz="1800" dirty="0" err="1">
                <a:solidFill>
                  <a:srgbClr val="FFFFFF"/>
                </a:solidFill>
              </a:rPr>
              <a:t>code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that</a:t>
            </a:r>
            <a:r>
              <a:rPr lang="pt-PT" sz="1800" dirty="0">
                <a:solidFill>
                  <a:srgbClr val="FFFFFF"/>
                </a:solidFill>
              </a:rPr>
              <a:t> can </a:t>
            </a:r>
            <a:r>
              <a:rPr lang="pt-PT" sz="1800" dirty="0" err="1">
                <a:solidFill>
                  <a:srgbClr val="FFFFFF"/>
                </a:solidFill>
              </a:rPr>
              <a:t>raise</a:t>
            </a:r>
            <a:r>
              <a:rPr lang="pt-PT" sz="1800" dirty="0">
                <a:solidFill>
                  <a:srgbClr val="FFFFFF"/>
                </a:solidFill>
              </a:rPr>
              <a:t> error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 dirty="0">
                <a:solidFill>
                  <a:srgbClr val="FFFFFF"/>
                </a:solidFill>
              </a:rPr>
              <a:t>  </a:t>
            </a:r>
            <a:r>
              <a:rPr lang="pt-PT" sz="1800" dirty="0" err="1">
                <a:solidFill>
                  <a:srgbClr val="FFFFFF"/>
                </a:solidFill>
              </a:rPr>
              <a:t>pass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 dirty="0" err="1">
                <a:solidFill>
                  <a:srgbClr val="FFFFFF"/>
                </a:solidFill>
              </a:rPr>
              <a:t>except</a:t>
            </a:r>
            <a:r>
              <a:rPr lang="pt-PT" sz="1800" dirty="0">
                <a:solidFill>
                  <a:srgbClr val="FFFFFF"/>
                </a:solidFill>
              </a:rPr>
              <a:t> (</a:t>
            </a:r>
            <a:r>
              <a:rPr lang="pt-PT" sz="1800" dirty="0" err="1">
                <a:solidFill>
                  <a:srgbClr val="FFFFFF"/>
                </a:solidFill>
              </a:rPr>
              <a:t>TypeError</a:t>
            </a:r>
            <a:r>
              <a:rPr lang="pt-PT" sz="1800" dirty="0">
                <a:solidFill>
                  <a:srgbClr val="FFFFFF"/>
                </a:solidFill>
              </a:rPr>
              <a:t>, </a:t>
            </a:r>
            <a:r>
              <a:rPr lang="pt-PT" sz="1800" dirty="0" err="1">
                <a:solidFill>
                  <a:srgbClr val="FFFFFF"/>
                </a:solidFill>
              </a:rPr>
              <a:t>ZeroDivisionError</a:t>
            </a:r>
            <a:r>
              <a:rPr lang="pt-PT" sz="1800" dirty="0">
                <a:solidFill>
                  <a:srgbClr val="FFFFFF"/>
                </a:solidFill>
              </a:rPr>
              <a:t>):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pt-PT" sz="1800" dirty="0">
                <a:solidFill>
                  <a:srgbClr val="FFFFFF"/>
                </a:solidFill>
              </a:rPr>
              <a:t> print("</a:t>
            </a:r>
            <a:r>
              <a:rPr lang="pt-PT" sz="1800" dirty="0" err="1">
                <a:solidFill>
                  <a:srgbClr val="FFFFFF"/>
                </a:solidFill>
              </a:rPr>
              <a:t>Two</a:t>
            </a:r>
            <a:r>
              <a:rPr lang="pt-PT" sz="1800" dirty="0">
                <a:solidFill>
                  <a:srgbClr val="FFFFFF"/>
                </a:solidFill>
              </a:rPr>
              <a:t>")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8" name="Google Shape;1018;p190"/>
          <p:cNvSpPr txBox="1">
            <a:spLocks noGrp="1"/>
          </p:cNvSpPr>
          <p:nvPr>
            <p:ph type="body" idx="1"/>
          </p:nvPr>
        </p:nvSpPr>
        <p:spPr>
          <a:xfrm>
            <a:off x="311700" y="2905025"/>
            <a:ext cx="8520600" cy="1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pt-PT" dirty="0"/>
              <a:t>Prints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exception</a:t>
            </a:r>
            <a:r>
              <a:rPr lang="pt-PT" dirty="0"/>
              <a:t> </a:t>
            </a:r>
            <a:r>
              <a:rPr lang="pt-PT" dirty="0" err="1"/>
              <a:t>occurs</a:t>
            </a:r>
            <a:r>
              <a:rPr lang="pt-PT" dirty="0"/>
              <a:t> (</a:t>
            </a:r>
            <a:r>
              <a:rPr lang="pt-PT" dirty="0" err="1"/>
              <a:t>doesn’t</a:t>
            </a:r>
            <a:r>
              <a:rPr lang="pt-PT" dirty="0"/>
              <a:t> </a:t>
            </a:r>
            <a:r>
              <a:rPr lang="pt-PT" dirty="0" err="1"/>
              <a:t>matter</a:t>
            </a:r>
            <a:r>
              <a:rPr lang="pt-PT" dirty="0"/>
              <a:t> </a:t>
            </a:r>
            <a:r>
              <a:rPr lang="pt-PT" dirty="0" err="1"/>
              <a:t>which</a:t>
            </a:r>
            <a:r>
              <a:rPr lang="pt-PT" dirty="0"/>
              <a:t> </a:t>
            </a:r>
            <a:r>
              <a:rPr lang="pt-PT" dirty="0" err="1"/>
              <a:t>exception</a:t>
            </a:r>
            <a:r>
              <a:rPr lang="pt-PT" dirty="0"/>
              <a:t>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pt-PT" dirty="0"/>
              <a:t>Prints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exception</a:t>
            </a:r>
            <a:r>
              <a:rPr lang="pt-PT" dirty="0"/>
              <a:t> </a:t>
            </a:r>
            <a:r>
              <a:rPr lang="pt-PT" dirty="0" err="1"/>
              <a:t>doesn’t</a:t>
            </a:r>
            <a:r>
              <a:rPr lang="pt-PT" dirty="0"/>
              <a:t> </a:t>
            </a:r>
            <a:r>
              <a:rPr lang="pt-PT" dirty="0" err="1"/>
              <a:t>occur</a:t>
            </a:r>
            <a:r>
              <a:rPr lang="pt-PT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pt-PT" dirty="0"/>
              <a:t>Prints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TypeError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ZeroDivisionError</a:t>
            </a:r>
            <a:r>
              <a:rPr lang="pt-PT" dirty="0"/>
              <a:t> </a:t>
            </a:r>
            <a:r>
              <a:rPr lang="pt-PT" dirty="0" err="1"/>
              <a:t>exception</a:t>
            </a:r>
            <a:r>
              <a:rPr lang="pt-PT" dirty="0"/>
              <a:t> </a:t>
            </a:r>
            <a:r>
              <a:rPr lang="pt-PT" dirty="0" err="1"/>
              <a:t>occurs</a:t>
            </a:r>
            <a:r>
              <a:rPr lang="pt-PT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pt-PT" dirty="0"/>
              <a:t>Prints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only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TypeError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ZeroDivisionError</a:t>
            </a:r>
            <a:r>
              <a:rPr lang="pt-PT" dirty="0"/>
              <a:t> </a:t>
            </a:r>
            <a:r>
              <a:rPr lang="pt-PT" dirty="0" err="1"/>
              <a:t>exception</a:t>
            </a:r>
            <a:r>
              <a:rPr lang="pt-PT" dirty="0"/>
              <a:t> </a:t>
            </a:r>
            <a:r>
              <a:rPr lang="pt-PT" dirty="0" err="1"/>
              <a:t>occurs</a:t>
            </a:r>
            <a:r>
              <a:rPr lang="pt-PT" dirty="0"/>
              <a:t>.</a:t>
            </a:r>
            <a:endParaRPr dirty="0"/>
          </a:p>
        </p:txBody>
      </p:sp>
      <p:pic>
        <p:nvPicPr>
          <p:cNvPr id="1019" name="Google Shape;1019;p190" descr="Selected" title="Selec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35217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3943</Words>
  <Application>Microsoft Office PowerPoint</Application>
  <PresentationFormat>Apresentação no Ecrã (16:9)</PresentationFormat>
  <Paragraphs>1019</Paragraphs>
  <Slides>178</Slides>
  <Notes>178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178</vt:i4>
      </vt:variant>
    </vt:vector>
  </HeadingPairs>
  <TitlesOfParts>
    <vt:vector size="180" baseType="lpstr">
      <vt:lpstr>Arial</vt:lpstr>
      <vt:lpstr>Simple Dark</vt:lpstr>
      <vt:lpstr>PREPARAÇÃO TE</vt:lpstr>
      <vt:lpstr>Apresentação do PowerPoint</vt:lpstr>
      <vt:lpstr>Apresentação do PowerPoint</vt:lpstr>
      <vt:lpstr>Apresentação do PowerPoint</vt:lpstr>
      <vt:lpstr>Given the following code fragment what is its Big-O running time? cut = 0 for i in range(n):  for j in range(n):   cut += i * j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unit testing?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one is a suitable comment?</vt:lpstr>
      <vt:lpstr>Apresentação do PowerPoint</vt:lpstr>
      <vt:lpstr>Apresentação do PowerPoint</vt:lpstr>
      <vt:lpstr>To what can assert can be used?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below Python code fragment? x = True y=False z= False if not x or y:       print (1) elif not x or not y and z:       print (2) elif not x or y or not y and x:       print (3) else:       print (4)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list operations shown below is not O(1)?</vt:lpstr>
      <vt:lpstr>Apresentação do PowerPoint</vt:lpstr>
      <vt:lpstr>Which of the following is the output of the below Python code fragment? def f1(x  =1, y = 2):  x = x + y  y  += 1  print(x, y) f1(y = 2, x = 1)</vt:lpstr>
      <vt:lpstr>Apresentação do PowerPoint</vt:lpstr>
      <vt:lpstr>Given the following code fragment what is its Big-O running time? k = n while k &gt; 0:  j += 2  k = k // 2 </vt:lpstr>
      <vt:lpstr>Apresentação do PowerPoint</vt:lpstr>
      <vt:lpstr>Given the following code fragment what is its Big-O running time? t = 0 for i in range(n):  t += 1 for j in range(n):  t -= 1 </vt:lpstr>
      <vt:lpstr>Apresentação do PowerPoint</vt:lpstr>
      <vt:lpstr>Apresentação do PowerPoint</vt:lpstr>
      <vt:lpstr>Apresentação do PowerPoint</vt:lpstr>
      <vt:lpstr>Which of the following is the output of the below Python code fragment? counter = 1  def doLotsOfStuff(): global counter for i in (1, 2, 3):   counter += 1 doLotsOfStuff() print (counter) </vt:lpstr>
      <vt:lpstr>Apresentação do PowerPoint</vt:lpstr>
      <vt:lpstr>Apresentação do PowerPoint</vt:lpstr>
      <vt:lpstr>Apresentação do PowerPoint</vt:lpstr>
      <vt:lpstr>Which of the following is the output of the below Python code fragment? myList = [1, 5, 5, 5, 5, 1] max = myList[0] indexOfMax = 0 for i in range(1, len(myList)): if myList[i] &gt; max:          max = myList[i]          indexOfMax = i print(indexOfMax)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following Python code? d = {"python":40, "developer":45} print(list(d.keys()))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below Python code fragment? x = 2 y = 1 x *= y + 1 print(x)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following Python code? Nums = set ([1,1,2,3,3,3,4]) print (len(Nums))   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below Python code fragment? list1 = [1, 3] list2 = list1 list1[0] = 4 print(list2)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Which of the following is the output of the following Python code? def factorial(n):       return n * factorial(n - 1)  </vt:lpstr>
      <vt:lpstr>What is output for  a = ['he', 'she', 'we'] ' '.join(a)  </vt:lpstr>
      <vt:lpstr>What is output for  b = [11,13,15,17,19,21] print(b[::2])   </vt:lpstr>
      <vt:lpstr>Select the option for following code s = 0 for d in range(0, 5, 0.1): s += d print(s)    </vt:lpstr>
      <vt:lpstr>What is output of following  print(''abbzxyzxzxabb''.count(‘abb’,-10,-1))   </vt:lpstr>
      <vt:lpstr>Select the option for following code try:  list = 5*[0]+5*[10]  x = list[9]  print(''Done!'')  except IndexError:     print(''Index out of Bond! '')  else:     print(''Nothing is wrong!'')  finally:     print(''Finally block!'')     </vt:lpstr>
      <vt:lpstr>Which among them is correct(s) about Recursive Function?  </vt:lpstr>
      <vt:lpstr>Which module is used in python to create Graphics?  </vt:lpstr>
      <vt:lpstr>What will be the output of the following code :  print type(type(int))   </vt:lpstr>
      <vt:lpstr>What is the output of the following code : L = ['a','b','c','d'] print "".join(L)    </vt:lpstr>
      <vt:lpstr>What is the output of the following segment :  chr(ord('A'))     </vt:lpstr>
      <vt:lpstr>What is the output of the following program : y = 8 z = lambda x : x * y print z(6)      </vt:lpstr>
      <vt:lpstr>Suppose list1 is [3, 4, 5, 20, 5, 25, 1, 3], what is list1 after list1.pop(1)?      </vt:lpstr>
      <vt:lpstr>What is the output of the following program : i = 0 while i &lt; 3:        print i        i++        print i+1       </vt:lpstr>
      <vt:lpstr>What is the output of the expression : 3*1**3      </vt:lpstr>
      <vt:lpstr>What is the output of the following program : print '{0:.2}'.format(1.0 / 3)       </vt:lpstr>
      <vt:lpstr>What is the output of the following program : i = 0 while i &lt; 3:      print i      i += 1 else:      print 0        </vt:lpstr>
      <vt:lpstr>What is the output of the following program :  i = 0 while i &lt; 5:     print(i)     i += 1     if i == 3:         break else:     print(0)         </vt:lpstr>
      <vt:lpstr>What is the output of the following program : print 'abcefd'.replace('cd', '12')        </vt:lpstr>
      <vt:lpstr>What will be displayed by the following code? def f(value, values):     v = 1     values[0] = 44 t = 3 v = [1, 2, 3] f(t, v) print(t, v[0])          </vt:lpstr>
      <vt:lpstr>Which of the following statements is true?      </vt:lpstr>
      <vt:lpstr>Which of the following is correct?       </vt:lpstr>
      <vt:lpstr>What is the output of the following code? print(1, 2, 3, 4, sep='*')       </vt:lpstr>
      <vt:lpstr>Suppose a list with name test, contains 10 elements. You can get the 5th element from the test list using:       </vt:lpstr>
      <vt:lpstr>What is the output of the following program? language = ['P', 'y', 't', 'h', 'o', 'n'] print(language[:-4])        </vt:lpstr>
      <vt:lpstr>Suppose a tuple test contains 5 elements. How can you set the 3rd element of the tuple to ‘Python’?        </vt:lpstr>
      <vt:lpstr>What is the output of the following program? print((1, 2) + (3, 4))         </vt:lpstr>
      <vt:lpstr>What is the output of the following program? names = "{1}, {2} and {0}".format('John', 'Bill', 'Sean') print(names)          </vt:lpstr>
      <vt:lpstr>Which of the following statement is true?         </vt:lpstr>
      <vt:lpstr>What is the output of the following program? n = [x*x for x in range(4)] print(n)          </vt:lpstr>
      <vt:lpstr>How can you change num = {‘one’: 1, ‘two’: 3} to num = {‘one’: 1, ‘two’: 2}          </vt:lpstr>
      <vt:lpstr>What is the output of the following program? squares = {1:1, 2:4, 3:9, 4:16, 5:25}  print(squares.pop(4))  print(squares)          </vt:lpstr>
      <vt:lpstr>What is the output of the following code? if None:    print(“Hello”)          </vt:lpstr>
      <vt:lpstr>The if...elif...else executes only one block of code among several blocks.          </vt:lpstr>
      <vt:lpstr>What is the output of the following code? for i in [1, 0]:  print(i+1)           </vt:lpstr>
      <vt:lpstr>In Python, for and while loop can have optional else statement?           </vt:lpstr>
      <vt:lpstr>What is the output of the following code? i = sum = 0 while i &lt;= 4:    sum += i    i = i+1 print(sum)           </vt:lpstr>
      <vt:lpstr>What is the output of the following code? while 4 == 4:    print('4')            </vt:lpstr>
      <vt:lpstr>Is it better to use for loop instead of while if you are iterating through a sequence (like: list)?            </vt:lpstr>
      <vt:lpstr>Which of the following statement is true?            </vt:lpstr>
      <vt:lpstr>What is the output of the following code? for char in 'PYTHON STRING':  if char == ' ':      break   print(char, end='')   if char == 'O':      continue           </vt:lpstr>
      <vt:lpstr>Which of the following statement is true about the pass statement?       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Opening a file in ‘a’ mode            </vt:lpstr>
      <vt:lpstr>What does the following code do? f = open("test.txt")             </vt:lpstr>
      <vt:lpstr>Which of the following codes closes file automatically if exception occurs?             </vt:lpstr>
      <vt:lpstr>For the following code, f = open('test.txt', 'r', encoding = 'utf-8') f.read() Which of the following statement is true?             </vt:lpstr>
      <vt:lpstr>What does the following code do? os.listdir()             </vt:lpstr>
      <vt:lpstr>Which of the following is correct?             </vt:lpstr>
      <vt:lpstr>What will happen if you try to open a file that doesn’t exist, without mode specified?             </vt:lpstr>
      <vt:lpstr>What is the output of the following code? number = 5.0 try:    r = 10/number    print(r) except:    print("Oops! Error occurred.")              </vt:lpstr>
      <vt:lpstr>What does the following code do? try:  # code that can raise error   pass  except (TypeError, ZeroDivisionError):  print("Two")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PREPARAÇÃO TE</dc:title>
  <dc:creator>Luisa Mesquita</dc:creator>
  <cp:lastModifiedBy>Luisa Maria Cabral Mesquita Oliveira Correia</cp:lastModifiedBy>
  <cp:revision>3</cp:revision>
  <dcterms:modified xsi:type="dcterms:W3CDTF">2021-11-17T15:09:39Z</dcterms:modified>
</cp:coreProperties>
</file>